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48640"/>
            <a:ext cx="3657600" cy="457200"/>
          </a:xfrm>
          <a:prstGeom prst="rect">
            <a:avLst/>
          </a:prstGeom>
          <a:noFill/>
        </p:spPr>
        <p:txBody>
          <a:bodyPr wrap="square" lIns="0" tIns="0" rIns="0" bIns="0" rtlCol="0" anchor="ctr"/>
          <a:lstStyle/>
          <a:p>
            <a:pPr marL="0" indent="0">
              <a:buNone/>
            </a:pPr>
            <a:r>
              <a:rPr lang="en-US" sz="1400" b="1" kern="0" spc="300" dirty="0">
                <a:solidFill>
                  <a:srgbClr val="E3A008"/>
                </a:solidFill>
                <a:latin typeface="Calibri" panose="020F0502020204030204" pitchFamily="34" charset="0"/>
                <a:ea typeface="Calibri" panose="020F0502020204030204" pitchFamily="34" charset="-122"/>
                <a:cs typeface="Calibri" panose="020F0502020204030204" pitchFamily="34" charset="-120"/>
              </a:rPr>
              <a:t>SQL</a:t>
            </a:r>
            <a:endParaRPr lang="en-US" sz="1400" dirty="0"/>
          </a:p>
        </p:txBody>
      </p:sp>
      <p:sp>
        <p:nvSpPr>
          <p:cNvPr id="3" name="Text 1"/>
          <p:cNvSpPr/>
          <p:nvPr/>
        </p:nvSpPr>
        <p:spPr>
          <a:xfrm>
            <a:off x="640080" y="1965960"/>
            <a:ext cx="10881360" cy="1463040"/>
          </a:xfrm>
          <a:prstGeom prst="rect">
            <a:avLst/>
          </a:prstGeom>
          <a:noFill/>
        </p:spPr>
        <p:txBody>
          <a:bodyPr wrap="square" lIns="0" tIns="0" rIns="0" bIns="0" rtlCol="0" anchor="ctr"/>
          <a:lstStyle/>
          <a:p>
            <a:pPr marL="0" indent="0">
              <a:lnSpc>
                <a:spcPct val="105000"/>
              </a:lnSpc>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SQL for Data-Intensive Applications</a:t>
            </a:r>
            <a:endParaRPr lang="en-US" sz="4200" dirty="0"/>
          </a:p>
        </p:txBody>
      </p:sp>
      <p:sp>
        <p:nvSpPr>
          <p:cNvPr id="4" name="Text 2"/>
          <p:cNvSpPr/>
          <p:nvPr/>
        </p:nvSpPr>
        <p:spPr>
          <a:xfrm>
            <a:off x="658368" y="3246120"/>
            <a:ext cx="10058400" cy="548640"/>
          </a:xfrm>
          <a:prstGeom prst="rect">
            <a:avLst/>
          </a:prstGeom>
          <a:noFill/>
        </p:spPr>
        <p:txBody>
          <a:bodyPr wrap="square" lIns="0" tIns="0" rIns="0" bIns="0" rtlCol="0" anchor="ctr"/>
          <a:lstStyle/>
          <a:p>
            <a:pPr marL="0" indent="0">
              <a:buNone/>
            </a:pPr>
            <a:r>
              <a:rPr lang="en-US" sz="2000" dirty="0">
                <a:solidFill>
                  <a:srgbClr val="CADCFC"/>
                </a:solidFill>
                <a:latin typeface="Calibri" panose="020F0502020204030204" pitchFamily="34" charset="0"/>
                <a:ea typeface="Calibri" panose="020F0502020204030204" pitchFamily="34" charset="-122"/>
                <a:cs typeface="Calibri" panose="020F0502020204030204" pitchFamily="34" charset="-120"/>
              </a:rPr>
              <a:t>Lecture Slides — Module 0 &amp; Module 1</a:t>
            </a:r>
            <a:endParaRPr lang="en-US" sz="2000" dirty="0"/>
          </a:p>
        </p:txBody>
      </p:sp>
      <p:sp>
        <p:nvSpPr>
          <p:cNvPr id="5" name="Text 3"/>
          <p:cNvSpPr/>
          <p:nvPr/>
        </p:nvSpPr>
        <p:spPr>
          <a:xfrm>
            <a:off x="658368" y="3794760"/>
            <a:ext cx="10515600" cy="457200"/>
          </a:xfrm>
          <a:prstGeom prst="rect">
            <a:avLst/>
          </a:prstGeom>
          <a:noFill/>
        </p:spPr>
        <p:txBody>
          <a:bodyPr wrap="square" lIns="0" tIns="0" rIns="0" bIns="0" rtlCol="0" anchor="ctr"/>
          <a:lstStyle/>
          <a:p>
            <a:pPr marL="0" indent="0">
              <a:buNone/>
            </a:pPr>
            <a:r>
              <a:rPr lang="en-US" sz="1400" i="1" dirty="0">
                <a:solidFill>
                  <a:srgbClr val="CADCFC"/>
                </a:solidFill>
                <a:latin typeface="Calibri" panose="020F0502020204030204" pitchFamily="34" charset="0"/>
                <a:ea typeface="Calibri" panose="020F0502020204030204" pitchFamily="34" charset="-122"/>
                <a:cs typeface="Calibri" panose="020F0502020204030204" pitchFamily="34" charset="-120"/>
              </a:rPr>
              <a:t>Foundations of Data Systems Thinking   →   Relational Foundations &amp; DDL/DML</a:t>
            </a:r>
            <a:endParaRPr lang="en-US" sz="1400" dirty="0"/>
          </a:p>
        </p:txBody>
      </p:sp>
      <p:sp>
        <p:nvSpPr>
          <p:cNvPr id="6" name="Shape 4"/>
          <p:cNvSpPr/>
          <p:nvPr/>
        </p:nvSpPr>
        <p:spPr>
          <a:xfrm>
            <a:off x="640080" y="5623560"/>
            <a:ext cx="502920" cy="502920"/>
          </a:xfrm>
          <a:prstGeom prst="ellipse">
            <a:avLst/>
          </a:prstGeom>
          <a:solidFill>
            <a:srgbClr val="2A3577"/>
          </a:solidFill>
        </p:spPr>
      </p:sp>
      <p:sp>
        <p:nvSpPr>
          <p:cNvPr id="7" name="Text 5"/>
          <p:cNvSpPr/>
          <p:nvPr/>
        </p:nvSpPr>
        <p:spPr>
          <a:xfrm>
            <a:off x="640080" y="5623560"/>
            <a:ext cx="502920" cy="502920"/>
          </a:xfrm>
          <a:prstGeom prst="rect">
            <a:avLst/>
          </a:prstGeom>
          <a:noFill/>
        </p:spPr>
        <p:txBody>
          <a:bodyPr wrap="square" lIns="0" tIns="0" rIns="0" bIns="0" rtlCol="0" anchor="ctr"/>
          <a:lstStyle/>
          <a:p>
            <a:pPr marL="0" indent="0" algn="ctr">
              <a:buNone/>
            </a:pPr>
            <a:r>
              <a:rPr lang="en-US" sz="1600" b="1" dirty="0">
                <a:solidFill>
                  <a:srgbClr val="E3A008"/>
                </a:solidFill>
                <a:latin typeface="Cambria" panose="02040503050406030204" pitchFamily="34" charset="0"/>
                <a:ea typeface="Cambria" panose="02040503050406030204" pitchFamily="34" charset="-122"/>
                <a:cs typeface="Cambria" panose="02040503050406030204" pitchFamily="34" charset="-120"/>
              </a:rPr>
              <a:t>0</a:t>
            </a:r>
            <a:endParaRPr lang="en-US" sz="1600" dirty="0"/>
          </a:p>
        </p:txBody>
      </p:sp>
      <p:sp>
        <p:nvSpPr>
          <p:cNvPr id="8" name="Shape 6"/>
          <p:cNvSpPr/>
          <p:nvPr/>
        </p:nvSpPr>
        <p:spPr>
          <a:xfrm>
            <a:off x="1280160" y="5623560"/>
            <a:ext cx="502920" cy="502920"/>
          </a:xfrm>
          <a:prstGeom prst="ellipse">
            <a:avLst/>
          </a:prstGeom>
          <a:solidFill>
            <a:srgbClr val="2A3577"/>
          </a:solidFill>
        </p:spPr>
      </p:sp>
      <p:sp>
        <p:nvSpPr>
          <p:cNvPr id="9" name="Text 7"/>
          <p:cNvSpPr/>
          <p:nvPr/>
        </p:nvSpPr>
        <p:spPr>
          <a:xfrm>
            <a:off x="1280160" y="5623560"/>
            <a:ext cx="502920" cy="502920"/>
          </a:xfrm>
          <a:prstGeom prst="rect">
            <a:avLst/>
          </a:prstGeom>
          <a:noFill/>
        </p:spPr>
        <p:txBody>
          <a:bodyPr wrap="square" lIns="0" tIns="0" rIns="0" bIns="0" rtlCol="0" anchor="ctr"/>
          <a:lstStyle/>
          <a:p>
            <a:pPr marL="0" indent="0" algn="ctr">
              <a:buNone/>
            </a:pPr>
            <a:r>
              <a:rPr lang="en-US" sz="1600" b="1" dirty="0">
                <a:solidFill>
                  <a:srgbClr val="E3A008"/>
                </a:solidFill>
                <a:latin typeface="Cambria" panose="02040503050406030204" pitchFamily="34" charset="0"/>
                <a:ea typeface="Cambria" panose="02040503050406030204" pitchFamily="34" charset="-122"/>
                <a:cs typeface="Cambria" panose="02040503050406030204" pitchFamily="34" charset="-120"/>
              </a:rPr>
              <a:t>1</a:t>
            </a:r>
            <a:endParaRPr lang="en-US" sz="1600" dirty="0"/>
          </a:p>
        </p:txBody>
      </p:sp>
      <p:sp>
        <p:nvSpPr>
          <p:cNvPr id="10" name="Text 8"/>
          <p:cNvSpPr/>
          <p:nvPr/>
        </p:nvSpPr>
        <p:spPr>
          <a:xfrm>
            <a:off x="1965960" y="5623560"/>
            <a:ext cx="8229600" cy="502920"/>
          </a:xfrm>
          <a:prstGeom prst="rect">
            <a:avLst/>
          </a:prstGeom>
          <a:noFill/>
        </p:spPr>
        <p:txBody>
          <a:bodyPr wrap="square" lIns="0" tIns="0" rIns="0" bIns="0" rtlCol="0" anchor="ctr"/>
          <a:lstStyle/>
          <a:p>
            <a:pPr marL="0" indent="0" algn="l">
              <a:buNone/>
            </a:pPr>
            <a:r>
              <a:rPr lang="en-US" sz="1200" dirty="0">
                <a:solidFill>
                  <a:srgbClr val="9FB3D9"/>
                </a:solidFill>
                <a:latin typeface="Calibri" panose="020F0502020204030204" pitchFamily="34" charset="0"/>
                <a:ea typeface="Calibri" panose="020F0502020204030204" pitchFamily="34" charset="-122"/>
                <a:cs typeface="Calibri" panose="020F0502020204030204" pitchFamily="34" charset="-120"/>
              </a:rPr>
              <a:t>MySQL 8 (Workbench)  ·  SQL Server (SSMS)  ·  DDIA-grounded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40080"/>
            <a:ext cx="54864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MODULE 0</a:t>
            </a:r>
            <a:endParaRPr lang="en-US" sz="1400" dirty="0"/>
          </a:p>
        </p:txBody>
      </p:sp>
      <p:sp>
        <p:nvSpPr>
          <p:cNvPr id="3" name="Text 1"/>
          <p:cNvSpPr/>
          <p:nvPr/>
        </p:nvSpPr>
        <p:spPr>
          <a:xfrm>
            <a:off x="640080" y="1005840"/>
            <a:ext cx="10515600" cy="91440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Foundations of Data Systems Thinking</a:t>
            </a:r>
            <a:endParaRPr lang="en-US" sz="3400" dirty="0"/>
          </a:p>
        </p:txBody>
      </p:sp>
      <p:sp>
        <p:nvSpPr>
          <p:cNvPr id="5" name="Shape 3"/>
          <p:cNvSpPr/>
          <p:nvPr/>
        </p:nvSpPr>
        <p:spPr>
          <a:xfrm>
            <a:off x="640080" y="2606040"/>
            <a:ext cx="5120640" cy="1417320"/>
          </a:xfrm>
          <a:prstGeom prst="roundRect">
            <a:avLst>
              <a:gd name="adj" fmla="val 5161"/>
            </a:avLst>
          </a:prstGeom>
          <a:solidFill>
            <a:srgbClr val="2A3577"/>
          </a:solidFill>
        </p:spPr>
      </p:sp>
      <p:sp>
        <p:nvSpPr>
          <p:cNvPr id="6" name="Shape 4"/>
          <p:cNvSpPr/>
          <p:nvPr/>
        </p:nvSpPr>
        <p:spPr>
          <a:xfrm>
            <a:off x="868680" y="2862072"/>
            <a:ext cx="566928" cy="566928"/>
          </a:xfrm>
          <a:prstGeom prst="ellipse">
            <a:avLst/>
          </a:prstGeom>
          <a:solidFill>
            <a:srgbClr val="E3A008"/>
          </a:solidFill>
        </p:spPr>
      </p:sp>
      <p:sp>
        <p:nvSpPr>
          <p:cNvPr id="7" name="Text 5"/>
          <p:cNvSpPr/>
          <p:nvPr/>
        </p:nvSpPr>
        <p:spPr>
          <a:xfrm>
            <a:off x="868680" y="2862072"/>
            <a:ext cx="566928" cy="566928"/>
          </a:xfrm>
          <a:prstGeom prst="rect">
            <a:avLst/>
          </a:prstGeom>
          <a:noFill/>
        </p:spPr>
        <p:txBody>
          <a:bodyPr wrap="square" lIns="0" tIns="0" rIns="0" bIns="0" rtlCol="0" anchor="ctr"/>
          <a:lstStyle/>
          <a:p>
            <a:pPr marL="0" indent="0" algn="ctr">
              <a:buNone/>
            </a:pPr>
            <a:r>
              <a:rPr lang="en-US" sz="2200" b="1" dirty="0">
                <a:solidFill>
                  <a:srgbClr val="1E2761"/>
                </a:solidFill>
                <a:latin typeface="Cambria" panose="02040503050406030204" pitchFamily="34" charset="0"/>
                <a:ea typeface="Cambria" panose="02040503050406030204" pitchFamily="34" charset="-122"/>
                <a:cs typeface="Cambria" panose="02040503050406030204" pitchFamily="34" charset="-120"/>
              </a:rPr>
              <a:t>0.1</a:t>
            </a:r>
            <a:endParaRPr lang="en-US" sz="2200" dirty="0"/>
          </a:p>
        </p:txBody>
      </p:sp>
      <p:sp>
        <p:nvSpPr>
          <p:cNvPr id="8" name="Text 6"/>
          <p:cNvSpPr/>
          <p:nvPr/>
        </p:nvSpPr>
        <p:spPr>
          <a:xfrm>
            <a:off x="1600200" y="2770632"/>
            <a:ext cx="3931920" cy="457200"/>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Reliability, Scalability, Maintainability</a:t>
            </a:r>
            <a:endParaRPr lang="en-US" sz="1600" dirty="0"/>
          </a:p>
        </p:txBody>
      </p:sp>
      <p:sp>
        <p:nvSpPr>
          <p:cNvPr id="9" name="Text 7"/>
          <p:cNvSpPr/>
          <p:nvPr/>
        </p:nvSpPr>
        <p:spPr>
          <a:xfrm>
            <a:off x="1600200" y="3227832"/>
            <a:ext cx="3931920" cy="68580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DDIA Ch.1 — fault tolerance, load parameters, the three -abilities</a:t>
            </a:r>
            <a:endParaRPr lang="en-US" sz="1150" dirty="0"/>
          </a:p>
        </p:txBody>
      </p:sp>
      <p:sp>
        <p:nvSpPr>
          <p:cNvPr id="10" name="Shape 8"/>
          <p:cNvSpPr/>
          <p:nvPr/>
        </p:nvSpPr>
        <p:spPr>
          <a:xfrm>
            <a:off x="6080760" y="2606040"/>
            <a:ext cx="5120640" cy="1417320"/>
          </a:xfrm>
          <a:prstGeom prst="roundRect">
            <a:avLst>
              <a:gd name="adj" fmla="val 5161"/>
            </a:avLst>
          </a:prstGeom>
          <a:solidFill>
            <a:srgbClr val="2A3577"/>
          </a:solidFill>
        </p:spPr>
      </p:sp>
      <p:sp>
        <p:nvSpPr>
          <p:cNvPr id="11" name="Shape 9"/>
          <p:cNvSpPr/>
          <p:nvPr/>
        </p:nvSpPr>
        <p:spPr>
          <a:xfrm>
            <a:off x="6309360" y="2862072"/>
            <a:ext cx="566928" cy="566928"/>
          </a:xfrm>
          <a:prstGeom prst="ellipse">
            <a:avLst/>
          </a:prstGeom>
          <a:solidFill>
            <a:srgbClr val="E3A008"/>
          </a:solidFill>
        </p:spPr>
      </p:sp>
      <p:sp>
        <p:nvSpPr>
          <p:cNvPr id="12" name="Text 10"/>
          <p:cNvSpPr/>
          <p:nvPr/>
        </p:nvSpPr>
        <p:spPr>
          <a:xfrm>
            <a:off x="6309360" y="2862072"/>
            <a:ext cx="566928" cy="566928"/>
          </a:xfrm>
          <a:prstGeom prst="rect">
            <a:avLst/>
          </a:prstGeom>
          <a:noFill/>
        </p:spPr>
        <p:txBody>
          <a:bodyPr wrap="square" lIns="0" tIns="0" rIns="0" bIns="0" rtlCol="0" anchor="ctr"/>
          <a:lstStyle/>
          <a:p>
            <a:pPr marL="0" indent="0" algn="ctr">
              <a:buNone/>
            </a:pPr>
            <a:r>
              <a:rPr lang="en-US" sz="2200" b="1" dirty="0">
                <a:solidFill>
                  <a:srgbClr val="1E2761"/>
                </a:solidFill>
                <a:latin typeface="Cambria" panose="02040503050406030204" pitchFamily="34" charset="0"/>
                <a:ea typeface="Cambria" panose="02040503050406030204" pitchFamily="34" charset="-122"/>
                <a:cs typeface="Cambria" panose="02040503050406030204" pitchFamily="34" charset="-120"/>
              </a:rPr>
              <a:t>0.2</a:t>
            </a:r>
            <a:endParaRPr lang="en-US" sz="2200" dirty="0"/>
          </a:p>
        </p:txBody>
      </p:sp>
      <p:sp>
        <p:nvSpPr>
          <p:cNvPr id="13" name="Text 11"/>
          <p:cNvSpPr/>
          <p:nvPr/>
        </p:nvSpPr>
        <p:spPr>
          <a:xfrm>
            <a:off x="7040880" y="2770632"/>
            <a:ext cx="3931920" cy="457200"/>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Models &amp; Query Languages</a:t>
            </a:r>
            <a:endParaRPr lang="en-US" sz="1600" dirty="0"/>
          </a:p>
        </p:txBody>
      </p:sp>
      <p:sp>
        <p:nvSpPr>
          <p:cNvPr id="14" name="Text 12"/>
          <p:cNvSpPr/>
          <p:nvPr/>
        </p:nvSpPr>
        <p:spPr>
          <a:xfrm>
            <a:off x="7040880" y="3227832"/>
            <a:ext cx="3931920" cy="68580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Relational vs. document vs. graph; declarative vs. imperative querying</a:t>
            </a:r>
            <a:endParaRPr lang="en-US" sz="1150" dirty="0"/>
          </a:p>
        </p:txBody>
      </p:sp>
      <p:sp>
        <p:nvSpPr>
          <p:cNvPr id="15" name="Shape 13"/>
          <p:cNvSpPr/>
          <p:nvPr/>
        </p:nvSpPr>
        <p:spPr>
          <a:xfrm>
            <a:off x="640080" y="4297680"/>
            <a:ext cx="5120640" cy="1417320"/>
          </a:xfrm>
          <a:prstGeom prst="roundRect">
            <a:avLst>
              <a:gd name="adj" fmla="val 5161"/>
            </a:avLst>
          </a:prstGeom>
          <a:solidFill>
            <a:srgbClr val="2A3577"/>
          </a:solidFill>
        </p:spPr>
      </p:sp>
      <p:sp>
        <p:nvSpPr>
          <p:cNvPr id="16" name="Shape 14"/>
          <p:cNvSpPr/>
          <p:nvPr/>
        </p:nvSpPr>
        <p:spPr>
          <a:xfrm>
            <a:off x="868680" y="4553712"/>
            <a:ext cx="566928" cy="566928"/>
          </a:xfrm>
          <a:prstGeom prst="ellipse">
            <a:avLst/>
          </a:prstGeom>
          <a:solidFill>
            <a:srgbClr val="E3A008"/>
          </a:solidFill>
        </p:spPr>
      </p:sp>
      <p:sp>
        <p:nvSpPr>
          <p:cNvPr id="17" name="Text 15"/>
          <p:cNvSpPr/>
          <p:nvPr/>
        </p:nvSpPr>
        <p:spPr>
          <a:xfrm>
            <a:off x="868680" y="4553712"/>
            <a:ext cx="566928" cy="566928"/>
          </a:xfrm>
          <a:prstGeom prst="rect">
            <a:avLst/>
          </a:prstGeom>
          <a:noFill/>
        </p:spPr>
        <p:txBody>
          <a:bodyPr wrap="square" lIns="0" tIns="0" rIns="0" bIns="0" rtlCol="0" anchor="ctr"/>
          <a:lstStyle/>
          <a:p>
            <a:pPr marL="0" indent="0" algn="ctr">
              <a:buNone/>
            </a:pPr>
            <a:r>
              <a:rPr lang="en-US" sz="2200" b="1" dirty="0">
                <a:solidFill>
                  <a:srgbClr val="1E2761"/>
                </a:solidFill>
                <a:latin typeface="Cambria" panose="02040503050406030204" pitchFamily="34" charset="0"/>
                <a:ea typeface="Cambria" panose="02040503050406030204" pitchFamily="34" charset="-122"/>
                <a:cs typeface="Cambria" panose="02040503050406030204" pitchFamily="34" charset="-120"/>
              </a:rPr>
              <a:t>0.3</a:t>
            </a:r>
            <a:endParaRPr lang="en-US" sz="2200" dirty="0"/>
          </a:p>
        </p:txBody>
      </p:sp>
      <p:sp>
        <p:nvSpPr>
          <p:cNvPr id="18" name="Text 16"/>
          <p:cNvSpPr/>
          <p:nvPr/>
        </p:nvSpPr>
        <p:spPr>
          <a:xfrm>
            <a:off x="1600200" y="4462272"/>
            <a:ext cx="3931920" cy="457200"/>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Storage Engines 101</a:t>
            </a:r>
            <a:endParaRPr lang="en-US" sz="1600" dirty="0"/>
          </a:p>
        </p:txBody>
      </p:sp>
      <p:sp>
        <p:nvSpPr>
          <p:cNvPr id="19" name="Text 17"/>
          <p:cNvSpPr/>
          <p:nvPr/>
        </p:nvSpPr>
        <p:spPr>
          <a:xfrm>
            <a:off x="1600200" y="4919472"/>
            <a:ext cx="3931920" cy="68580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Row-oriented vs. column-oriented storage; write path vs. read path tradeoffs</a:t>
            </a:r>
            <a:endParaRPr lang="en-US" sz="1150" dirty="0"/>
          </a:p>
        </p:txBody>
      </p:sp>
      <p:sp>
        <p:nvSpPr>
          <p:cNvPr id="20" name="Shape 18"/>
          <p:cNvSpPr/>
          <p:nvPr/>
        </p:nvSpPr>
        <p:spPr>
          <a:xfrm>
            <a:off x="6080760" y="4297680"/>
            <a:ext cx="5120640" cy="1417320"/>
          </a:xfrm>
          <a:prstGeom prst="roundRect">
            <a:avLst>
              <a:gd name="adj" fmla="val 5161"/>
            </a:avLst>
          </a:prstGeom>
          <a:solidFill>
            <a:srgbClr val="2A3577"/>
          </a:solidFill>
        </p:spPr>
      </p:sp>
      <p:sp>
        <p:nvSpPr>
          <p:cNvPr id="21" name="Shape 19"/>
          <p:cNvSpPr/>
          <p:nvPr/>
        </p:nvSpPr>
        <p:spPr>
          <a:xfrm>
            <a:off x="6309360" y="4553712"/>
            <a:ext cx="566928" cy="566928"/>
          </a:xfrm>
          <a:prstGeom prst="ellipse">
            <a:avLst/>
          </a:prstGeom>
          <a:solidFill>
            <a:srgbClr val="E3A008"/>
          </a:solidFill>
        </p:spPr>
      </p:sp>
      <p:sp>
        <p:nvSpPr>
          <p:cNvPr id="22" name="Text 20"/>
          <p:cNvSpPr/>
          <p:nvPr/>
        </p:nvSpPr>
        <p:spPr>
          <a:xfrm>
            <a:off x="6309360" y="4553712"/>
            <a:ext cx="566928" cy="566928"/>
          </a:xfrm>
          <a:prstGeom prst="rect">
            <a:avLst/>
          </a:prstGeom>
          <a:noFill/>
        </p:spPr>
        <p:txBody>
          <a:bodyPr wrap="square" lIns="0" tIns="0" rIns="0" bIns="0" rtlCol="0" anchor="ctr"/>
          <a:lstStyle/>
          <a:p>
            <a:pPr marL="0" indent="0" algn="ctr">
              <a:buNone/>
            </a:pPr>
            <a:r>
              <a:rPr lang="en-US" sz="2200" b="1" dirty="0">
                <a:solidFill>
                  <a:srgbClr val="1E2761"/>
                </a:solidFill>
                <a:latin typeface="Cambria" panose="02040503050406030204" pitchFamily="34" charset="0"/>
                <a:ea typeface="Cambria" panose="02040503050406030204" pitchFamily="34" charset="-122"/>
                <a:cs typeface="Cambria" panose="02040503050406030204" pitchFamily="34" charset="-120"/>
              </a:rPr>
              <a:t>0.4</a:t>
            </a:r>
            <a:endParaRPr lang="en-US" sz="2200" dirty="0"/>
          </a:p>
        </p:txBody>
      </p:sp>
      <p:sp>
        <p:nvSpPr>
          <p:cNvPr id="23" name="Text 21"/>
          <p:cNvSpPr/>
          <p:nvPr/>
        </p:nvSpPr>
        <p:spPr>
          <a:xfrm>
            <a:off x="7040880" y="4462272"/>
            <a:ext cx="3931920" cy="457200"/>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Query Lifecycle</a:t>
            </a:r>
            <a:endParaRPr lang="en-US" sz="1600" dirty="0"/>
          </a:p>
        </p:txBody>
      </p:sp>
      <p:sp>
        <p:nvSpPr>
          <p:cNvPr id="24" name="Text 22"/>
          <p:cNvSpPr/>
          <p:nvPr/>
        </p:nvSpPr>
        <p:spPr>
          <a:xfrm>
            <a:off x="7040880" y="4919472"/>
            <a:ext cx="3931920" cy="685800"/>
          </a:xfrm>
          <a:prstGeom prst="rect">
            <a:avLst/>
          </a:prstGeom>
          <a:noFill/>
        </p:spPr>
        <p:txBody>
          <a:bodyPr wrap="square" lIns="0" tIns="0" rIns="0" bIns="0" rtlCol="0" anchor="ctr"/>
          <a:lstStyle/>
          <a:p>
            <a:pPr marL="0" indent="0">
              <a:lnSpc>
                <a:spcPct val="11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Parser → Rewriter → Optimizer → Executor → Buffer Pool / Page Cache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0.1</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Reliability, Scalability &amp; Maintainability</a:t>
            </a:r>
            <a:endParaRPr lang="en-US" sz="3000" dirty="0"/>
          </a:p>
        </p:txBody>
      </p:sp>
      <p:sp>
        <p:nvSpPr>
          <p:cNvPr id="4" name="Text 2"/>
          <p:cNvSpPr/>
          <p:nvPr/>
        </p:nvSpPr>
        <p:spPr>
          <a:xfrm>
            <a:off x="548640" y="1508760"/>
            <a:ext cx="10789920" cy="411480"/>
          </a:xfrm>
          <a:prstGeom prst="rect">
            <a:avLst/>
          </a:prstGeom>
          <a:noFill/>
        </p:spPr>
        <p:txBody>
          <a:bodyPr wrap="square" lIns="0" tIns="0" rIns="0" bIns="0" rtlCol="0" anchor="ctr"/>
          <a:lstStyle/>
          <a:p>
            <a:pPr marL="0" indent="0">
              <a:buNone/>
            </a:pPr>
            <a:r>
              <a:rPr lang="en-US" sz="1400" i="1" dirty="0">
                <a:solidFill>
                  <a:srgbClr val="6B7280"/>
                </a:solidFill>
                <a:latin typeface="Calibri" panose="020F0502020204030204" pitchFamily="34" charset="0"/>
                <a:ea typeface="Calibri" panose="020F0502020204030204" pitchFamily="34" charset="-122"/>
                <a:cs typeface="Calibri" panose="020F0502020204030204" pitchFamily="34" charset="-120"/>
              </a:rPr>
              <a:t>DDIA Chapter 1 — the three properties every data system is judged on, long before anyone asks “which database?”</a:t>
            </a:r>
            <a:endParaRPr lang="en-US" sz="1400" dirty="0"/>
          </a:p>
        </p:txBody>
      </p:sp>
      <p:sp>
        <p:nvSpPr>
          <p:cNvPr id="5" name="Shape 3"/>
          <p:cNvSpPr/>
          <p:nvPr/>
        </p:nvSpPr>
        <p:spPr>
          <a:xfrm>
            <a:off x="548640" y="2148840"/>
            <a:ext cx="11064240" cy="1188720"/>
          </a:xfrm>
          <a:prstGeom prst="roundRect">
            <a:avLst>
              <a:gd name="adj" fmla="val 6154"/>
            </a:avLst>
          </a:prstGeom>
          <a:solidFill>
            <a:srgbClr val="F0F3FA"/>
          </a:solidFill>
        </p:spPr>
      </p:sp>
      <p:sp>
        <p:nvSpPr>
          <p:cNvPr id="6" name="Shape 4"/>
          <p:cNvSpPr/>
          <p:nvPr/>
        </p:nvSpPr>
        <p:spPr>
          <a:xfrm>
            <a:off x="822960" y="2468880"/>
            <a:ext cx="548640" cy="548640"/>
          </a:xfrm>
          <a:prstGeom prst="ellipse">
            <a:avLst/>
          </a:prstGeom>
          <a:solidFill>
            <a:srgbClr val="1E2761"/>
          </a:solidFill>
        </p:spPr>
      </p:sp>
      <p:sp>
        <p:nvSpPr>
          <p:cNvPr id="7" name="Text 5"/>
          <p:cNvSpPr/>
          <p:nvPr/>
        </p:nvSpPr>
        <p:spPr>
          <a:xfrm>
            <a:off x="822960" y="2468880"/>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t>
            </a:r>
            <a:endParaRPr lang="en-US" sz="1600" dirty="0"/>
          </a:p>
        </p:txBody>
      </p:sp>
      <p:sp>
        <p:nvSpPr>
          <p:cNvPr id="8" name="Text 6"/>
          <p:cNvSpPr/>
          <p:nvPr/>
        </p:nvSpPr>
        <p:spPr>
          <a:xfrm>
            <a:off x="1600200" y="2286000"/>
            <a:ext cx="9784080" cy="36576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Reliability</a:t>
            </a:r>
            <a:endParaRPr lang="en-US" sz="1700" dirty="0"/>
          </a:p>
        </p:txBody>
      </p:sp>
      <p:sp>
        <p:nvSpPr>
          <p:cNvPr id="9" name="Text 7"/>
          <p:cNvSpPr/>
          <p:nvPr/>
        </p:nvSpPr>
        <p:spPr>
          <a:xfrm>
            <a:off x="1600200" y="2651760"/>
            <a:ext cx="9784080" cy="594360"/>
          </a:xfrm>
          <a:prstGeom prst="rect">
            <a:avLst/>
          </a:prstGeom>
          <a:noFill/>
        </p:spPr>
        <p:txBody>
          <a:bodyPr wrap="square" lIns="0" tIns="0" rIns="0" bIns="0" rtlCol="0" anchor="ctr"/>
          <a:lstStyle/>
          <a:p>
            <a:pPr marL="0" indent="0">
              <a:lnSpc>
                <a:spcPct val="110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The system continues working correctly even when hardware fails, software has bugs, or humans make mistakes. The goal is tolerating faults, not merely avoiding them.</a:t>
            </a:r>
            <a:endParaRPr lang="en-US" sz="1250" dirty="0"/>
          </a:p>
        </p:txBody>
      </p:sp>
      <p:sp>
        <p:nvSpPr>
          <p:cNvPr id="10" name="Shape 8"/>
          <p:cNvSpPr/>
          <p:nvPr/>
        </p:nvSpPr>
        <p:spPr>
          <a:xfrm>
            <a:off x="548640" y="3502152"/>
            <a:ext cx="11064240" cy="1188720"/>
          </a:xfrm>
          <a:prstGeom prst="roundRect">
            <a:avLst>
              <a:gd name="adj" fmla="val 6154"/>
            </a:avLst>
          </a:prstGeom>
          <a:solidFill>
            <a:srgbClr val="F0F3FA"/>
          </a:solidFill>
        </p:spPr>
      </p:sp>
      <p:sp>
        <p:nvSpPr>
          <p:cNvPr id="11" name="Shape 9"/>
          <p:cNvSpPr/>
          <p:nvPr/>
        </p:nvSpPr>
        <p:spPr>
          <a:xfrm>
            <a:off x="822960" y="3822192"/>
            <a:ext cx="548640" cy="548640"/>
          </a:xfrm>
          <a:prstGeom prst="ellipse">
            <a:avLst/>
          </a:prstGeom>
          <a:solidFill>
            <a:srgbClr val="3D4FA0"/>
          </a:solidFill>
        </p:spPr>
      </p:sp>
      <p:sp>
        <p:nvSpPr>
          <p:cNvPr id="12" name="Text 10"/>
          <p:cNvSpPr/>
          <p:nvPr/>
        </p:nvSpPr>
        <p:spPr>
          <a:xfrm>
            <a:off x="822960" y="3822192"/>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S</a:t>
            </a:r>
            <a:endParaRPr lang="en-US" sz="1600" dirty="0"/>
          </a:p>
        </p:txBody>
      </p:sp>
      <p:sp>
        <p:nvSpPr>
          <p:cNvPr id="13" name="Text 11"/>
          <p:cNvSpPr/>
          <p:nvPr/>
        </p:nvSpPr>
        <p:spPr>
          <a:xfrm>
            <a:off x="1600200" y="3639312"/>
            <a:ext cx="9784080" cy="36576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Scalability</a:t>
            </a:r>
            <a:endParaRPr lang="en-US" sz="1700" dirty="0"/>
          </a:p>
        </p:txBody>
      </p:sp>
      <p:sp>
        <p:nvSpPr>
          <p:cNvPr id="14" name="Text 12"/>
          <p:cNvSpPr/>
          <p:nvPr/>
        </p:nvSpPr>
        <p:spPr>
          <a:xfrm>
            <a:off x="1600200" y="4005072"/>
            <a:ext cx="9784080" cy="594360"/>
          </a:xfrm>
          <a:prstGeom prst="rect">
            <a:avLst/>
          </a:prstGeom>
          <a:noFill/>
        </p:spPr>
        <p:txBody>
          <a:bodyPr wrap="square" lIns="0" tIns="0" rIns="0" bIns="0" rtlCol="0" anchor="ctr"/>
          <a:lstStyle/>
          <a:p>
            <a:pPr marL="0" indent="0">
              <a:lnSpc>
                <a:spcPct val="110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As load grows;  data volume, traffic, complexity — the system has a strategy to cope. Load is described with concrete parameters: requests/sec, read:write ratio, number of concurrent users.</a:t>
            </a:r>
            <a:endParaRPr lang="en-US" sz="1250" dirty="0"/>
          </a:p>
        </p:txBody>
      </p:sp>
      <p:sp>
        <p:nvSpPr>
          <p:cNvPr id="15" name="Shape 13"/>
          <p:cNvSpPr/>
          <p:nvPr/>
        </p:nvSpPr>
        <p:spPr>
          <a:xfrm>
            <a:off x="548640" y="4855464"/>
            <a:ext cx="11064240" cy="1188720"/>
          </a:xfrm>
          <a:prstGeom prst="roundRect">
            <a:avLst>
              <a:gd name="adj" fmla="val 6154"/>
            </a:avLst>
          </a:prstGeom>
          <a:solidFill>
            <a:srgbClr val="F0F3FA"/>
          </a:solidFill>
        </p:spPr>
      </p:sp>
      <p:sp>
        <p:nvSpPr>
          <p:cNvPr id="16" name="Shape 14"/>
          <p:cNvSpPr/>
          <p:nvPr/>
        </p:nvSpPr>
        <p:spPr>
          <a:xfrm>
            <a:off x="822960" y="5175504"/>
            <a:ext cx="548640" cy="548640"/>
          </a:xfrm>
          <a:prstGeom prst="ellipse">
            <a:avLst/>
          </a:prstGeom>
          <a:solidFill>
            <a:srgbClr val="E3A008"/>
          </a:solidFill>
        </p:spPr>
      </p:sp>
      <p:sp>
        <p:nvSpPr>
          <p:cNvPr id="17" name="Text 15"/>
          <p:cNvSpPr/>
          <p:nvPr/>
        </p:nvSpPr>
        <p:spPr>
          <a:xfrm>
            <a:off x="822960" y="5175504"/>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M</a:t>
            </a:r>
            <a:endParaRPr lang="en-US" sz="1600" dirty="0"/>
          </a:p>
        </p:txBody>
      </p:sp>
      <p:sp>
        <p:nvSpPr>
          <p:cNvPr id="18" name="Text 16"/>
          <p:cNvSpPr/>
          <p:nvPr/>
        </p:nvSpPr>
        <p:spPr>
          <a:xfrm>
            <a:off x="1600200" y="4992624"/>
            <a:ext cx="9784080" cy="36576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Maintainability</a:t>
            </a:r>
            <a:endParaRPr lang="en-US" sz="1700" dirty="0"/>
          </a:p>
        </p:txBody>
      </p:sp>
      <p:sp>
        <p:nvSpPr>
          <p:cNvPr id="19" name="Text 17"/>
          <p:cNvSpPr/>
          <p:nvPr/>
        </p:nvSpPr>
        <p:spPr>
          <a:xfrm>
            <a:off x="1600200" y="5358384"/>
            <a:ext cx="9784080" cy="594360"/>
          </a:xfrm>
          <a:prstGeom prst="rect">
            <a:avLst/>
          </a:prstGeom>
          <a:noFill/>
        </p:spPr>
        <p:txBody>
          <a:bodyPr wrap="square" lIns="0" tIns="0" rIns="0" bIns="0" rtlCol="0" anchor="ctr"/>
          <a:lstStyle/>
          <a:p>
            <a:pPr marL="0" indent="0">
              <a:lnSpc>
                <a:spcPct val="110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Operability, simplicity, and evolvability: can new engineers understand the system, operate it safely, and change it confidently as requirements shift?</a:t>
            </a:r>
            <a:endParaRPr lang="en-US" sz="1250" dirty="0"/>
          </a:p>
        </p:txBody>
      </p:sp>
      <p:sp>
        <p:nvSpPr>
          <p:cNvPr id="20" name="Text 18"/>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0 — Foundations of Data Systems Thinking</a:t>
            </a:r>
            <a:endParaRPr lang="en-US" sz="1000" dirty="0"/>
          </a:p>
        </p:txBody>
      </p:sp>
      <p:sp>
        <p:nvSpPr>
          <p:cNvPr id="21" name="Text 19"/>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0.2</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Data Models &amp; Query Languages</a:t>
            </a:r>
            <a:endParaRPr lang="en-US" sz="3000" dirty="0"/>
          </a:p>
        </p:txBody>
      </p:sp>
      <p:sp>
        <p:nvSpPr>
          <p:cNvPr id="4" name="Shape 2"/>
          <p:cNvSpPr/>
          <p:nvPr/>
        </p:nvSpPr>
        <p:spPr>
          <a:xfrm>
            <a:off x="548640" y="1691640"/>
            <a:ext cx="3520440" cy="3840480"/>
          </a:xfrm>
          <a:prstGeom prst="roundRect">
            <a:avLst>
              <a:gd name="adj" fmla="val 2597"/>
            </a:avLst>
          </a:prstGeom>
          <a:solidFill>
            <a:srgbClr val="1E2761"/>
          </a:solidFill>
        </p:spPr>
      </p:sp>
      <p:sp>
        <p:nvSpPr>
          <p:cNvPr id="5" name="Text 3"/>
          <p:cNvSpPr/>
          <p:nvPr/>
        </p:nvSpPr>
        <p:spPr>
          <a:xfrm>
            <a:off x="822960" y="1965960"/>
            <a:ext cx="2971800" cy="45720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Relational</a:t>
            </a:r>
            <a:endParaRPr lang="en-US" sz="2000" dirty="0"/>
          </a:p>
        </p:txBody>
      </p:sp>
      <p:sp>
        <p:nvSpPr>
          <p:cNvPr id="6" name="Text 4"/>
          <p:cNvSpPr/>
          <p:nvPr/>
        </p:nvSpPr>
        <p:spPr>
          <a:xfrm>
            <a:off x="822960" y="2560320"/>
            <a:ext cx="2971800" cy="1737360"/>
          </a:xfrm>
          <a:prstGeom prst="rect">
            <a:avLst/>
          </a:prstGeom>
          <a:noFill/>
        </p:spPr>
        <p:txBody>
          <a:bodyPr wrap="square" lIns="0" tIns="0" rIns="0" bIns="0" rtlCol="0" anchor="ctr"/>
          <a:lstStyle/>
          <a:p>
            <a:pPr marL="0" indent="0">
              <a:lnSpc>
                <a:spcPct val="115000"/>
              </a:lnSpc>
              <a:buNone/>
            </a:pP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Tables + rows, fixed schema. Joins express relationships explicitly. SQL is declarative: you state WHAT you want, the optimizer decides HOW.</a:t>
            </a:r>
            <a:endParaRPr lang="en-US" sz="1250" dirty="0"/>
          </a:p>
        </p:txBody>
      </p:sp>
      <p:sp>
        <p:nvSpPr>
          <p:cNvPr id="7" name="Shape 5"/>
          <p:cNvSpPr/>
          <p:nvPr/>
        </p:nvSpPr>
        <p:spPr>
          <a:xfrm>
            <a:off x="822960" y="4389120"/>
            <a:ext cx="2971800" cy="0"/>
          </a:xfrm>
          <a:prstGeom prst="line">
            <a:avLst/>
          </a:prstGeom>
          <a:noFill/>
          <a:ln w="12700">
            <a:solidFill>
              <a:srgbClr val="3D4FA0"/>
            </a:solidFill>
            <a:prstDash val="solid"/>
          </a:ln>
        </p:spPr>
      </p:sp>
      <p:sp>
        <p:nvSpPr>
          <p:cNvPr id="8" name="Text 6"/>
          <p:cNvSpPr/>
          <p:nvPr/>
        </p:nvSpPr>
        <p:spPr>
          <a:xfrm>
            <a:off x="822960" y="4507992"/>
            <a:ext cx="2971800" cy="274320"/>
          </a:xfrm>
          <a:prstGeom prst="rect">
            <a:avLst/>
          </a:prstGeom>
          <a:noFill/>
        </p:spPr>
        <p:txBody>
          <a:bodyPr wrap="square" lIns="0" tIns="0" rIns="0" bIns="0" rtlCol="0" anchor="ctr"/>
          <a:lstStyle/>
          <a:p>
            <a:pPr marL="0" indent="0">
              <a:buNone/>
            </a:pPr>
            <a:r>
              <a:rPr lang="en-US" sz="1000" b="1" kern="0" spc="150" dirty="0">
                <a:solidFill>
                  <a:srgbClr val="E3A008"/>
                </a:solidFill>
                <a:latin typeface="Calibri" panose="020F0502020204030204" pitchFamily="34" charset="0"/>
                <a:ea typeface="Calibri" panose="020F0502020204030204" pitchFamily="34" charset="-122"/>
                <a:cs typeface="Calibri" panose="020F0502020204030204" pitchFamily="34" charset="-120"/>
              </a:rPr>
              <a:t>EXAMPLE</a:t>
            </a:r>
            <a:endParaRPr lang="en-US" sz="1000" dirty="0"/>
          </a:p>
        </p:txBody>
      </p:sp>
      <p:sp>
        <p:nvSpPr>
          <p:cNvPr id="9" name="Text 7"/>
          <p:cNvSpPr/>
          <p:nvPr/>
        </p:nvSpPr>
        <p:spPr>
          <a:xfrm>
            <a:off x="822960" y="4800600"/>
            <a:ext cx="2971800" cy="640080"/>
          </a:xfrm>
          <a:prstGeom prst="rect">
            <a:avLst/>
          </a:prstGeom>
          <a:noFill/>
        </p:spPr>
        <p:txBody>
          <a:bodyPr wrap="square" lIns="0" tIns="0" rIns="0" bIns="0" rtlCol="0" anchor="ctr"/>
          <a:lstStyle/>
          <a:p>
            <a:pPr marL="0" indent="0">
              <a:lnSpc>
                <a:spcPct val="110000"/>
              </a:lnSpc>
              <a:buNone/>
            </a:pPr>
            <a:r>
              <a:rPr lang="en-US" sz="1150" i="1" dirty="0">
                <a:solidFill>
                  <a:srgbClr val="CADCFC"/>
                </a:solidFill>
                <a:latin typeface="Calibri" panose="020F0502020204030204" pitchFamily="34" charset="0"/>
                <a:ea typeface="Calibri" panose="020F0502020204030204" pitchFamily="34" charset="-122"/>
                <a:cs typeface="Calibri" panose="020F0502020204030204" pitchFamily="34" charset="-120"/>
              </a:rPr>
              <a:t>Orders, inventory, anything with strong referential integrity needs.</a:t>
            </a:r>
            <a:endParaRPr lang="en-US" sz="1150" dirty="0"/>
          </a:p>
        </p:txBody>
      </p:sp>
      <p:sp>
        <p:nvSpPr>
          <p:cNvPr id="10" name="Shape 8"/>
          <p:cNvSpPr/>
          <p:nvPr/>
        </p:nvSpPr>
        <p:spPr>
          <a:xfrm>
            <a:off x="4343400" y="1691640"/>
            <a:ext cx="3520440" cy="3840480"/>
          </a:xfrm>
          <a:prstGeom prst="roundRect">
            <a:avLst>
              <a:gd name="adj" fmla="val 2597"/>
            </a:avLst>
          </a:prstGeom>
          <a:solidFill>
            <a:srgbClr val="F0F3FA"/>
          </a:solidFill>
        </p:spPr>
      </p:sp>
      <p:sp>
        <p:nvSpPr>
          <p:cNvPr id="11" name="Text 9"/>
          <p:cNvSpPr/>
          <p:nvPr/>
        </p:nvSpPr>
        <p:spPr>
          <a:xfrm>
            <a:off x="4617720" y="1965960"/>
            <a:ext cx="2971800" cy="457200"/>
          </a:xfrm>
          <a:prstGeom prst="rect">
            <a:avLst/>
          </a:prstGeom>
          <a:noFill/>
        </p:spPr>
        <p:txBody>
          <a:bodyPr wrap="square" lIns="0" tIns="0" rIns="0" bIns="0" rtlCol="0" anchor="ctr"/>
          <a:lstStyle/>
          <a:p>
            <a:pPr marL="0" indent="0">
              <a:buNone/>
            </a:pPr>
            <a:r>
              <a:rPr lang="en-US" sz="2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Document</a:t>
            </a:r>
            <a:endParaRPr lang="en-US" sz="2000" dirty="0"/>
          </a:p>
        </p:txBody>
      </p:sp>
      <p:sp>
        <p:nvSpPr>
          <p:cNvPr id="12" name="Text 10"/>
          <p:cNvSpPr/>
          <p:nvPr/>
        </p:nvSpPr>
        <p:spPr>
          <a:xfrm>
            <a:off x="4617720" y="2560320"/>
            <a:ext cx="2971800" cy="1737360"/>
          </a:xfrm>
          <a:prstGeom prst="rect">
            <a:avLst/>
          </a:prstGeom>
          <a:noFill/>
        </p:spPr>
        <p:txBody>
          <a:bodyPr wrap="square" lIns="0" tIns="0" rIns="0" bIns="0" rtlCol="0" anchor="ctr"/>
          <a:lstStyle/>
          <a:p>
            <a:pPr marL="0" indent="0">
              <a:lnSpc>
                <a:spcPct val="115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Self-contained JSON/BSON documents, schema-flexible, denormalized for data locality. One read fetches one whole “entity.”</a:t>
            </a:r>
            <a:endParaRPr lang="en-US" sz="1250" dirty="0"/>
          </a:p>
        </p:txBody>
      </p:sp>
      <p:sp>
        <p:nvSpPr>
          <p:cNvPr id="13" name="Shape 11"/>
          <p:cNvSpPr/>
          <p:nvPr/>
        </p:nvSpPr>
        <p:spPr>
          <a:xfrm>
            <a:off x="4617720" y="4389120"/>
            <a:ext cx="2971800" cy="0"/>
          </a:xfrm>
          <a:prstGeom prst="line">
            <a:avLst/>
          </a:prstGeom>
          <a:noFill/>
          <a:ln w="12700">
            <a:solidFill>
              <a:srgbClr val="C9CEDA"/>
            </a:solidFill>
            <a:prstDash val="solid"/>
          </a:ln>
        </p:spPr>
      </p:sp>
      <p:sp>
        <p:nvSpPr>
          <p:cNvPr id="14" name="Text 12"/>
          <p:cNvSpPr/>
          <p:nvPr/>
        </p:nvSpPr>
        <p:spPr>
          <a:xfrm>
            <a:off x="4617720" y="4507992"/>
            <a:ext cx="2971800" cy="274320"/>
          </a:xfrm>
          <a:prstGeom prst="rect">
            <a:avLst/>
          </a:prstGeom>
          <a:noFill/>
        </p:spPr>
        <p:txBody>
          <a:bodyPr wrap="square" lIns="0" tIns="0" rIns="0" bIns="0" rtlCol="0" anchor="ctr"/>
          <a:lstStyle/>
          <a:p>
            <a:pPr marL="0" indent="0">
              <a:buNone/>
            </a:pPr>
            <a:r>
              <a:rPr lang="en-US" sz="1000" b="1" kern="0" spc="150" dirty="0">
                <a:solidFill>
                  <a:srgbClr val="6B7280"/>
                </a:solidFill>
                <a:latin typeface="Calibri" panose="020F0502020204030204" pitchFamily="34" charset="0"/>
                <a:ea typeface="Calibri" panose="020F0502020204030204" pitchFamily="34" charset="-122"/>
                <a:cs typeface="Calibri" panose="020F0502020204030204" pitchFamily="34" charset="-120"/>
              </a:rPr>
              <a:t>EXAMPLE</a:t>
            </a:r>
            <a:endParaRPr lang="en-US" sz="1000" dirty="0"/>
          </a:p>
        </p:txBody>
      </p:sp>
      <p:sp>
        <p:nvSpPr>
          <p:cNvPr id="15" name="Text 13"/>
          <p:cNvSpPr/>
          <p:nvPr/>
        </p:nvSpPr>
        <p:spPr>
          <a:xfrm>
            <a:off x="4617720" y="4800600"/>
            <a:ext cx="2971800" cy="640080"/>
          </a:xfrm>
          <a:prstGeom prst="rect">
            <a:avLst/>
          </a:prstGeom>
          <a:noFill/>
        </p:spPr>
        <p:txBody>
          <a:bodyPr wrap="square" lIns="0" tIns="0" rIns="0" bIns="0" rtlCol="0" anchor="ctr"/>
          <a:lstStyle/>
          <a:p>
            <a:pPr marL="0" indent="0">
              <a:lnSpc>
                <a:spcPct val="110000"/>
              </a:lnSpc>
              <a:buNone/>
            </a:pPr>
            <a:r>
              <a:rPr lang="en-US" sz="1150" i="1" dirty="0">
                <a:solidFill>
                  <a:srgbClr val="6B7280"/>
                </a:solidFill>
                <a:latin typeface="Calibri" panose="020F0502020204030204" pitchFamily="34" charset="0"/>
                <a:ea typeface="Calibri" panose="020F0502020204030204" pitchFamily="34" charset="-122"/>
                <a:cs typeface="Calibri" panose="020F0502020204030204" pitchFamily="34" charset="-120"/>
              </a:rPr>
              <a:t>Hierarchical, rarely-joined data — a user profile with nested preferences.</a:t>
            </a:r>
            <a:endParaRPr lang="en-US" sz="1150" dirty="0"/>
          </a:p>
        </p:txBody>
      </p:sp>
      <p:sp>
        <p:nvSpPr>
          <p:cNvPr id="16" name="Shape 14"/>
          <p:cNvSpPr/>
          <p:nvPr/>
        </p:nvSpPr>
        <p:spPr>
          <a:xfrm>
            <a:off x="8138160" y="1691640"/>
            <a:ext cx="3520440" cy="3840480"/>
          </a:xfrm>
          <a:prstGeom prst="roundRect">
            <a:avLst>
              <a:gd name="adj" fmla="val 2597"/>
            </a:avLst>
          </a:prstGeom>
          <a:solidFill>
            <a:srgbClr val="F0F3FA"/>
          </a:solidFill>
        </p:spPr>
      </p:sp>
      <p:sp>
        <p:nvSpPr>
          <p:cNvPr id="17" name="Text 15"/>
          <p:cNvSpPr/>
          <p:nvPr/>
        </p:nvSpPr>
        <p:spPr>
          <a:xfrm>
            <a:off x="8412480" y="1965960"/>
            <a:ext cx="2971800" cy="457200"/>
          </a:xfrm>
          <a:prstGeom prst="rect">
            <a:avLst/>
          </a:prstGeom>
          <a:noFill/>
        </p:spPr>
        <p:txBody>
          <a:bodyPr wrap="square" lIns="0" tIns="0" rIns="0" bIns="0" rtlCol="0" anchor="ctr"/>
          <a:lstStyle/>
          <a:p>
            <a:pPr marL="0" indent="0">
              <a:buNone/>
            </a:pPr>
            <a:r>
              <a:rPr lang="en-US" sz="2000" b="1" dirty="0">
                <a:solidFill>
                  <a:srgbClr val="1E2761"/>
                </a:solidFill>
                <a:latin typeface="Cambria" panose="02040503050406030204" pitchFamily="34" charset="0"/>
                <a:ea typeface="Cambria" panose="02040503050406030204" pitchFamily="34" charset="-122"/>
                <a:cs typeface="Cambria" panose="02040503050406030204" pitchFamily="34" charset="-120"/>
              </a:rPr>
              <a:t>Graph</a:t>
            </a:r>
            <a:endParaRPr lang="en-US" sz="2000" dirty="0"/>
          </a:p>
        </p:txBody>
      </p:sp>
      <p:sp>
        <p:nvSpPr>
          <p:cNvPr id="18" name="Text 16"/>
          <p:cNvSpPr/>
          <p:nvPr/>
        </p:nvSpPr>
        <p:spPr>
          <a:xfrm>
            <a:off x="8412480" y="2560320"/>
            <a:ext cx="2971800" cy="1737360"/>
          </a:xfrm>
          <a:prstGeom prst="rect">
            <a:avLst/>
          </a:prstGeom>
          <a:noFill/>
        </p:spPr>
        <p:txBody>
          <a:bodyPr wrap="square" lIns="0" tIns="0" rIns="0" bIns="0" rtlCol="0" anchor="ctr"/>
          <a:lstStyle/>
          <a:p>
            <a:pPr marL="0" indent="0">
              <a:lnSpc>
                <a:spcPct val="115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Nodes + edges — relationships are first-class citizens, not foreign keys. Traverses deep connections in constant hops, not cascading joins.</a:t>
            </a:r>
            <a:endParaRPr lang="en-US" sz="1250" dirty="0"/>
          </a:p>
        </p:txBody>
      </p:sp>
      <p:sp>
        <p:nvSpPr>
          <p:cNvPr id="19" name="Shape 17"/>
          <p:cNvSpPr/>
          <p:nvPr/>
        </p:nvSpPr>
        <p:spPr>
          <a:xfrm>
            <a:off x="8412480" y="4389120"/>
            <a:ext cx="2971800" cy="0"/>
          </a:xfrm>
          <a:prstGeom prst="line">
            <a:avLst/>
          </a:prstGeom>
          <a:noFill/>
          <a:ln w="12700">
            <a:solidFill>
              <a:srgbClr val="C9CEDA"/>
            </a:solidFill>
            <a:prstDash val="solid"/>
          </a:ln>
        </p:spPr>
      </p:sp>
      <p:sp>
        <p:nvSpPr>
          <p:cNvPr id="20" name="Text 18"/>
          <p:cNvSpPr/>
          <p:nvPr/>
        </p:nvSpPr>
        <p:spPr>
          <a:xfrm>
            <a:off x="8412480" y="4507992"/>
            <a:ext cx="2971800" cy="274320"/>
          </a:xfrm>
          <a:prstGeom prst="rect">
            <a:avLst/>
          </a:prstGeom>
          <a:noFill/>
        </p:spPr>
        <p:txBody>
          <a:bodyPr wrap="square" lIns="0" tIns="0" rIns="0" bIns="0" rtlCol="0" anchor="ctr"/>
          <a:lstStyle/>
          <a:p>
            <a:pPr marL="0" indent="0">
              <a:buNone/>
            </a:pPr>
            <a:r>
              <a:rPr lang="en-US" sz="1000" b="1" kern="0" spc="150" dirty="0">
                <a:solidFill>
                  <a:srgbClr val="6B7280"/>
                </a:solidFill>
                <a:latin typeface="Calibri" panose="020F0502020204030204" pitchFamily="34" charset="0"/>
                <a:ea typeface="Calibri" panose="020F0502020204030204" pitchFamily="34" charset="-122"/>
                <a:cs typeface="Calibri" panose="020F0502020204030204" pitchFamily="34" charset="-120"/>
              </a:rPr>
              <a:t>EXAMPLE</a:t>
            </a:r>
            <a:endParaRPr lang="en-US" sz="1000" dirty="0"/>
          </a:p>
        </p:txBody>
      </p:sp>
      <p:sp>
        <p:nvSpPr>
          <p:cNvPr id="21" name="Text 19"/>
          <p:cNvSpPr/>
          <p:nvPr/>
        </p:nvSpPr>
        <p:spPr>
          <a:xfrm>
            <a:off x="8412480" y="4800600"/>
            <a:ext cx="2971800" cy="640080"/>
          </a:xfrm>
          <a:prstGeom prst="rect">
            <a:avLst/>
          </a:prstGeom>
          <a:noFill/>
        </p:spPr>
        <p:txBody>
          <a:bodyPr wrap="square" lIns="0" tIns="0" rIns="0" bIns="0" rtlCol="0" anchor="ctr"/>
          <a:lstStyle/>
          <a:p>
            <a:pPr marL="0" indent="0">
              <a:lnSpc>
                <a:spcPct val="110000"/>
              </a:lnSpc>
              <a:buNone/>
            </a:pPr>
            <a:r>
              <a:rPr lang="en-US" sz="1150" i="1" dirty="0">
                <a:solidFill>
                  <a:srgbClr val="6B7280"/>
                </a:solidFill>
                <a:latin typeface="Calibri" panose="020F0502020204030204" pitchFamily="34" charset="0"/>
                <a:ea typeface="Calibri" panose="020F0502020204030204" pitchFamily="34" charset="-122"/>
                <a:cs typeface="Calibri" panose="020F0502020204030204" pitchFamily="34" charset="-120"/>
              </a:rPr>
              <a:t>Social graphs, fraud rings, recommendation paths.</a:t>
            </a:r>
            <a:endParaRPr lang="en-US" sz="1150" dirty="0"/>
          </a:p>
        </p:txBody>
      </p:sp>
      <p:sp>
        <p:nvSpPr>
          <p:cNvPr id="22" name="Text 20"/>
          <p:cNvSpPr/>
          <p:nvPr/>
        </p:nvSpPr>
        <p:spPr>
          <a:xfrm>
            <a:off x="548640" y="5715000"/>
            <a:ext cx="11064240" cy="502920"/>
          </a:xfrm>
          <a:prstGeom prst="rect">
            <a:avLst/>
          </a:prstGeom>
          <a:noFill/>
        </p:spPr>
        <p:txBody>
          <a:bodyPr wrap="square" lIns="0" tIns="0" rIns="0" bIns="0" rtlCol="0" anchor="ctr"/>
          <a:lstStyle/>
          <a:p>
            <a:pPr marL="0" indent="0">
              <a:buNone/>
            </a:pPr>
            <a:r>
              <a:rPr lang="en-US" sz="1250" i="1" dirty="0">
                <a:solidFill>
                  <a:srgbClr val="6B7280"/>
                </a:solidFill>
                <a:latin typeface="Calibri" panose="020F0502020204030204" pitchFamily="34" charset="0"/>
                <a:ea typeface="Calibri" panose="020F0502020204030204" pitchFamily="34" charset="-122"/>
                <a:cs typeface="Calibri" panose="020F0502020204030204" pitchFamily="34" charset="-120"/>
              </a:rPr>
              <a:t>SQL declares the result; the query planner decides the execution strategy — that planner is the whole story starting in Module 3.</a:t>
            </a:r>
            <a:endParaRPr lang="en-US" sz="1250" dirty="0"/>
          </a:p>
        </p:txBody>
      </p:sp>
      <p:sp>
        <p:nvSpPr>
          <p:cNvPr id="23" name="Text 21"/>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0 — Foundations of Data Systems Thinking</a:t>
            </a:r>
            <a:endParaRPr lang="en-US" sz="1000" dirty="0"/>
          </a:p>
        </p:txBody>
      </p:sp>
      <p:sp>
        <p:nvSpPr>
          <p:cNvPr id="24" name="Text 22"/>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0.3</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Storage Engines 101</a:t>
            </a:r>
            <a:endParaRPr lang="en-US" sz="3000" dirty="0"/>
          </a:p>
        </p:txBody>
      </p:sp>
      <p:sp>
        <p:nvSpPr>
          <p:cNvPr id="4" name="Shape 2"/>
          <p:cNvSpPr/>
          <p:nvPr/>
        </p:nvSpPr>
        <p:spPr>
          <a:xfrm>
            <a:off x="548640" y="1691640"/>
            <a:ext cx="5394960" cy="3291840"/>
          </a:xfrm>
          <a:prstGeom prst="roundRect">
            <a:avLst>
              <a:gd name="adj" fmla="val 2778"/>
            </a:avLst>
          </a:prstGeom>
          <a:solidFill>
            <a:srgbClr val="F0F3FA"/>
          </a:solidFill>
        </p:spPr>
      </p:sp>
      <p:sp>
        <p:nvSpPr>
          <p:cNvPr id="5" name="Shape 3"/>
          <p:cNvSpPr/>
          <p:nvPr/>
        </p:nvSpPr>
        <p:spPr>
          <a:xfrm>
            <a:off x="822960" y="1965960"/>
            <a:ext cx="146304" cy="146304"/>
          </a:xfrm>
          <a:prstGeom prst="roundRect">
            <a:avLst>
              <a:gd name="adj" fmla="val 50000"/>
            </a:avLst>
          </a:prstGeom>
          <a:solidFill>
            <a:srgbClr val="1E2761"/>
          </a:solidFill>
        </p:spPr>
      </p:sp>
      <p:sp>
        <p:nvSpPr>
          <p:cNvPr id="6" name="Text 4"/>
          <p:cNvSpPr/>
          <p:nvPr/>
        </p:nvSpPr>
        <p:spPr>
          <a:xfrm>
            <a:off x="1097280" y="1892808"/>
            <a:ext cx="4572000" cy="365760"/>
          </a:xfrm>
          <a:prstGeom prst="rect">
            <a:avLst/>
          </a:prstGeom>
          <a:noFill/>
        </p:spPr>
        <p:txBody>
          <a:bodyPr wrap="square" lIns="0" tIns="0" rIns="0" bIns="0" rtlCol="0" anchor="ctr"/>
          <a:lstStyle/>
          <a:p>
            <a:pPr marL="0" indent="0">
              <a:buNone/>
            </a:pPr>
            <a:r>
              <a:rPr lang="en-US" sz="1800" b="1" dirty="0">
                <a:solidFill>
                  <a:srgbClr val="1E2761"/>
                </a:solidFill>
                <a:latin typeface="Cambria" panose="02040503050406030204" pitchFamily="34" charset="0"/>
                <a:ea typeface="Cambria" panose="02040503050406030204" pitchFamily="34" charset="-122"/>
                <a:cs typeface="Cambria" panose="02040503050406030204" pitchFamily="34" charset="-120"/>
              </a:rPr>
              <a:t>Row-Oriented Storage</a:t>
            </a:r>
            <a:endParaRPr lang="en-US" sz="1800" dirty="0"/>
          </a:p>
        </p:txBody>
      </p:sp>
      <p:sp>
        <p:nvSpPr>
          <p:cNvPr id="7" name="Text 5"/>
          <p:cNvSpPr/>
          <p:nvPr/>
        </p:nvSpPr>
        <p:spPr>
          <a:xfrm>
            <a:off x="822960" y="2313432"/>
            <a:ext cx="4846320" cy="274320"/>
          </a:xfrm>
          <a:prstGeom prst="rect">
            <a:avLst/>
          </a:prstGeom>
          <a:noFill/>
        </p:spPr>
        <p:txBody>
          <a:bodyPr wrap="square" lIns="0" tIns="0" rIns="0" bIns="0" rtlCol="0" anchor="ctr"/>
          <a:lstStyle/>
          <a:p>
            <a:pPr marL="0" indent="0">
              <a:buNone/>
            </a:pPr>
            <a:r>
              <a:rPr lang="en-US" sz="1050" b="1" kern="0" spc="120" dirty="0">
                <a:solidFill>
                  <a:srgbClr val="1E2761"/>
                </a:solidFill>
                <a:latin typeface="Calibri" panose="020F0502020204030204" pitchFamily="34" charset="0"/>
                <a:ea typeface="Calibri" panose="020F0502020204030204" pitchFamily="34" charset="-122"/>
                <a:cs typeface="Calibri" panose="020F0502020204030204" pitchFamily="34" charset="-120"/>
              </a:rPr>
              <a:t>OLTP WORKHORSE</a:t>
            </a:r>
            <a:endParaRPr lang="en-US" sz="1050" dirty="0"/>
          </a:p>
        </p:txBody>
      </p:sp>
      <p:sp>
        <p:nvSpPr>
          <p:cNvPr id="8" name="Text 6"/>
          <p:cNvSpPr/>
          <p:nvPr/>
        </p:nvSpPr>
        <p:spPr>
          <a:xfrm>
            <a:off x="822960" y="2697480"/>
            <a:ext cx="4846320" cy="2103120"/>
          </a:xfrm>
          <a:prstGeom prst="rect">
            <a:avLst/>
          </a:prstGeom>
          <a:noFill/>
        </p:spPr>
        <p:txBody>
          <a:bodyPr wrap="square" lIns="0" tIns="0" rIns="0" bIns="0" rtlCol="0" anchor="ctr"/>
          <a:lstStyle/>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Stores a full row contiguously on disk</a:t>
            </a:r>
            <a:endParaRPr lang="en-US" sz="1250" dirty="0"/>
          </a:p>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Fast single-row reads and writes</a:t>
            </a:r>
            <a:endParaRPr lang="en-US" sz="1250" dirty="0"/>
          </a:p>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Ideal for transactional workloads: orders, users, inventory updates</a:t>
            </a:r>
            <a:endParaRPr lang="en-US" sz="1250" dirty="0"/>
          </a:p>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Cost: scanning one column across millions of rows still reads every other column too</a:t>
            </a:r>
            <a:endParaRPr lang="en-US" sz="1250" dirty="0"/>
          </a:p>
        </p:txBody>
      </p:sp>
      <p:sp>
        <p:nvSpPr>
          <p:cNvPr id="9" name="Shape 7"/>
          <p:cNvSpPr/>
          <p:nvPr/>
        </p:nvSpPr>
        <p:spPr>
          <a:xfrm>
            <a:off x="6217920" y="1691640"/>
            <a:ext cx="5394960" cy="3291840"/>
          </a:xfrm>
          <a:prstGeom prst="roundRect">
            <a:avLst>
              <a:gd name="adj" fmla="val 2778"/>
            </a:avLst>
          </a:prstGeom>
          <a:solidFill>
            <a:srgbClr val="F0F3FA"/>
          </a:solidFill>
        </p:spPr>
      </p:sp>
      <p:sp>
        <p:nvSpPr>
          <p:cNvPr id="10" name="Shape 8"/>
          <p:cNvSpPr/>
          <p:nvPr/>
        </p:nvSpPr>
        <p:spPr>
          <a:xfrm>
            <a:off x="6492240" y="1965960"/>
            <a:ext cx="146304" cy="146304"/>
          </a:xfrm>
          <a:prstGeom prst="roundRect">
            <a:avLst>
              <a:gd name="adj" fmla="val 50000"/>
            </a:avLst>
          </a:prstGeom>
          <a:solidFill>
            <a:srgbClr val="3D4FA0"/>
          </a:solidFill>
        </p:spPr>
      </p:sp>
      <p:sp>
        <p:nvSpPr>
          <p:cNvPr id="11" name="Text 9"/>
          <p:cNvSpPr/>
          <p:nvPr/>
        </p:nvSpPr>
        <p:spPr>
          <a:xfrm>
            <a:off x="6766560" y="1892808"/>
            <a:ext cx="4572000" cy="365760"/>
          </a:xfrm>
          <a:prstGeom prst="rect">
            <a:avLst/>
          </a:prstGeom>
          <a:noFill/>
        </p:spPr>
        <p:txBody>
          <a:bodyPr wrap="square" lIns="0" tIns="0" rIns="0" bIns="0" rtlCol="0" anchor="ctr"/>
          <a:lstStyle/>
          <a:p>
            <a:pPr marL="0" indent="0">
              <a:buNone/>
            </a:pPr>
            <a:r>
              <a:rPr lang="en-US" sz="1800" b="1" dirty="0">
                <a:solidFill>
                  <a:srgbClr val="1E2761"/>
                </a:solidFill>
                <a:latin typeface="Cambria" panose="02040503050406030204" pitchFamily="34" charset="0"/>
                <a:ea typeface="Cambria" panose="02040503050406030204" pitchFamily="34" charset="-122"/>
                <a:cs typeface="Cambria" panose="02040503050406030204" pitchFamily="34" charset="-120"/>
              </a:rPr>
              <a:t>Column-Oriented Storage</a:t>
            </a:r>
            <a:endParaRPr lang="en-US" sz="1800" dirty="0"/>
          </a:p>
        </p:txBody>
      </p:sp>
      <p:sp>
        <p:nvSpPr>
          <p:cNvPr id="12" name="Text 10"/>
          <p:cNvSpPr/>
          <p:nvPr/>
        </p:nvSpPr>
        <p:spPr>
          <a:xfrm>
            <a:off x="6492240" y="2313432"/>
            <a:ext cx="4846320" cy="274320"/>
          </a:xfrm>
          <a:prstGeom prst="rect">
            <a:avLst/>
          </a:prstGeom>
          <a:noFill/>
        </p:spPr>
        <p:txBody>
          <a:bodyPr wrap="square" lIns="0" tIns="0" rIns="0" bIns="0" rtlCol="0" anchor="ctr"/>
          <a:lstStyle/>
          <a:p>
            <a:pPr marL="0" indent="0">
              <a:buNone/>
            </a:pPr>
            <a:r>
              <a:rPr lang="en-US" sz="1050" b="1" kern="0" spc="120" dirty="0">
                <a:solidFill>
                  <a:srgbClr val="3D4FA0"/>
                </a:solidFill>
                <a:latin typeface="Calibri" panose="020F0502020204030204" pitchFamily="34" charset="0"/>
                <a:ea typeface="Calibri" panose="020F0502020204030204" pitchFamily="34" charset="-122"/>
                <a:cs typeface="Calibri" panose="020F0502020204030204" pitchFamily="34" charset="-120"/>
              </a:rPr>
              <a:t>OLAP WORKHORSE</a:t>
            </a:r>
            <a:endParaRPr lang="en-US" sz="1050" dirty="0"/>
          </a:p>
        </p:txBody>
      </p:sp>
      <p:sp>
        <p:nvSpPr>
          <p:cNvPr id="13" name="Text 11"/>
          <p:cNvSpPr/>
          <p:nvPr/>
        </p:nvSpPr>
        <p:spPr>
          <a:xfrm>
            <a:off x="6492240" y="2697480"/>
            <a:ext cx="4846320" cy="2103120"/>
          </a:xfrm>
          <a:prstGeom prst="rect">
            <a:avLst/>
          </a:prstGeom>
          <a:noFill/>
        </p:spPr>
        <p:txBody>
          <a:bodyPr wrap="square" lIns="0" tIns="0" rIns="0" bIns="0" rtlCol="0" anchor="ctr"/>
          <a:lstStyle/>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Stores each column contiguously, separately</a:t>
            </a:r>
            <a:endParaRPr lang="en-US" sz="1250" dirty="0"/>
          </a:p>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Scans touch only the columns a query needs</a:t>
            </a:r>
            <a:endParaRPr lang="en-US" sz="1250" dirty="0"/>
          </a:p>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Excellent compression (low cardinality per column)</a:t>
            </a:r>
            <a:endParaRPr lang="en-US" sz="1250" dirty="0"/>
          </a:p>
          <a:p>
            <a:pPr marL="342900" indent="-342900">
              <a:lnSpc>
                <a:spcPct val="110000"/>
              </a:lnSpc>
              <a:spcAft>
                <a:spcPts val="1000"/>
              </a:spcAft>
              <a:buSzPct val="100000"/>
              <a:buChar char="➔"/>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Ideal for aggregation over few columns, many rows — dashboards, reporting</a:t>
            </a:r>
            <a:endParaRPr lang="en-US" sz="1250" dirty="0"/>
          </a:p>
        </p:txBody>
      </p:sp>
      <p:sp>
        <p:nvSpPr>
          <p:cNvPr id="14" name="Shape 12"/>
          <p:cNvSpPr/>
          <p:nvPr/>
        </p:nvSpPr>
        <p:spPr>
          <a:xfrm>
            <a:off x="548640" y="5166360"/>
            <a:ext cx="11064240" cy="1051560"/>
          </a:xfrm>
          <a:prstGeom prst="roundRect">
            <a:avLst>
              <a:gd name="adj" fmla="val 6957"/>
            </a:avLst>
          </a:prstGeom>
          <a:solidFill>
            <a:srgbClr val="F0F3FA"/>
          </a:solidFill>
        </p:spPr>
      </p:sp>
      <p:sp>
        <p:nvSpPr>
          <p:cNvPr id="15" name="Text 13"/>
          <p:cNvSpPr/>
          <p:nvPr/>
        </p:nvSpPr>
        <p:spPr>
          <a:xfrm>
            <a:off x="777240" y="53035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16" name="Text 14"/>
          <p:cNvSpPr/>
          <p:nvPr/>
        </p:nvSpPr>
        <p:spPr>
          <a:xfrm>
            <a:off x="777240" y="5623560"/>
            <a:ext cx="10607040" cy="45720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Every storage engine trades write-path simplicity for read-path speed, or vice versa. This exact tension resurfaces in Module 3 as B-Tree (InnoDB/SQL Server) vs. LSM-Tree (MyRocks) — and it's why this course puts clickstream/telemetry logs and transactional orders in different engine categories.</a:t>
            </a:r>
            <a:endParaRPr lang="en-US" sz="1300" dirty="0"/>
          </a:p>
        </p:txBody>
      </p:sp>
      <p:sp>
        <p:nvSpPr>
          <p:cNvPr id="17" name="Text 15"/>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0 — Foundations of Data Systems Thinking</a:t>
            </a:r>
            <a:endParaRPr lang="en-US" sz="1000" dirty="0"/>
          </a:p>
        </p:txBody>
      </p:sp>
      <p:sp>
        <p:nvSpPr>
          <p:cNvPr id="18" name="Text 16"/>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0.4</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The Query Lifecycle</a:t>
            </a:r>
            <a:endParaRPr lang="en-US" sz="3000" dirty="0"/>
          </a:p>
        </p:txBody>
      </p:sp>
      <p:sp>
        <p:nvSpPr>
          <p:cNvPr id="4" name="Text 2"/>
          <p:cNvSpPr/>
          <p:nvPr/>
        </p:nvSpPr>
        <p:spPr>
          <a:xfrm>
            <a:off x="548640" y="1508760"/>
            <a:ext cx="10789920" cy="365760"/>
          </a:xfrm>
          <a:prstGeom prst="rect">
            <a:avLst/>
          </a:prstGeom>
          <a:noFill/>
        </p:spPr>
        <p:txBody>
          <a:bodyPr wrap="square" lIns="0" tIns="0" rIns="0" bIns="0" rtlCol="0" anchor="ctr"/>
          <a:lstStyle/>
          <a:p>
            <a:pPr marL="0" indent="0">
              <a:buNone/>
            </a:pPr>
            <a:r>
              <a:rPr lang="en-US" sz="1400" i="1" dirty="0">
                <a:solidFill>
                  <a:srgbClr val="6B7280"/>
                </a:solidFill>
                <a:latin typeface="Calibri" panose="020F0502020204030204" pitchFamily="34" charset="0"/>
                <a:ea typeface="Calibri" panose="020F0502020204030204" pitchFamily="34" charset="-122"/>
                <a:cs typeface="Calibri" panose="020F0502020204030204" pitchFamily="34" charset="-120"/>
              </a:rPr>
              <a:t>What actually happens between you pressing “Run” and rows coming back.</a:t>
            </a:r>
            <a:endParaRPr lang="en-US" sz="1400" dirty="0"/>
          </a:p>
        </p:txBody>
      </p:sp>
      <p:sp>
        <p:nvSpPr>
          <p:cNvPr id="5" name="Shape 3"/>
          <p:cNvSpPr/>
          <p:nvPr/>
        </p:nvSpPr>
        <p:spPr>
          <a:xfrm>
            <a:off x="548640" y="2377440"/>
            <a:ext cx="2051914" cy="2651760"/>
          </a:xfrm>
          <a:prstGeom prst="roundRect">
            <a:avLst>
              <a:gd name="adj" fmla="val 4011"/>
            </a:avLst>
          </a:prstGeom>
          <a:solidFill>
            <a:srgbClr val="1E2761"/>
          </a:solidFill>
        </p:spPr>
      </p:sp>
      <p:sp>
        <p:nvSpPr>
          <p:cNvPr id="6" name="Text 4"/>
          <p:cNvSpPr/>
          <p:nvPr/>
        </p:nvSpPr>
        <p:spPr>
          <a:xfrm>
            <a:off x="685800" y="2514600"/>
            <a:ext cx="1777594" cy="457200"/>
          </a:xfrm>
          <a:prstGeom prst="rect">
            <a:avLst/>
          </a:prstGeom>
          <a:noFill/>
        </p:spPr>
        <p:txBody>
          <a:bodyPr wrap="square" lIns="0" tIns="0" rIns="0" bIns="0" rtlCol="0" anchor="ctr"/>
          <a:lstStyle/>
          <a:p>
            <a:pPr marL="0" indent="0">
              <a:buNone/>
            </a:pPr>
            <a:r>
              <a:rPr lang="en-US" sz="2400" b="1" dirty="0">
                <a:solidFill>
                  <a:srgbClr val="CADCFC"/>
                </a:solidFill>
                <a:latin typeface="Cambria" panose="02040503050406030204" pitchFamily="34" charset="0"/>
                <a:ea typeface="Cambria" panose="02040503050406030204" pitchFamily="34" charset="-122"/>
                <a:cs typeface="Cambria" panose="02040503050406030204" pitchFamily="34" charset="-120"/>
              </a:rPr>
              <a:t>1</a:t>
            </a:r>
            <a:endParaRPr lang="en-US" sz="2400" dirty="0"/>
          </a:p>
        </p:txBody>
      </p:sp>
      <p:sp>
        <p:nvSpPr>
          <p:cNvPr id="7" name="Text 5"/>
          <p:cNvSpPr/>
          <p:nvPr/>
        </p:nvSpPr>
        <p:spPr>
          <a:xfrm>
            <a:off x="685800" y="3063240"/>
            <a:ext cx="1777594" cy="548640"/>
          </a:xfrm>
          <a:prstGeom prst="rect">
            <a:avLst/>
          </a:prstGeom>
          <a:noFill/>
        </p:spPr>
        <p:txBody>
          <a:bodyPr wrap="square" lIns="0" tIns="0" rIns="0" bIns="0" rtlCol="0" anchor="ctr"/>
          <a:lstStyle/>
          <a:p>
            <a:pPr marL="0" indent="0">
              <a:lnSpc>
                <a:spcPct val="100000"/>
              </a:lnSpc>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Parser</a:t>
            </a:r>
            <a:endParaRPr lang="en-US" sz="1450" dirty="0"/>
          </a:p>
        </p:txBody>
      </p:sp>
      <p:sp>
        <p:nvSpPr>
          <p:cNvPr id="8" name="Text 6"/>
          <p:cNvSpPr/>
          <p:nvPr/>
        </p:nvSpPr>
        <p:spPr>
          <a:xfrm>
            <a:off x="685800" y="3657600"/>
            <a:ext cx="1777594" cy="1234440"/>
          </a:xfrm>
          <a:prstGeom prst="rect">
            <a:avLst/>
          </a:prstGeom>
          <a:noFill/>
        </p:spPr>
        <p:txBody>
          <a:bodyPr wrap="square" lIns="0" tIns="0" rIns="0" bIns="0" rtlCol="0" anchor="ctr"/>
          <a:lstStyle/>
          <a:p>
            <a:pPr marL="0" indent="0">
              <a:lnSpc>
                <a:spcPct val="112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SQL text is checked for syntax and turned into a parse tree.</a:t>
            </a:r>
            <a:endParaRPr lang="en-US" sz="1050" dirty="0"/>
          </a:p>
        </p:txBody>
      </p:sp>
      <p:sp>
        <p:nvSpPr>
          <p:cNvPr id="9" name="Text 7"/>
          <p:cNvSpPr/>
          <p:nvPr/>
        </p:nvSpPr>
        <p:spPr>
          <a:xfrm>
            <a:off x="2462886" y="3447288"/>
            <a:ext cx="475488" cy="512064"/>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0" name="Shape 8"/>
          <p:cNvSpPr/>
          <p:nvPr/>
        </p:nvSpPr>
        <p:spPr>
          <a:xfrm>
            <a:off x="2801722" y="2377440"/>
            <a:ext cx="2051914" cy="2651760"/>
          </a:xfrm>
          <a:prstGeom prst="roundRect">
            <a:avLst>
              <a:gd name="adj" fmla="val 4011"/>
            </a:avLst>
          </a:prstGeom>
          <a:solidFill>
            <a:srgbClr val="1E2761"/>
          </a:solidFill>
        </p:spPr>
      </p:sp>
      <p:sp>
        <p:nvSpPr>
          <p:cNvPr id="11" name="Text 9"/>
          <p:cNvSpPr/>
          <p:nvPr/>
        </p:nvSpPr>
        <p:spPr>
          <a:xfrm>
            <a:off x="2938882" y="2514600"/>
            <a:ext cx="1777594" cy="457200"/>
          </a:xfrm>
          <a:prstGeom prst="rect">
            <a:avLst/>
          </a:prstGeom>
          <a:noFill/>
        </p:spPr>
        <p:txBody>
          <a:bodyPr wrap="square" lIns="0" tIns="0" rIns="0" bIns="0" rtlCol="0" anchor="ctr"/>
          <a:lstStyle/>
          <a:p>
            <a:pPr marL="0" indent="0">
              <a:buNone/>
            </a:pPr>
            <a:r>
              <a:rPr lang="en-US" sz="2400" b="1" dirty="0">
                <a:solidFill>
                  <a:srgbClr val="CADCFC"/>
                </a:solidFill>
                <a:latin typeface="Cambria" panose="02040503050406030204" pitchFamily="34" charset="0"/>
                <a:ea typeface="Cambria" panose="02040503050406030204" pitchFamily="34" charset="-122"/>
                <a:cs typeface="Cambria" panose="02040503050406030204" pitchFamily="34" charset="-120"/>
              </a:rPr>
              <a:t>2</a:t>
            </a:r>
            <a:endParaRPr lang="en-US" sz="2400" dirty="0"/>
          </a:p>
        </p:txBody>
      </p:sp>
      <p:sp>
        <p:nvSpPr>
          <p:cNvPr id="12" name="Text 10"/>
          <p:cNvSpPr/>
          <p:nvPr/>
        </p:nvSpPr>
        <p:spPr>
          <a:xfrm>
            <a:off x="2938882" y="3063240"/>
            <a:ext cx="1777594" cy="548640"/>
          </a:xfrm>
          <a:prstGeom prst="rect">
            <a:avLst/>
          </a:prstGeom>
          <a:noFill/>
        </p:spPr>
        <p:txBody>
          <a:bodyPr wrap="square" lIns="0" tIns="0" rIns="0" bIns="0" rtlCol="0" anchor="ctr"/>
          <a:lstStyle/>
          <a:p>
            <a:pPr marL="0" indent="0">
              <a:lnSpc>
                <a:spcPct val="100000"/>
              </a:lnSpc>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Rewriter</a:t>
            </a:r>
            <a:endParaRPr lang="en-US" sz="1450" dirty="0"/>
          </a:p>
        </p:txBody>
      </p:sp>
      <p:sp>
        <p:nvSpPr>
          <p:cNvPr id="13" name="Text 11"/>
          <p:cNvSpPr/>
          <p:nvPr/>
        </p:nvSpPr>
        <p:spPr>
          <a:xfrm>
            <a:off x="2938882" y="3657600"/>
            <a:ext cx="1777594" cy="1234440"/>
          </a:xfrm>
          <a:prstGeom prst="rect">
            <a:avLst/>
          </a:prstGeom>
          <a:noFill/>
        </p:spPr>
        <p:txBody>
          <a:bodyPr wrap="square" lIns="0" tIns="0" rIns="0" bIns="0" rtlCol="0" anchor="ctr"/>
          <a:lstStyle/>
          <a:p>
            <a:pPr marL="0" indent="0">
              <a:lnSpc>
                <a:spcPct val="112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Expands views and applies rewrite rules (e.g., simplify predicates).</a:t>
            </a:r>
            <a:endParaRPr lang="en-US" sz="1050" dirty="0"/>
          </a:p>
        </p:txBody>
      </p:sp>
      <p:sp>
        <p:nvSpPr>
          <p:cNvPr id="14" name="Text 12"/>
          <p:cNvSpPr/>
          <p:nvPr/>
        </p:nvSpPr>
        <p:spPr>
          <a:xfrm>
            <a:off x="4715967" y="3447288"/>
            <a:ext cx="475488" cy="512064"/>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5" name="Shape 13"/>
          <p:cNvSpPr/>
          <p:nvPr/>
        </p:nvSpPr>
        <p:spPr>
          <a:xfrm>
            <a:off x="5054803" y="2377440"/>
            <a:ext cx="2051914" cy="2651760"/>
          </a:xfrm>
          <a:prstGeom prst="roundRect">
            <a:avLst>
              <a:gd name="adj" fmla="val 4011"/>
            </a:avLst>
          </a:prstGeom>
          <a:solidFill>
            <a:srgbClr val="1E2761"/>
          </a:solidFill>
        </p:spPr>
      </p:sp>
      <p:sp>
        <p:nvSpPr>
          <p:cNvPr id="16" name="Text 14"/>
          <p:cNvSpPr/>
          <p:nvPr/>
        </p:nvSpPr>
        <p:spPr>
          <a:xfrm>
            <a:off x="5191963" y="2514600"/>
            <a:ext cx="1777594" cy="457200"/>
          </a:xfrm>
          <a:prstGeom prst="rect">
            <a:avLst/>
          </a:prstGeom>
          <a:noFill/>
        </p:spPr>
        <p:txBody>
          <a:bodyPr wrap="square" lIns="0" tIns="0" rIns="0" bIns="0" rtlCol="0" anchor="ctr"/>
          <a:lstStyle/>
          <a:p>
            <a:pPr marL="0" indent="0">
              <a:buNone/>
            </a:pPr>
            <a:r>
              <a:rPr lang="en-US" sz="2400" b="1" dirty="0">
                <a:solidFill>
                  <a:srgbClr val="CADCFC"/>
                </a:solidFill>
                <a:latin typeface="Cambria" panose="02040503050406030204" pitchFamily="34" charset="0"/>
                <a:ea typeface="Cambria" panose="02040503050406030204" pitchFamily="34" charset="-122"/>
                <a:cs typeface="Cambria" panose="02040503050406030204" pitchFamily="34" charset="-120"/>
              </a:rPr>
              <a:t>3</a:t>
            </a:r>
            <a:endParaRPr lang="en-US" sz="2400" dirty="0"/>
          </a:p>
        </p:txBody>
      </p:sp>
      <p:sp>
        <p:nvSpPr>
          <p:cNvPr id="17" name="Text 15"/>
          <p:cNvSpPr/>
          <p:nvPr/>
        </p:nvSpPr>
        <p:spPr>
          <a:xfrm>
            <a:off x="5191963" y="3063240"/>
            <a:ext cx="1777594" cy="548640"/>
          </a:xfrm>
          <a:prstGeom prst="rect">
            <a:avLst/>
          </a:prstGeom>
          <a:noFill/>
        </p:spPr>
        <p:txBody>
          <a:bodyPr wrap="square" lIns="0" tIns="0" rIns="0" bIns="0" rtlCol="0" anchor="ctr"/>
          <a:lstStyle/>
          <a:p>
            <a:pPr marL="0" indent="0">
              <a:lnSpc>
                <a:spcPct val="100000"/>
              </a:lnSpc>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Optimizer</a:t>
            </a:r>
            <a:endParaRPr lang="en-US" sz="1450" dirty="0"/>
          </a:p>
        </p:txBody>
      </p:sp>
      <p:sp>
        <p:nvSpPr>
          <p:cNvPr id="18" name="Text 16"/>
          <p:cNvSpPr/>
          <p:nvPr/>
        </p:nvSpPr>
        <p:spPr>
          <a:xfrm>
            <a:off x="5191963" y="3657600"/>
            <a:ext cx="1777594" cy="1234440"/>
          </a:xfrm>
          <a:prstGeom prst="rect">
            <a:avLst/>
          </a:prstGeom>
          <a:noFill/>
        </p:spPr>
        <p:txBody>
          <a:bodyPr wrap="square" lIns="0" tIns="0" rIns="0" bIns="0" rtlCol="0" anchor="ctr"/>
          <a:lstStyle/>
          <a:p>
            <a:pPr marL="0" indent="0">
              <a:lnSpc>
                <a:spcPct val="112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Cost-based: chooses join order, join algorithm, and access path.</a:t>
            </a:r>
            <a:endParaRPr lang="en-US" sz="1050" dirty="0"/>
          </a:p>
        </p:txBody>
      </p:sp>
      <p:sp>
        <p:nvSpPr>
          <p:cNvPr id="19" name="Text 17"/>
          <p:cNvSpPr/>
          <p:nvPr/>
        </p:nvSpPr>
        <p:spPr>
          <a:xfrm>
            <a:off x="6969125" y="3447415"/>
            <a:ext cx="475615" cy="511810"/>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20" name="Shape 18"/>
          <p:cNvSpPr/>
          <p:nvPr/>
        </p:nvSpPr>
        <p:spPr>
          <a:xfrm>
            <a:off x="7307885" y="2377440"/>
            <a:ext cx="2051914" cy="2651760"/>
          </a:xfrm>
          <a:prstGeom prst="roundRect">
            <a:avLst>
              <a:gd name="adj" fmla="val 4011"/>
            </a:avLst>
          </a:prstGeom>
          <a:solidFill>
            <a:srgbClr val="1E2761"/>
          </a:solidFill>
        </p:spPr>
      </p:sp>
      <p:sp>
        <p:nvSpPr>
          <p:cNvPr id="21" name="Text 19"/>
          <p:cNvSpPr/>
          <p:nvPr/>
        </p:nvSpPr>
        <p:spPr>
          <a:xfrm>
            <a:off x="7445045" y="2514600"/>
            <a:ext cx="1777594" cy="457200"/>
          </a:xfrm>
          <a:prstGeom prst="rect">
            <a:avLst/>
          </a:prstGeom>
          <a:noFill/>
        </p:spPr>
        <p:txBody>
          <a:bodyPr wrap="square" lIns="0" tIns="0" rIns="0" bIns="0" rtlCol="0" anchor="ctr"/>
          <a:lstStyle/>
          <a:p>
            <a:pPr marL="0" indent="0">
              <a:buNone/>
            </a:pPr>
            <a:r>
              <a:rPr lang="en-US" sz="2400" b="1" dirty="0">
                <a:solidFill>
                  <a:srgbClr val="CADCFC"/>
                </a:solidFill>
                <a:latin typeface="Cambria" panose="02040503050406030204" pitchFamily="34" charset="0"/>
                <a:ea typeface="Cambria" panose="02040503050406030204" pitchFamily="34" charset="-122"/>
                <a:cs typeface="Cambria" panose="02040503050406030204" pitchFamily="34" charset="-120"/>
              </a:rPr>
              <a:t>4</a:t>
            </a:r>
            <a:endParaRPr lang="en-US" sz="2400" dirty="0"/>
          </a:p>
        </p:txBody>
      </p:sp>
      <p:sp>
        <p:nvSpPr>
          <p:cNvPr id="22" name="Text 20"/>
          <p:cNvSpPr/>
          <p:nvPr/>
        </p:nvSpPr>
        <p:spPr>
          <a:xfrm>
            <a:off x="7445045" y="3063240"/>
            <a:ext cx="1777594" cy="548640"/>
          </a:xfrm>
          <a:prstGeom prst="rect">
            <a:avLst/>
          </a:prstGeom>
          <a:noFill/>
        </p:spPr>
        <p:txBody>
          <a:bodyPr wrap="square" lIns="0" tIns="0" rIns="0" bIns="0" rtlCol="0" anchor="ctr"/>
          <a:lstStyle/>
          <a:p>
            <a:pPr marL="0" indent="0">
              <a:lnSpc>
                <a:spcPct val="100000"/>
              </a:lnSpc>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Executor</a:t>
            </a:r>
            <a:endParaRPr lang="en-US" sz="1450" dirty="0"/>
          </a:p>
        </p:txBody>
      </p:sp>
      <p:sp>
        <p:nvSpPr>
          <p:cNvPr id="23" name="Text 21"/>
          <p:cNvSpPr/>
          <p:nvPr/>
        </p:nvSpPr>
        <p:spPr>
          <a:xfrm>
            <a:off x="7445045" y="3657600"/>
            <a:ext cx="1777594" cy="1234440"/>
          </a:xfrm>
          <a:prstGeom prst="rect">
            <a:avLst/>
          </a:prstGeom>
          <a:noFill/>
        </p:spPr>
        <p:txBody>
          <a:bodyPr wrap="square" lIns="0" tIns="0" rIns="0" bIns="0" rtlCol="0" anchor="ctr"/>
          <a:lstStyle/>
          <a:p>
            <a:pPr marL="0" indent="0">
              <a:lnSpc>
                <a:spcPct val="112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Runs the chosen physical plan, operator by operator.</a:t>
            </a:r>
            <a:endParaRPr lang="en-US" sz="1050" dirty="0"/>
          </a:p>
        </p:txBody>
      </p:sp>
      <p:sp>
        <p:nvSpPr>
          <p:cNvPr id="24" name="Text 22"/>
          <p:cNvSpPr/>
          <p:nvPr/>
        </p:nvSpPr>
        <p:spPr>
          <a:xfrm>
            <a:off x="9222765" y="3447288"/>
            <a:ext cx="475488" cy="512064"/>
          </a:xfrm>
          <a:prstGeom prst="rect">
            <a:avLst/>
          </a:prstGeom>
          <a:noFill/>
        </p:spPr>
        <p:txBody>
          <a:bodyPr wrap="square" lIns="0" tIns="0" rIns="0" bIns="0" rtlCol="0" anchor="ctr"/>
          <a:lstStyle/>
          <a:p>
            <a:pPr marL="0" indent="0" algn="ctr">
              <a:buNone/>
            </a:pPr>
            <a:r>
              <a:rPr lang="en-US" sz="22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25" name="Shape 23"/>
          <p:cNvSpPr/>
          <p:nvPr/>
        </p:nvSpPr>
        <p:spPr>
          <a:xfrm>
            <a:off x="9560966" y="2377440"/>
            <a:ext cx="2051914" cy="2651760"/>
          </a:xfrm>
          <a:prstGeom prst="roundRect">
            <a:avLst>
              <a:gd name="adj" fmla="val 4011"/>
            </a:avLst>
          </a:prstGeom>
          <a:solidFill>
            <a:srgbClr val="E3A008"/>
          </a:solidFill>
        </p:spPr>
      </p:sp>
      <p:sp>
        <p:nvSpPr>
          <p:cNvPr id="26" name="Text 24"/>
          <p:cNvSpPr/>
          <p:nvPr/>
        </p:nvSpPr>
        <p:spPr>
          <a:xfrm>
            <a:off x="9698126" y="2514600"/>
            <a:ext cx="1777594" cy="457200"/>
          </a:xfrm>
          <a:prstGeom prst="rect">
            <a:avLst/>
          </a:prstGeom>
          <a:noFill/>
        </p:spPr>
        <p:txBody>
          <a:bodyPr wrap="square" lIns="0" tIns="0" rIns="0" bIns="0" rtlCol="0" anchor="ctr"/>
          <a:lstStyle/>
          <a:p>
            <a:pPr marL="0" indent="0">
              <a:buNone/>
            </a:pPr>
            <a:r>
              <a:rPr lang="en-US" sz="2400" b="1" dirty="0">
                <a:solidFill>
                  <a:srgbClr val="1E2761"/>
                </a:solidFill>
                <a:latin typeface="Cambria" panose="02040503050406030204" pitchFamily="34" charset="0"/>
                <a:ea typeface="Cambria" panose="02040503050406030204" pitchFamily="34" charset="-122"/>
                <a:cs typeface="Cambria" panose="02040503050406030204" pitchFamily="34" charset="-120"/>
              </a:rPr>
              <a:t>5</a:t>
            </a:r>
            <a:endParaRPr lang="en-US" sz="2400" dirty="0"/>
          </a:p>
        </p:txBody>
      </p:sp>
      <p:sp>
        <p:nvSpPr>
          <p:cNvPr id="27" name="Text 25"/>
          <p:cNvSpPr/>
          <p:nvPr/>
        </p:nvSpPr>
        <p:spPr>
          <a:xfrm>
            <a:off x="9698126" y="3063240"/>
            <a:ext cx="1777594" cy="548640"/>
          </a:xfrm>
          <a:prstGeom prst="rect">
            <a:avLst/>
          </a:prstGeom>
          <a:noFill/>
        </p:spPr>
        <p:txBody>
          <a:bodyPr wrap="square" lIns="0" tIns="0" rIns="0" bIns="0" rtlCol="0" anchor="ctr"/>
          <a:lstStyle/>
          <a:p>
            <a:pPr marL="0" indent="0">
              <a:lnSpc>
                <a:spcPct val="100000"/>
              </a:lnSpc>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Buffer Pool / Page Cache</a:t>
            </a:r>
            <a:endParaRPr lang="en-US" sz="1450" dirty="0"/>
          </a:p>
        </p:txBody>
      </p:sp>
      <p:sp>
        <p:nvSpPr>
          <p:cNvPr id="28" name="Text 26"/>
          <p:cNvSpPr/>
          <p:nvPr/>
        </p:nvSpPr>
        <p:spPr>
          <a:xfrm>
            <a:off x="9698126" y="3657600"/>
            <a:ext cx="1777594" cy="1234440"/>
          </a:xfrm>
          <a:prstGeom prst="rect">
            <a:avLst/>
          </a:prstGeom>
          <a:noFill/>
        </p:spPr>
        <p:txBody>
          <a:bodyPr wrap="square" lIns="0" tIns="0" rIns="0" bIns="0" rtlCol="0" anchor="ctr"/>
          <a:lstStyle/>
          <a:p>
            <a:pPr marL="0" indent="0">
              <a:lnSpc>
                <a:spcPct val="112000"/>
              </a:lnSpc>
              <a:buNone/>
            </a:pPr>
            <a:r>
              <a:rPr lang="en-US" sz="1050" dirty="0">
                <a:solidFill>
                  <a:srgbClr val="1E2761"/>
                </a:solidFill>
                <a:latin typeface="Calibri" panose="020F0502020204030204" pitchFamily="34" charset="0"/>
                <a:ea typeface="Calibri" panose="020F0502020204030204" pitchFamily="34" charset="-122"/>
                <a:cs typeface="Calibri" panose="020F0502020204030204" pitchFamily="34" charset="-120"/>
              </a:rPr>
              <a:t>In-memory cache mediates every disk read and write.</a:t>
            </a:r>
            <a:endParaRPr lang="en-US" sz="1050" dirty="0"/>
          </a:p>
        </p:txBody>
      </p:sp>
      <p:sp>
        <p:nvSpPr>
          <p:cNvPr id="29" name="Text 2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0 — Foundations of Data Systems Thinking</a:t>
            </a:r>
            <a:endParaRPr lang="en-US" sz="1000" dirty="0"/>
          </a:p>
        </p:txBody>
      </p:sp>
      <p:sp>
        <p:nvSpPr>
          <p:cNvPr id="30" name="Text 2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85800"/>
            <a:ext cx="73152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MODULE 0 DELIVERABLE</a:t>
            </a:r>
            <a:endParaRPr lang="en-US" sz="1400" dirty="0"/>
          </a:p>
        </p:txBody>
      </p:sp>
      <p:sp>
        <p:nvSpPr>
          <p:cNvPr id="3" name="Shape 1"/>
          <p:cNvSpPr/>
          <p:nvPr/>
        </p:nvSpPr>
        <p:spPr>
          <a:xfrm>
            <a:off x="640080" y="1371600"/>
            <a:ext cx="10881360" cy="4297680"/>
          </a:xfrm>
          <a:prstGeom prst="roundRect">
            <a:avLst>
              <a:gd name="adj" fmla="val 2553"/>
            </a:avLst>
          </a:prstGeom>
          <a:solidFill>
            <a:srgbClr val="2A3577"/>
          </a:solidFill>
        </p:spPr>
      </p:sp>
      <p:sp>
        <p:nvSpPr>
          <p:cNvPr id="4" name="Text 2"/>
          <p:cNvSpPr/>
          <p:nvPr/>
        </p:nvSpPr>
        <p:spPr>
          <a:xfrm>
            <a:off x="1005840" y="1783080"/>
            <a:ext cx="10058400" cy="64008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Storage Engine Decision Memo</a:t>
            </a:r>
            <a:endParaRPr lang="en-US" sz="2800" dirty="0"/>
          </a:p>
        </p:txBody>
      </p:sp>
      <p:sp>
        <p:nvSpPr>
          <p:cNvPr id="5" name="Text 3"/>
          <p:cNvSpPr/>
          <p:nvPr/>
        </p:nvSpPr>
        <p:spPr>
          <a:xfrm>
            <a:off x="1005840" y="2514600"/>
            <a:ext cx="9875520" cy="731520"/>
          </a:xfrm>
          <a:prstGeom prst="rect">
            <a:avLst/>
          </a:prstGeom>
          <a:noFill/>
        </p:spPr>
        <p:txBody>
          <a:bodyPr wrap="square" lIns="0" tIns="0" rIns="0" bIns="0" rtlCol="0" anchor="ctr"/>
          <a:lstStyle/>
          <a:p>
            <a:pPr marL="0" indent="0">
              <a:lnSpc>
                <a:spcPct val="120000"/>
              </a:lnSpc>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One page. Given a workload description, argue row- vs. columnar-storage and justify your choice with I/O cost reasoning — not intuition.</a:t>
            </a:r>
            <a:endParaRPr lang="en-US" sz="1500" dirty="0"/>
          </a:p>
        </p:txBody>
      </p:sp>
      <p:sp>
        <p:nvSpPr>
          <p:cNvPr id="6" name="Text 4"/>
          <p:cNvSpPr/>
          <p:nvPr/>
        </p:nvSpPr>
        <p:spPr>
          <a:xfrm>
            <a:off x="1005840" y="3429000"/>
            <a:ext cx="9601200" cy="1920240"/>
          </a:xfrm>
          <a:prstGeom prst="rect">
            <a:avLst/>
          </a:prstGeom>
          <a:noFill/>
        </p:spPr>
        <p:txBody>
          <a:bodyPr wrap="square" lIns="0" tIns="0" rIns="0" bIns="0" rtlCol="0" anchor="ctr"/>
          <a:lstStyle/>
          <a:p>
            <a:pPr marL="342900" indent="-342900">
              <a:lnSpc>
                <a:spcPct val="115000"/>
              </a:lnSpc>
              <a:spcAft>
                <a:spcPts val="12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State the workload's read/write ratio and typical query shape</a:t>
            </a:r>
            <a:endParaRPr lang="en-US" sz="1400" dirty="0"/>
          </a:p>
          <a:p>
            <a:pPr marL="342900" indent="-342900">
              <a:lnSpc>
                <a:spcPct val="115000"/>
              </a:lnSpc>
              <a:spcAft>
                <a:spcPts val="12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Name which columns/rows are touched per typical query</a:t>
            </a:r>
            <a:endParaRPr lang="en-US" sz="1400" dirty="0"/>
          </a:p>
          <a:p>
            <a:pPr marL="342900" indent="-342900">
              <a:lnSpc>
                <a:spcPct val="115000"/>
              </a:lnSpc>
              <a:spcAft>
                <a:spcPts val="12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Estimate relative I/O cost under each storage layout</a:t>
            </a:r>
            <a:endParaRPr lang="en-US" sz="1400" dirty="0"/>
          </a:p>
          <a:p>
            <a:pPr marL="342900" indent="-342900">
              <a:lnSpc>
                <a:spcPct val="115000"/>
              </a:lnSpc>
              <a:spcAft>
                <a:spcPts val="12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Conclude with a recommendation you could defend in a design review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40080"/>
            <a:ext cx="54864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MODULE 1</a:t>
            </a:r>
            <a:endParaRPr lang="en-US" sz="1400" dirty="0"/>
          </a:p>
        </p:txBody>
      </p:sp>
      <p:sp>
        <p:nvSpPr>
          <p:cNvPr id="3" name="Text 1"/>
          <p:cNvSpPr/>
          <p:nvPr/>
        </p:nvSpPr>
        <p:spPr>
          <a:xfrm>
            <a:off x="640080" y="1005840"/>
            <a:ext cx="10515600" cy="91440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Relational Foundations, DDL/DML</a:t>
            </a:r>
            <a:endParaRPr lang="en-US" sz="3400" dirty="0"/>
          </a:p>
        </p:txBody>
      </p:sp>
      <p:sp>
        <p:nvSpPr>
          <p:cNvPr id="4" name="Text 2"/>
          <p:cNvSpPr/>
          <p:nvPr/>
        </p:nvSpPr>
        <p:spPr>
          <a:xfrm>
            <a:off x="658368" y="1783080"/>
            <a:ext cx="10058400" cy="457200"/>
          </a:xfrm>
          <a:prstGeom prst="rect">
            <a:avLst/>
          </a:prstGeom>
          <a:noFill/>
        </p:spPr>
        <p:txBody>
          <a:bodyPr wrap="square" lIns="0" tIns="0" rIns="0" bIns="0" rtlCol="0" anchor="ctr"/>
          <a:lstStyle/>
          <a:p>
            <a:pPr marL="0" indent="0">
              <a:buNone/>
            </a:pPr>
            <a:r>
              <a:rPr lang="en-US" sz="1500" i="1" dirty="0">
                <a:solidFill>
                  <a:srgbClr val="CADCFC"/>
                </a:solidFill>
                <a:latin typeface="Calibri" panose="020F0502020204030204" pitchFamily="34" charset="0"/>
                <a:ea typeface="Calibri" panose="020F0502020204030204" pitchFamily="34" charset="-122"/>
                <a:cs typeface="Calibri" panose="020F0502020204030204" pitchFamily="34" charset="-120"/>
              </a:rPr>
              <a:t>Beginner module — from relational algebra to your first indexed, constrained, transactional schema.</a:t>
            </a:r>
            <a:endParaRPr lang="en-US" sz="1500" dirty="0"/>
          </a:p>
        </p:txBody>
      </p:sp>
      <p:sp>
        <p:nvSpPr>
          <p:cNvPr id="5" name="Shape 3"/>
          <p:cNvSpPr/>
          <p:nvPr/>
        </p:nvSpPr>
        <p:spPr>
          <a:xfrm>
            <a:off x="640080" y="2514600"/>
            <a:ext cx="5120640" cy="841248"/>
          </a:xfrm>
          <a:prstGeom prst="roundRect">
            <a:avLst>
              <a:gd name="adj" fmla="val 8696"/>
            </a:avLst>
          </a:prstGeom>
          <a:solidFill>
            <a:srgbClr val="2A3577"/>
          </a:solidFill>
        </p:spPr>
      </p:sp>
      <p:sp>
        <p:nvSpPr>
          <p:cNvPr id="6" name="Shape 4"/>
          <p:cNvSpPr/>
          <p:nvPr/>
        </p:nvSpPr>
        <p:spPr>
          <a:xfrm>
            <a:off x="822960" y="2660904"/>
            <a:ext cx="548640" cy="548640"/>
          </a:xfrm>
          <a:prstGeom prst="ellipse">
            <a:avLst/>
          </a:prstGeom>
          <a:solidFill>
            <a:srgbClr val="E3A008"/>
          </a:solidFill>
        </p:spPr>
      </p:sp>
      <p:sp>
        <p:nvSpPr>
          <p:cNvPr id="7" name="Text 5"/>
          <p:cNvSpPr/>
          <p:nvPr/>
        </p:nvSpPr>
        <p:spPr>
          <a:xfrm>
            <a:off x="822960" y="2660904"/>
            <a:ext cx="548640" cy="548640"/>
          </a:xfrm>
          <a:prstGeom prst="rect">
            <a:avLst/>
          </a:prstGeom>
          <a:noFill/>
        </p:spPr>
        <p:txBody>
          <a:bodyPr wrap="square" lIns="0" tIns="0" rIns="0" bIns="0" rtlCol="0" anchor="ctr"/>
          <a:lstStyle/>
          <a:p>
            <a:pPr marL="0" indent="0" algn="ctr">
              <a:buNone/>
            </a:pPr>
            <a:r>
              <a:rPr lang="en-US" sz="1600" b="1" dirty="0">
                <a:solidFill>
                  <a:srgbClr val="1E2761"/>
                </a:solidFill>
                <a:latin typeface="Cambria" panose="02040503050406030204" pitchFamily="34" charset="0"/>
                <a:ea typeface="Cambria" panose="02040503050406030204" pitchFamily="34" charset="-122"/>
                <a:cs typeface="Cambria" panose="02040503050406030204" pitchFamily="34" charset="-120"/>
              </a:rPr>
              <a:t>1.1</a:t>
            </a:r>
            <a:endParaRPr lang="en-US" sz="1600" dirty="0"/>
          </a:p>
        </p:txBody>
      </p:sp>
      <p:sp>
        <p:nvSpPr>
          <p:cNvPr id="8" name="Text 6"/>
          <p:cNvSpPr/>
          <p:nvPr/>
        </p:nvSpPr>
        <p:spPr>
          <a:xfrm>
            <a:off x="1508760" y="258775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Relational Algebra → SQL</a:t>
            </a:r>
            <a:endParaRPr lang="en-US" sz="1450" dirty="0"/>
          </a:p>
        </p:txBody>
      </p:sp>
      <p:sp>
        <p:nvSpPr>
          <p:cNvPr id="9" name="Text 7"/>
          <p:cNvSpPr/>
          <p:nvPr/>
        </p:nvSpPr>
        <p:spPr>
          <a:xfrm>
            <a:off x="1508760" y="293522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How σ, π, ⋈, ∪ map onto SELECT/WHERE/JOIN/UNION</a:t>
            </a:r>
            <a:endParaRPr lang="en-US" sz="1050" dirty="0"/>
          </a:p>
        </p:txBody>
      </p:sp>
      <p:sp>
        <p:nvSpPr>
          <p:cNvPr id="10" name="Shape 8"/>
          <p:cNvSpPr/>
          <p:nvPr/>
        </p:nvSpPr>
        <p:spPr>
          <a:xfrm>
            <a:off x="6080760" y="2514600"/>
            <a:ext cx="5120640" cy="841248"/>
          </a:xfrm>
          <a:prstGeom prst="roundRect">
            <a:avLst>
              <a:gd name="adj" fmla="val 8696"/>
            </a:avLst>
          </a:prstGeom>
          <a:solidFill>
            <a:srgbClr val="2A3577"/>
          </a:solidFill>
        </p:spPr>
      </p:sp>
      <p:sp>
        <p:nvSpPr>
          <p:cNvPr id="11" name="Shape 9"/>
          <p:cNvSpPr/>
          <p:nvPr/>
        </p:nvSpPr>
        <p:spPr>
          <a:xfrm>
            <a:off x="6263640" y="2660904"/>
            <a:ext cx="548640" cy="548640"/>
          </a:xfrm>
          <a:prstGeom prst="ellipse">
            <a:avLst/>
          </a:prstGeom>
          <a:solidFill>
            <a:srgbClr val="E3A008"/>
          </a:solidFill>
        </p:spPr>
      </p:sp>
      <p:sp>
        <p:nvSpPr>
          <p:cNvPr id="12" name="Text 10"/>
          <p:cNvSpPr/>
          <p:nvPr/>
        </p:nvSpPr>
        <p:spPr>
          <a:xfrm>
            <a:off x="6263640" y="2660904"/>
            <a:ext cx="548640" cy="548640"/>
          </a:xfrm>
          <a:prstGeom prst="rect">
            <a:avLst/>
          </a:prstGeom>
          <a:noFill/>
        </p:spPr>
        <p:txBody>
          <a:bodyPr wrap="square" lIns="0" tIns="0" rIns="0" bIns="0" rtlCol="0" anchor="ctr"/>
          <a:lstStyle/>
          <a:p>
            <a:pPr marL="0" indent="0" algn="ctr">
              <a:buNone/>
            </a:pPr>
            <a:r>
              <a:rPr lang="en-US" sz="1600" b="1" dirty="0">
                <a:solidFill>
                  <a:srgbClr val="1E2761"/>
                </a:solidFill>
                <a:latin typeface="Cambria" panose="02040503050406030204" pitchFamily="34" charset="0"/>
                <a:ea typeface="Cambria" panose="02040503050406030204" pitchFamily="34" charset="-122"/>
                <a:cs typeface="Cambria" panose="02040503050406030204" pitchFamily="34" charset="-120"/>
              </a:rPr>
              <a:t>1.2</a:t>
            </a:r>
            <a:endParaRPr lang="en-US" sz="1600" dirty="0"/>
          </a:p>
        </p:txBody>
      </p:sp>
      <p:sp>
        <p:nvSpPr>
          <p:cNvPr id="13" name="Text 11"/>
          <p:cNvSpPr/>
          <p:nvPr/>
        </p:nvSpPr>
        <p:spPr>
          <a:xfrm>
            <a:off x="6949440" y="258775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Schema Design &amp; Normalization</a:t>
            </a:r>
            <a:endParaRPr lang="en-US" sz="1450" dirty="0"/>
          </a:p>
        </p:txBody>
      </p:sp>
      <p:sp>
        <p:nvSpPr>
          <p:cNvPr id="14" name="Text 12"/>
          <p:cNvSpPr/>
          <p:nvPr/>
        </p:nvSpPr>
        <p:spPr>
          <a:xfrm>
            <a:off x="6949440" y="293522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1NF → 2NF → 3NF → BCNF; denormalization tradeoffs</a:t>
            </a:r>
            <a:endParaRPr lang="en-US" sz="1050" dirty="0"/>
          </a:p>
        </p:txBody>
      </p:sp>
      <p:sp>
        <p:nvSpPr>
          <p:cNvPr id="15" name="Shape 13"/>
          <p:cNvSpPr/>
          <p:nvPr/>
        </p:nvSpPr>
        <p:spPr>
          <a:xfrm>
            <a:off x="640080" y="3520440"/>
            <a:ext cx="5120640" cy="841248"/>
          </a:xfrm>
          <a:prstGeom prst="roundRect">
            <a:avLst>
              <a:gd name="adj" fmla="val 8696"/>
            </a:avLst>
          </a:prstGeom>
          <a:solidFill>
            <a:srgbClr val="2A3577"/>
          </a:solidFill>
        </p:spPr>
      </p:sp>
      <p:sp>
        <p:nvSpPr>
          <p:cNvPr id="16" name="Shape 14"/>
          <p:cNvSpPr/>
          <p:nvPr/>
        </p:nvSpPr>
        <p:spPr>
          <a:xfrm>
            <a:off x="822960" y="3666744"/>
            <a:ext cx="548640" cy="548640"/>
          </a:xfrm>
          <a:prstGeom prst="ellipse">
            <a:avLst/>
          </a:prstGeom>
          <a:solidFill>
            <a:srgbClr val="E3A008"/>
          </a:solidFill>
        </p:spPr>
      </p:sp>
      <p:sp>
        <p:nvSpPr>
          <p:cNvPr id="17" name="Text 15"/>
          <p:cNvSpPr/>
          <p:nvPr/>
        </p:nvSpPr>
        <p:spPr>
          <a:xfrm>
            <a:off x="822960" y="3666744"/>
            <a:ext cx="548640" cy="548640"/>
          </a:xfrm>
          <a:prstGeom prst="rect">
            <a:avLst/>
          </a:prstGeom>
          <a:noFill/>
        </p:spPr>
        <p:txBody>
          <a:bodyPr wrap="square" lIns="0" tIns="0" rIns="0" bIns="0" rtlCol="0" anchor="ctr"/>
          <a:lstStyle/>
          <a:p>
            <a:pPr marL="0" indent="0" algn="ctr">
              <a:buNone/>
            </a:pPr>
            <a:r>
              <a:rPr lang="en-US" sz="1600" b="1" dirty="0">
                <a:solidFill>
                  <a:srgbClr val="1E2761"/>
                </a:solidFill>
                <a:latin typeface="Cambria" panose="02040503050406030204" pitchFamily="34" charset="0"/>
                <a:ea typeface="Cambria" panose="02040503050406030204" pitchFamily="34" charset="-122"/>
                <a:cs typeface="Cambria" panose="02040503050406030204" pitchFamily="34" charset="-120"/>
              </a:rPr>
              <a:t>1.3</a:t>
            </a:r>
            <a:endParaRPr lang="en-US" sz="1600" dirty="0"/>
          </a:p>
        </p:txBody>
      </p:sp>
      <p:sp>
        <p:nvSpPr>
          <p:cNvPr id="18" name="Text 16"/>
          <p:cNvSpPr/>
          <p:nvPr/>
        </p:nvSpPr>
        <p:spPr>
          <a:xfrm>
            <a:off x="1508760" y="359359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DDL Deep Dive</a:t>
            </a:r>
            <a:endParaRPr lang="en-US" sz="1450" dirty="0"/>
          </a:p>
        </p:txBody>
      </p:sp>
      <p:sp>
        <p:nvSpPr>
          <p:cNvPr id="19" name="Text 17"/>
          <p:cNvSpPr/>
          <p:nvPr/>
        </p:nvSpPr>
        <p:spPr>
          <a:xfrm>
            <a:off x="1508760" y="394106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Data types &amp; storage cost; constraints as optimizer hints</a:t>
            </a:r>
            <a:endParaRPr lang="en-US" sz="1050" dirty="0"/>
          </a:p>
        </p:txBody>
      </p:sp>
      <p:sp>
        <p:nvSpPr>
          <p:cNvPr id="20" name="Shape 18"/>
          <p:cNvSpPr/>
          <p:nvPr/>
        </p:nvSpPr>
        <p:spPr>
          <a:xfrm>
            <a:off x="6080760" y="3520440"/>
            <a:ext cx="5120640" cy="841248"/>
          </a:xfrm>
          <a:prstGeom prst="roundRect">
            <a:avLst>
              <a:gd name="adj" fmla="val 8696"/>
            </a:avLst>
          </a:prstGeom>
          <a:solidFill>
            <a:srgbClr val="2A3577"/>
          </a:solidFill>
        </p:spPr>
      </p:sp>
      <p:sp>
        <p:nvSpPr>
          <p:cNvPr id="21" name="Shape 19"/>
          <p:cNvSpPr/>
          <p:nvPr/>
        </p:nvSpPr>
        <p:spPr>
          <a:xfrm>
            <a:off x="6263640" y="3666744"/>
            <a:ext cx="548640" cy="548640"/>
          </a:xfrm>
          <a:prstGeom prst="ellipse">
            <a:avLst/>
          </a:prstGeom>
          <a:solidFill>
            <a:srgbClr val="E3A008"/>
          </a:solidFill>
        </p:spPr>
      </p:sp>
      <p:sp>
        <p:nvSpPr>
          <p:cNvPr id="22" name="Text 20"/>
          <p:cNvSpPr/>
          <p:nvPr/>
        </p:nvSpPr>
        <p:spPr>
          <a:xfrm>
            <a:off x="6263640" y="3666744"/>
            <a:ext cx="548640" cy="548640"/>
          </a:xfrm>
          <a:prstGeom prst="rect">
            <a:avLst/>
          </a:prstGeom>
          <a:noFill/>
        </p:spPr>
        <p:txBody>
          <a:bodyPr wrap="square" lIns="0" tIns="0" rIns="0" bIns="0" rtlCol="0" anchor="ctr"/>
          <a:lstStyle/>
          <a:p>
            <a:pPr marL="0" indent="0" algn="ctr">
              <a:buNone/>
            </a:pPr>
            <a:r>
              <a:rPr lang="en-US" sz="1600" b="1" dirty="0">
                <a:solidFill>
                  <a:srgbClr val="1E2761"/>
                </a:solidFill>
                <a:latin typeface="Cambria" panose="02040503050406030204" pitchFamily="34" charset="0"/>
                <a:ea typeface="Cambria" panose="02040503050406030204" pitchFamily="34" charset="-122"/>
                <a:cs typeface="Cambria" panose="02040503050406030204" pitchFamily="34" charset="-120"/>
              </a:rPr>
              <a:t>1.4</a:t>
            </a:r>
            <a:endParaRPr lang="en-US" sz="1600" dirty="0"/>
          </a:p>
        </p:txBody>
      </p:sp>
      <p:sp>
        <p:nvSpPr>
          <p:cNvPr id="23" name="Text 21"/>
          <p:cNvSpPr/>
          <p:nvPr/>
        </p:nvSpPr>
        <p:spPr>
          <a:xfrm>
            <a:off x="6949440" y="359359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DML &amp; Transaction Basics</a:t>
            </a:r>
            <a:endParaRPr lang="en-US" sz="1450" dirty="0"/>
          </a:p>
        </p:txBody>
      </p:sp>
      <p:sp>
        <p:nvSpPr>
          <p:cNvPr id="24" name="Text 22"/>
          <p:cNvSpPr/>
          <p:nvPr/>
        </p:nvSpPr>
        <p:spPr>
          <a:xfrm>
            <a:off x="6949440" y="394106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INSERT/UPDATE/DELETE; intro to ACID</a:t>
            </a:r>
            <a:endParaRPr lang="en-US" sz="1050" dirty="0"/>
          </a:p>
        </p:txBody>
      </p:sp>
      <p:sp>
        <p:nvSpPr>
          <p:cNvPr id="25" name="Shape 23"/>
          <p:cNvSpPr/>
          <p:nvPr/>
        </p:nvSpPr>
        <p:spPr>
          <a:xfrm>
            <a:off x="640080" y="4526280"/>
            <a:ext cx="5120640" cy="841248"/>
          </a:xfrm>
          <a:prstGeom prst="roundRect">
            <a:avLst>
              <a:gd name="adj" fmla="val 8696"/>
            </a:avLst>
          </a:prstGeom>
          <a:solidFill>
            <a:srgbClr val="2A3577"/>
          </a:solidFill>
        </p:spPr>
      </p:sp>
      <p:sp>
        <p:nvSpPr>
          <p:cNvPr id="26" name="Shape 24"/>
          <p:cNvSpPr/>
          <p:nvPr/>
        </p:nvSpPr>
        <p:spPr>
          <a:xfrm>
            <a:off x="822960" y="4672584"/>
            <a:ext cx="548640" cy="548640"/>
          </a:xfrm>
          <a:prstGeom prst="ellipse">
            <a:avLst/>
          </a:prstGeom>
          <a:solidFill>
            <a:srgbClr val="E3A008"/>
          </a:solidFill>
        </p:spPr>
      </p:sp>
      <p:sp>
        <p:nvSpPr>
          <p:cNvPr id="27" name="Text 25"/>
          <p:cNvSpPr/>
          <p:nvPr/>
        </p:nvSpPr>
        <p:spPr>
          <a:xfrm>
            <a:off x="822960" y="4672584"/>
            <a:ext cx="548640" cy="548640"/>
          </a:xfrm>
          <a:prstGeom prst="rect">
            <a:avLst/>
          </a:prstGeom>
          <a:noFill/>
        </p:spPr>
        <p:txBody>
          <a:bodyPr wrap="square" lIns="0" tIns="0" rIns="0" bIns="0" rtlCol="0" anchor="ctr"/>
          <a:lstStyle/>
          <a:p>
            <a:pPr marL="0" indent="0" algn="ctr">
              <a:buNone/>
            </a:pPr>
            <a:r>
              <a:rPr lang="en-US" sz="1600" b="1" dirty="0">
                <a:solidFill>
                  <a:srgbClr val="1E2761"/>
                </a:solidFill>
                <a:latin typeface="Cambria" panose="02040503050406030204" pitchFamily="34" charset="0"/>
                <a:ea typeface="Cambria" panose="02040503050406030204" pitchFamily="34" charset="-122"/>
                <a:cs typeface="Cambria" panose="02040503050406030204" pitchFamily="34" charset="-120"/>
              </a:rPr>
              <a:t>1.5</a:t>
            </a:r>
            <a:endParaRPr lang="en-US" sz="1600" dirty="0"/>
          </a:p>
        </p:txBody>
      </p:sp>
      <p:sp>
        <p:nvSpPr>
          <p:cNvPr id="28" name="Text 26"/>
          <p:cNvSpPr/>
          <p:nvPr/>
        </p:nvSpPr>
        <p:spPr>
          <a:xfrm>
            <a:off x="1508760" y="459943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Filtering &amp; Aggregation</a:t>
            </a:r>
            <a:endParaRPr lang="en-US" sz="1450" dirty="0"/>
          </a:p>
        </p:txBody>
      </p:sp>
      <p:sp>
        <p:nvSpPr>
          <p:cNvPr id="29" name="Text 27"/>
          <p:cNvSpPr/>
          <p:nvPr/>
        </p:nvSpPr>
        <p:spPr>
          <a:xfrm>
            <a:off x="1508760" y="494690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WHERE vs. HAVING order; hash vs. stream aggregation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1.1</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Relational Algebra → SQL</a:t>
            </a:r>
            <a:endParaRPr lang="en-US" sz="3000" dirty="0"/>
          </a:p>
        </p:txBody>
      </p:sp>
      <p:sp>
        <p:nvSpPr>
          <p:cNvPr id="4" name="Text 2"/>
          <p:cNvSpPr/>
          <p:nvPr/>
        </p:nvSpPr>
        <p:spPr>
          <a:xfrm>
            <a:off x="548640" y="1508760"/>
            <a:ext cx="10789920" cy="502920"/>
          </a:xfrm>
          <a:prstGeom prst="rect">
            <a:avLst/>
          </a:prstGeom>
          <a:noFill/>
        </p:spPr>
        <p:txBody>
          <a:bodyPr wrap="square" lIns="0" tIns="0" rIns="0" bIns="0" rtlCol="0" anchor="ctr"/>
          <a:lstStyle/>
          <a:p>
            <a:pPr marL="0" indent="0">
              <a:buNone/>
            </a:pPr>
            <a:r>
              <a:rPr lang="en-US" sz="1350" i="1" dirty="0">
                <a:solidFill>
                  <a:srgbClr val="6B7280"/>
                </a:solidFill>
                <a:latin typeface="Calibri" panose="020F0502020204030204" pitchFamily="34" charset="0"/>
                <a:ea typeface="Calibri" panose="020F0502020204030204" pitchFamily="34" charset="-122"/>
                <a:cs typeface="Calibri" panose="020F0502020204030204" pitchFamily="34" charset="-120"/>
              </a:rPr>
              <a:t>Every SQL clause you write is executing a relational-algebra operator underneath — knowing which one clarifies what the engine is actually doing.</a:t>
            </a:r>
            <a:endParaRPr lang="en-US" sz="1350" dirty="0"/>
          </a:p>
        </p:txBody>
      </p:sp>
      <p:graphicFrame>
        <p:nvGraphicFramePr>
          <p:cNvPr id="10" name="Table 0"/>
          <p:cNvGraphicFramePr>
            <a:graphicFrameLocks noGrp="1"/>
          </p:cNvGraphicFramePr>
          <p:nvPr/>
        </p:nvGraphicFramePr>
        <p:xfrm>
          <a:off x="548640" y="2194560"/>
          <a:ext cx="11064240" cy="3950208"/>
        </p:xfrm>
        <a:graphic>
          <a:graphicData uri="http://schemas.openxmlformats.org/drawingml/2006/table">
            <a:tbl>
              <a:tblPr/>
              <a:tblGrid>
                <a:gridCol w="2377440"/>
                <a:gridCol w="2194560"/>
                <a:gridCol w="3291840"/>
                <a:gridCol w="3200400"/>
              </a:tblGrid>
              <a:tr h="658368">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Name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SQL Clause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It Does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r>
              <a:tr h="65836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σ (sigma)</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Selection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WHERE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Filters rows by a predicate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65836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π (pi)</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Projection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SELECT column_list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Picks which columns survive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r h="65836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(join)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Join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JOIN ... 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Combines rows across relations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65836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(union)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Union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UNION [ALL]</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Combines row sets from two queries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r h="65836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 (minus)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Difference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EXCEPT / NOT IN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Rows present in A but not in B</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623560"/>
            <a:ext cx="11064240" cy="914400"/>
          </a:xfrm>
          <a:prstGeom prst="roundRect">
            <a:avLst>
              <a:gd name="adj" fmla="val 8000"/>
            </a:avLst>
          </a:prstGeom>
          <a:solidFill>
            <a:srgbClr val="F0F3FA"/>
          </a:solidFill>
        </p:spPr>
      </p:sp>
      <p:sp>
        <p:nvSpPr>
          <p:cNvPr id="7" name="Text 4"/>
          <p:cNvSpPr/>
          <p:nvPr/>
        </p:nvSpPr>
        <p:spPr>
          <a:xfrm>
            <a:off x="777240" y="57607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5"/>
          <p:cNvSpPr/>
          <p:nvPr/>
        </p:nvSpPr>
        <p:spPr>
          <a:xfrm>
            <a:off x="777240" y="6080760"/>
            <a:ext cx="10607040" cy="32004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Relational algebra composes bottom-up (σ and π applied to a base relation). SQL's textual order (SELECT ... FROM ... WHERE) is a readability convention, not the execution order — see 1.1b.</a:t>
            </a:r>
            <a:endParaRPr lang="en-US" sz="1300" dirty="0"/>
          </a:p>
        </p:txBody>
      </p:sp>
      <p:sp>
        <p:nvSpPr>
          <p:cNvPr id="9" name="Text 6"/>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5" name="Text 7"/>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1.1</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Worked Example — Selection &amp; Projection</a:t>
            </a:r>
            <a:endParaRPr lang="en-US" sz="3000" dirty="0"/>
          </a:p>
        </p:txBody>
      </p:sp>
      <p:sp>
        <p:nvSpPr>
          <p:cNvPr id="4" name="Shape 2"/>
          <p:cNvSpPr/>
          <p:nvPr/>
        </p:nvSpPr>
        <p:spPr>
          <a:xfrm>
            <a:off x="548640" y="1691640"/>
            <a:ext cx="6492240" cy="2331720"/>
          </a:xfrm>
          <a:prstGeom prst="roundRect">
            <a:avLst>
              <a:gd name="adj" fmla="val 3137"/>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874520"/>
            <a:ext cx="6035040" cy="196596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Selection (σ) + Projection (π):</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"active pro users in Kenya"</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u.user_id, email, signup_date   -- π pick columns</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FROM users AS u</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WHERE u.plan_type = 'pro'              -- σ filter rows</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AND country = 'Kenya'</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AND is_active = 1;</a:t>
            </a:r>
            <a:endPar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endParaRPr>
          </a:p>
          <a:p>
            <a:pPr marL="0" indent="0" algn="l">
              <a:lnSpc>
                <a:spcPct val="115000"/>
              </a:lnSpc>
              <a:buNone/>
            </a:pPr>
            <a:endParaRPr lang="en-US" sz="1300" dirty="0"/>
          </a:p>
        </p:txBody>
      </p:sp>
      <p:sp>
        <p:nvSpPr>
          <p:cNvPr id="6" name="Text 4"/>
          <p:cNvSpPr/>
          <p:nvPr/>
        </p:nvSpPr>
        <p:spPr>
          <a:xfrm>
            <a:off x="7269480" y="1691640"/>
            <a:ext cx="4389120" cy="320040"/>
          </a:xfrm>
          <a:prstGeom prst="rect">
            <a:avLst/>
          </a:prstGeom>
          <a:noFill/>
        </p:spPr>
        <p:txBody>
          <a:bodyPr wrap="square" lIns="0" tIns="0" rIns="0" bIns="0" rtlCol="0" anchor="ctr"/>
          <a:lstStyle/>
          <a:p>
            <a:pPr marL="0" indent="0">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Logical execution order</a:t>
            </a:r>
            <a:endParaRPr lang="en-US" sz="1500" dirty="0"/>
          </a:p>
        </p:txBody>
      </p:sp>
      <p:sp>
        <p:nvSpPr>
          <p:cNvPr id="7" name="Shape 5"/>
          <p:cNvSpPr/>
          <p:nvPr/>
        </p:nvSpPr>
        <p:spPr>
          <a:xfrm>
            <a:off x="7269480" y="2103120"/>
            <a:ext cx="4389120" cy="502920"/>
          </a:xfrm>
          <a:prstGeom prst="roundRect">
            <a:avLst>
              <a:gd name="adj" fmla="val 10909"/>
            </a:avLst>
          </a:prstGeom>
          <a:solidFill>
            <a:srgbClr val="F0F3FA"/>
          </a:solidFill>
        </p:spPr>
      </p:sp>
      <p:sp>
        <p:nvSpPr>
          <p:cNvPr id="8" name="Text 6"/>
          <p:cNvSpPr/>
          <p:nvPr/>
        </p:nvSpPr>
        <p:spPr>
          <a:xfrm>
            <a:off x="7452360" y="2157984"/>
            <a:ext cx="4023360" cy="384048"/>
          </a:xfrm>
          <a:prstGeom prst="rect">
            <a:avLst/>
          </a:prstGeom>
          <a:noFill/>
        </p:spPr>
        <p:txBody>
          <a:bodyPr wrap="square" lIns="0" tIns="0" rIns="0" bIns="0" rtlCol="0" anchor="ctr"/>
          <a:lstStyle/>
          <a:p>
            <a:pPr marL="0" indent="0">
              <a:buNone/>
            </a:pPr>
            <a:r>
              <a:rPr lang="en-US" sz="1350" b="1" dirty="0">
                <a:solidFill>
                  <a:srgbClr val="222222"/>
                </a:solidFill>
                <a:latin typeface="Calibri" panose="020F0502020204030204" pitchFamily="34" charset="0"/>
                <a:ea typeface="Calibri" panose="020F0502020204030204" pitchFamily="34" charset="-122"/>
                <a:cs typeface="Calibri" panose="020F0502020204030204" pitchFamily="34" charset="-120"/>
              </a:rPr>
              <a:t>1.  FROM -- go to the table</a:t>
            </a:r>
            <a:endParaRPr lang="en-US" sz="1350" dirty="0"/>
          </a:p>
        </p:txBody>
      </p:sp>
      <p:sp>
        <p:nvSpPr>
          <p:cNvPr id="9" name="Shape 7"/>
          <p:cNvSpPr/>
          <p:nvPr/>
        </p:nvSpPr>
        <p:spPr>
          <a:xfrm>
            <a:off x="7269480" y="2670048"/>
            <a:ext cx="4389120" cy="502920"/>
          </a:xfrm>
          <a:prstGeom prst="roundRect">
            <a:avLst>
              <a:gd name="adj" fmla="val 10909"/>
            </a:avLst>
          </a:prstGeom>
          <a:solidFill>
            <a:srgbClr val="E3A008"/>
          </a:solidFill>
        </p:spPr>
      </p:sp>
      <p:sp>
        <p:nvSpPr>
          <p:cNvPr id="10" name="Text 8"/>
          <p:cNvSpPr/>
          <p:nvPr/>
        </p:nvSpPr>
        <p:spPr>
          <a:xfrm>
            <a:off x="7452360" y="2724912"/>
            <a:ext cx="4023360" cy="384048"/>
          </a:xfrm>
          <a:prstGeom prst="rect">
            <a:avLst/>
          </a:prstGeom>
          <a:noFill/>
        </p:spPr>
        <p:txBody>
          <a:bodyPr wrap="square" lIns="0" tIns="0" rIns="0" bIns="0"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2.  WHERE  -- conditions set (pro, kenya, 1)</a:t>
            </a:r>
            <a:endParaRPr lang="en-US" sz="1350" dirty="0"/>
          </a:p>
        </p:txBody>
      </p:sp>
      <p:sp>
        <p:nvSpPr>
          <p:cNvPr id="11" name="Shape 9"/>
          <p:cNvSpPr/>
          <p:nvPr/>
        </p:nvSpPr>
        <p:spPr>
          <a:xfrm>
            <a:off x="7269480" y="3236976"/>
            <a:ext cx="4389120" cy="502920"/>
          </a:xfrm>
          <a:prstGeom prst="roundRect">
            <a:avLst>
              <a:gd name="adj" fmla="val 10909"/>
            </a:avLst>
          </a:prstGeom>
          <a:solidFill>
            <a:srgbClr val="F0F3FA"/>
          </a:solidFill>
        </p:spPr>
      </p:sp>
      <p:sp>
        <p:nvSpPr>
          <p:cNvPr id="12" name="Text 10"/>
          <p:cNvSpPr/>
          <p:nvPr/>
        </p:nvSpPr>
        <p:spPr>
          <a:xfrm>
            <a:off x="7452360" y="3291840"/>
            <a:ext cx="4023360" cy="384048"/>
          </a:xfrm>
          <a:prstGeom prst="rect">
            <a:avLst/>
          </a:prstGeom>
          <a:noFill/>
        </p:spPr>
        <p:txBody>
          <a:bodyPr wrap="square" lIns="0" tIns="0" rIns="0" bIns="0" rtlCol="0" anchor="ctr"/>
          <a:lstStyle/>
          <a:p>
            <a:pPr marL="0" indent="0">
              <a:buNone/>
            </a:pPr>
            <a:r>
              <a:rPr lang="en-US" sz="1350" b="1" dirty="0">
                <a:solidFill>
                  <a:srgbClr val="222222"/>
                </a:solidFill>
                <a:latin typeface="Calibri" panose="020F0502020204030204" pitchFamily="34" charset="0"/>
                <a:ea typeface="Calibri" panose="020F0502020204030204" pitchFamily="34" charset="-122"/>
                <a:cs typeface="Calibri" panose="020F0502020204030204" pitchFamily="34" charset="-120"/>
              </a:rPr>
              <a:t>3.  GROUP BY</a:t>
            </a:r>
            <a:endParaRPr lang="en-US" sz="1350" dirty="0"/>
          </a:p>
        </p:txBody>
      </p:sp>
      <p:sp>
        <p:nvSpPr>
          <p:cNvPr id="13" name="Shape 11"/>
          <p:cNvSpPr/>
          <p:nvPr/>
        </p:nvSpPr>
        <p:spPr>
          <a:xfrm>
            <a:off x="7269480" y="3803904"/>
            <a:ext cx="4389120" cy="502920"/>
          </a:xfrm>
          <a:prstGeom prst="roundRect">
            <a:avLst>
              <a:gd name="adj" fmla="val 10909"/>
            </a:avLst>
          </a:prstGeom>
          <a:solidFill>
            <a:srgbClr val="F0F3FA"/>
          </a:solidFill>
        </p:spPr>
      </p:sp>
      <p:sp>
        <p:nvSpPr>
          <p:cNvPr id="14" name="Text 12"/>
          <p:cNvSpPr/>
          <p:nvPr/>
        </p:nvSpPr>
        <p:spPr>
          <a:xfrm>
            <a:off x="7452360" y="3858768"/>
            <a:ext cx="4023360" cy="384048"/>
          </a:xfrm>
          <a:prstGeom prst="rect">
            <a:avLst/>
          </a:prstGeom>
          <a:noFill/>
        </p:spPr>
        <p:txBody>
          <a:bodyPr wrap="square" lIns="0" tIns="0" rIns="0" bIns="0" rtlCol="0" anchor="ctr"/>
          <a:lstStyle/>
          <a:p>
            <a:pPr marL="0" indent="0">
              <a:buNone/>
            </a:pPr>
            <a:r>
              <a:rPr lang="en-US" sz="1350" b="1" dirty="0">
                <a:solidFill>
                  <a:srgbClr val="222222"/>
                </a:solidFill>
                <a:latin typeface="Calibri" panose="020F0502020204030204" pitchFamily="34" charset="0"/>
                <a:ea typeface="Calibri" panose="020F0502020204030204" pitchFamily="34" charset="-122"/>
                <a:cs typeface="Calibri" panose="020F0502020204030204" pitchFamily="34" charset="-120"/>
              </a:rPr>
              <a:t>4.  HAVING</a:t>
            </a:r>
            <a:endParaRPr lang="en-US" sz="1350" dirty="0"/>
          </a:p>
        </p:txBody>
      </p:sp>
      <p:sp>
        <p:nvSpPr>
          <p:cNvPr id="15" name="Shape 13"/>
          <p:cNvSpPr/>
          <p:nvPr/>
        </p:nvSpPr>
        <p:spPr>
          <a:xfrm>
            <a:off x="7269480" y="4370832"/>
            <a:ext cx="4389120" cy="502920"/>
          </a:xfrm>
          <a:prstGeom prst="roundRect">
            <a:avLst>
              <a:gd name="adj" fmla="val 10909"/>
            </a:avLst>
          </a:prstGeom>
          <a:solidFill>
            <a:srgbClr val="E3A008"/>
          </a:solidFill>
        </p:spPr>
      </p:sp>
      <p:sp>
        <p:nvSpPr>
          <p:cNvPr id="16" name="Text 14"/>
          <p:cNvSpPr/>
          <p:nvPr/>
        </p:nvSpPr>
        <p:spPr>
          <a:xfrm>
            <a:off x="7452360" y="4425696"/>
            <a:ext cx="4023360" cy="384048"/>
          </a:xfrm>
          <a:prstGeom prst="rect">
            <a:avLst/>
          </a:prstGeom>
          <a:noFill/>
        </p:spPr>
        <p:txBody>
          <a:bodyPr wrap="square" lIns="0" tIns="0" rIns="0" bIns="0"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5.  SELECT</a:t>
            </a:r>
            <a:endParaRPr lang="en-US" sz="1350" dirty="0"/>
          </a:p>
        </p:txBody>
      </p:sp>
      <p:sp>
        <p:nvSpPr>
          <p:cNvPr id="17" name="Shape 15"/>
          <p:cNvSpPr/>
          <p:nvPr/>
        </p:nvSpPr>
        <p:spPr>
          <a:xfrm>
            <a:off x="7269480" y="4937760"/>
            <a:ext cx="4389120" cy="502920"/>
          </a:xfrm>
          <a:prstGeom prst="roundRect">
            <a:avLst>
              <a:gd name="adj" fmla="val 10909"/>
            </a:avLst>
          </a:prstGeom>
          <a:solidFill>
            <a:srgbClr val="F0F3FA"/>
          </a:solidFill>
        </p:spPr>
        <p:txBody>
          <a:bodyPr/>
          <a:p>
            <a:endParaRPr lang="en-US"/>
          </a:p>
        </p:txBody>
      </p:sp>
      <p:sp>
        <p:nvSpPr>
          <p:cNvPr id="18" name="Text 16"/>
          <p:cNvSpPr/>
          <p:nvPr/>
        </p:nvSpPr>
        <p:spPr>
          <a:xfrm>
            <a:off x="7452360" y="4992624"/>
            <a:ext cx="4023360" cy="384048"/>
          </a:xfrm>
          <a:prstGeom prst="rect">
            <a:avLst/>
          </a:prstGeom>
          <a:noFill/>
        </p:spPr>
        <p:txBody>
          <a:bodyPr wrap="square" lIns="0" tIns="0" rIns="0" bIns="0" rtlCol="0" anchor="ctr"/>
          <a:lstStyle/>
          <a:p>
            <a:pPr marL="0" indent="0">
              <a:buNone/>
            </a:pPr>
            <a:r>
              <a:rPr lang="en-US" sz="1350" b="1" dirty="0">
                <a:solidFill>
                  <a:srgbClr val="222222"/>
                </a:solidFill>
                <a:latin typeface="Calibri" panose="020F0502020204030204" pitchFamily="34" charset="0"/>
                <a:ea typeface="Calibri" panose="020F0502020204030204" pitchFamily="34" charset="-122"/>
                <a:cs typeface="Calibri" panose="020F0502020204030204" pitchFamily="34" charset="-120"/>
              </a:rPr>
              <a:t>6.  ORDER BY -- age, name DESC --one column</a:t>
            </a:r>
            <a:endParaRPr lang="en-US" sz="1350" dirty="0"/>
          </a:p>
        </p:txBody>
      </p:sp>
      <p:sp>
        <p:nvSpPr>
          <p:cNvPr id="19" name="Shape 17"/>
          <p:cNvSpPr/>
          <p:nvPr/>
        </p:nvSpPr>
        <p:spPr>
          <a:xfrm>
            <a:off x="548640" y="4251960"/>
            <a:ext cx="6480810" cy="2194560"/>
          </a:xfrm>
          <a:prstGeom prst="roundRect">
            <a:avLst>
              <a:gd name="adj" fmla="val 3333"/>
            </a:avLst>
          </a:prstGeom>
          <a:solidFill>
            <a:srgbClr val="F0F3FA"/>
          </a:solidFill>
        </p:spPr>
      </p:sp>
      <p:sp>
        <p:nvSpPr>
          <p:cNvPr id="20" name="Text 18"/>
          <p:cNvSpPr/>
          <p:nvPr/>
        </p:nvSpPr>
        <p:spPr>
          <a:xfrm>
            <a:off x="777240" y="43891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21" name="Text 19"/>
          <p:cNvSpPr/>
          <p:nvPr/>
        </p:nvSpPr>
        <p:spPr>
          <a:xfrm>
            <a:off x="777240" y="4709160"/>
            <a:ext cx="5856605" cy="160020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The optimizer never executes clauses in the order you typed them. Logical order is FROM → WHERE → GROUP BY → HAVING → SELECT → ORDER BY. This is exactly why you cannot reference a SELECT-aliased column inside WHERE — the alias doesn't exist yet when WHERE is evaluated — and why HAVING (evaluated after aggregation) can filter on an aggregate like SUM(...) while WHERE cannot.</a:t>
            </a:r>
            <a:endParaRPr lang="en-US" sz="1300" dirty="0"/>
          </a:p>
        </p:txBody>
      </p:sp>
      <p:sp>
        <p:nvSpPr>
          <p:cNvPr id="22" name="Text 20"/>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23" name="Text 21"/>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1.2</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Schema Design &amp; Normalization</a:t>
            </a:r>
            <a:endParaRPr lang="en-US" sz="3000" dirty="0"/>
          </a:p>
        </p:txBody>
      </p:sp>
      <p:sp>
        <p:nvSpPr>
          <p:cNvPr id="4" name="Text 2"/>
          <p:cNvSpPr/>
          <p:nvPr/>
        </p:nvSpPr>
        <p:spPr>
          <a:xfrm>
            <a:off x="548640" y="1508760"/>
            <a:ext cx="10789920" cy="365760"/>
          </a:xfrm>
          <a:prstGeom prst="rect">
            <a:avLst/>
          </a:prstGeom>
          <a:noFill/>
        </p:spPr>
        <p:txBody>
          <a:bodyPr wrap="square" lIns="0" tIns="0" rIns="0" bIns="0" rtlCol="0" anchor="ctr"/>
          <a:lstStyle/>
          <a:p>
            <a:pPr marL="0" indent="0">
              <a:buNone/>
            </a:pPr>
            <a:r>
              <a:rPr lang="en-US" sz="1350" i="1" dirty="0">
                <a:solidFill>
                  <a:srgbClr val="6B7280"/>
                </a:solidFill>
                <a:latin typeface="Calibri" panose="020F0502020204030204" pitchFamily="34" charset="0"/>
                <a:ea typeface="Calibri" panose="020F0502020204030204" pitchFamily="34" charset="-122"/>
                <a:cs typeface="Calibri" panose="020F0502020204030204" pitchFamily="34" charset="-120"/>
              </a:rPr>
              <a:t>Each normal form removes one specific kind of redundancy — and each step costs you one more potential join.</a:t>
            </a:r>
            <a:endParaRPr lang="en-US" sz="1350" dirty="0"/>
          </a:p>
        </p:txBody>
      </p:sp>
      <p:sp>
        <p:nvSpPr>
          <p:cNvPr id="5" name="Shape 3"/>
          <p:cNvSpPr/>
          <p:nvPr/>
        </p:nvSpPr>
        <p:spPr>
          <a:xfrm>
            <a:off x="548640" y="2606040"/>
            <a:ext cx="2574036" cy="3108960"/>
          </a:xfrm>
          <a:prstGeom prst="roundRect">
            <a:avLst>
              <a:gd name="adj" fmla="val 3197"/>
            </a:avLst>
          </a:prstGeom>
          <a:solidFill>
            <a:srgbClr val="F0F3FA"/>
          </a:solidFill>
        </p:spPr>
      </p:sp>
      <p:sp>
        <p:nvSpPr>
          <p:cNvPr id="6" name="Shape 4"/>
          <p:cNvSpPr/>
          <p:nvPr/>
        </p:nvSpPr>
        <p:spPr>
          <a:xfrm>
            <a:off x="1424178" y="2148840"/>
            <a:ext cx="822960" cy="822960"/>
          </a:xfrm>
          <a:prstGeom prst="ellipse">
            <a:avLst/>
          </a:prstGeom>
          <a:solidFill>
            <a:srgbClr val="1E2761"/>
          </a:solidFill>
        </p:spPr>
      </p:sp>
      <p:sp>
        <p:nvSpPr>
          <p:cNvPr id="7" name="Text 5"/>
          <p:cNvSpPr/>
          <p:nvPr/>
        </p:nvSpPr>
        <p:spPr>
          <a:xfrm>
            <a:off x="1424178" y="21488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1NF</a:t>
            </a:r>
            <a:endParaRPr lang="en-US" sz="2200" dirty="0"/>
          </a:p>
        </p:txBody>
      </p:sp>
      <p:sp>
        <p:nvSpPr>
          <p:cNvPr id="8" name="Text 6"/>
          <p:cNvSpPr/>
          <p:nvPr/>
        </p:nvSpPr>
        <p:spPr>
          <a:xfrm>
            <a:off x="713232" y="2834640"/>
            <a:ext cx="2244852" cy="685800"/>
          </a:xfrm>
          <a:prstGeom prst="rect">
            <a:avLst/>
          </a:prstGeom>
          <a:noFill/>
        </p:spPr>
        <p:txBody>
          <a:bodyPr wrap="square" lIns="0" tIns="0" rIns="0" bIns="0" rtlCol="0" anchor="ctr"/>
          <a:lstStyle/>
          <a:p>
            <a:pPr marL="0" indent="0" algn="ctr">
              <a:lnSpc>
                <a:spcPct val="105000"/>
              </a:lnSpc>
              <a:buNone/>
            </a:pPr>
            <a:r>
              <a:rPr lang="en-US" sz="1350" b="1" dirty="0">
                <a:solidFill>
                  <a:srgbClr val="1E2761"/>
                </a:solidFill>
                <a:latin typeface="Cambria" panose="02040503050406030204" pitchFamily="34" charset="0"/>
                <a:ea typeface="Cambria" panose="02040503050406030204" pitchFamily="34" charset="-122"/>
                <a:cs typeface="Cambria" panose="02040503050406030204" pitchFamily="34" charset="-120"/>
              </a:rPr>
              <a:t>Atomic values</a:t>
            </a:r>
            <a:endParaRPr lang="en-US" sz="1350" dirty="0"/>
          </a:p>
        </p:txBody>
      </p:sp>
      <p:sp>
        <p:nvSpPr>
          <p:cNvPr id="9" name="Text 7"/>
          <p:cNvSpPr/>
          <p:nvPr/>
        </p:nvSpPr>
        <p:spPr>
          <a:xfrm>
            <a:off x="713232" y="3566160"/>
            <a:ext cx="2244852" cy="2011680"/>
          </a:xfrm>
          <a:prstGeom prst="rect">
            <a:avLst/>
          </a:prstGeom>
          <a:noFill/>
        </p:spPr>
        <p:txBody>
          <a:bodyPr wrap="square" lIns="0" tIns="0" rIns="0" bIns="0" rtlCol="0" anchor="ctr"/>
          <a:lstStyle/>
          <a:p>
            <a:pPr marL="0" indent="0" algn="l">
              <a:lnSpc>
                <a:spcPct val="115000"/>
              </a:lnSpc>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Every column holds a single, indivisible value — no repeating groups or comma-packed lists.</a:t>
            </a:r>
            <a:endParaRPr lang="en-US" sz="1100" dirty="0"/>
          </a:p>
        </p:txBody>
      </p:sp>
      <p:sp>
        <p:nvSpPr>
          <p:cNvPr id="10" name="Text 8"/>
          <p:cNvSpPr/>
          <p:nvPr/>
        </p:nvSpPr>
        <p:spPr>
          <a:xfrm>
            <a:off x="3004693" y="3964305"/>
            <a:ext cx="530352" cy="457200"/>
          </a:xfrm>
          <a:prstGeom prst="rect">
            <a:avLst/>
          </a:prstGeom>
          <a:noFill/>
        </p:spPr>
        <p:txBody>
          <a:bodyPr wrap="square" lIns="0" tIns="0" rIns="0" bIns="0" rtlCol="0" anchor="ctr"/>
          <a:lstStyle/>
          <a:p>
            <a:pPr marL="0" indent="0" algn="ctr">
              <a:buNone/>
            </a:pPr>
            <a:r>
              <a:rPr lang="en-US" sz="20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1" name="Shape 9"/>
          <p:cNvSpPr/>
          <p:nvPr/>
        </p:nvSpPr>
        <p:spPr>
          <a:xfrm>
            <a:off x="3378708" y="2606040"/>
            <a:ext cx="2574036" cy="3108960"/>
          </a:xfrm>
          <a:prstGeom prst="roundRect">
            <a:avLst>
              <a:gd name="adj" fmla="val 3197"/>
            </a:avLst>
          </a:prstGeom>
          <a:solidFill>
            <a:srgbClr val="F0F3FA"/>
          </a:solidFill>
        </p:spPr>
      </p:sp>
      <p:sp>
        <p:nvSpPr>
          <p:cNvPr id="12" name="Shape 10"/>
          <p:cNvSpPr/>
          <p:nvPr/>
        </p:nvSpPr>
        <p:spPr>
          <a:xfrm>
            <a:off x="4254246" y="2148840"/>
            <a:ext cx="822960" cy="822960"/>
          </a:xfrm>
          <a:prstGeom prst="ellipse">
            <a:avLst/>
          </a:prstGeom>
          <a:solidFill>
            <a:srgbClr val="1E2761"/>
          </a:solidFill>
        </p:spPr>
      </p:sp>
      <p:sp>
        <p:nvSpPr>
          <p:cNvPr id="13" name="Text 11"/>
          <p:cNvSpPr/>
          <p:nvPr/>
        </p:nvSpPr>
        <p:spPr>
          <a:xfrm>
            <a:off x="4254246" y="21488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2NF</a:t>
            </a:r>
            <a:endParaRPr lang="en-US" sz="2200" dirty="0"/>
          </a:p>
        </p:txBody>
      </p:sp>
      <p:sp>
        <p:nvSpPr>
          <p:cNvPr id="14" name="Text 12"/>
          <p:cNvSpPr/>
          <p:nvPr/>
        </p:nvSpPr>
        <p:spPr>
          <a:xfrm>
            <a:off x="3543300" y="2834640"/>
            <a:ext cx="2244852" cy="685800"/>
          </a:xfrm>
          <a:prstGeom prst="rect">
            <a:avLst/>
          </a:prstGeom>
          <a:noFill/>
        </p:spPr>
        <p:txBody>
          <a:bodyPr wrap="square" lIns="0" tIns="0" rIns="0" bIns="0" rtlCol="0" anchor="ctr"/>
          <a:lstStyle/>
          <a:p>
            <a:pPr marL="0" indent="0" algn="ctr">
              <a:lnSpc>
                <a:spcPct val="105000"/>
              </a:lnSpc>
              <a:buNone/>
            </a:pPr>
            <a:r>
              <a:rPr lang="en-US" sz="1350" b="1" dirty="0">
                <a:solidFill>
                  <a:srgbClr val="1E2761"/>
                </a:solidFill>
                <a:latin typeface="Cambria" panose="02040503050406030204" pitchFamily="34" charset="0"/>
                <a:ea typeface="Cambria" panose="02040503050406030204" pitchFamily="34" charset="-122"/>
                <a:cs typeface="Cambria" panose="02040503050406030204" pitchFamily="34" charset="-120"/>
              </a:rPr>
              <a:t>No partial dependency</a:t>
            </a:r>
            <a:endParaRPr lang="en-US" sz="1350" dirty="0"/>
          </a:p>
        </p:txBody>
      </p:sp>
      <p:sp>
        <p:nvSpPr>
          <p:cNvPr id="15" name="Text 13"/>
          <p:cNvSpPr/>
          <p:nvPr/>
        </p:nvSpPr>
        <p:spPr>
          <a:xfrm>
            <a:off x="3543300" y="3566160"/>
            <a:ext cx="2244852" cy="2011680"/>
          </a:xfrm>
          <a:prstGeom prst="rect">
            <a:avLst/>
          </a:prstGeom>
          <a:noFill/>
        </p:spPr>
        <p:txBody>
          <a:bodyPr wrap="square" lIns="0" tIns="0" rIns="0" bIns="0" rtlCol="0" anchor="ctr"/>
          <a:lstStyle/>
          <a:p>
            <a:pPr marL="0" indent="0" algn="l">
              <a:lnSpc>
                <a:spcPct val="115000"/>
              </a:lnSpc>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Every non-key column depends on the WHOLE composite primary key, not just part of it.</a:t>
            </a:r>
            <a:endPar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a:p>
            <a:pPr marL="0" indent="0" algn="l">
              <a:lnSpc>
                <a:spcPct val="115000"/>
              </a:lnSpc>
              <a:buNone/>
            </a:pPr>
            <a:r>
              <a:rPr lang="en-US" sz="1100" dirty="0"/>
              <a:t>cust_inf</a:t>
            </a:r>
            <a:endParaRPr lang="en-US" sz="1100" dirty="0"/>
          </a:p>
          <a:p>
            <a:pPr marL="0" indent="0" algn="l">
              <a:lnSpc>
                <a:spcPct val="115000"/>
              </a:lnSpc>
              <a:buNone/>
            </a:pPr>
            <a:r>
              <a:rPr lang="en-US" sz="1100" dirty="0"/>
              <a:t>cust_id (PK)</a:t>
            </a:r>
            <a:endParaRPr lang="en-US" sz="1100" dirty="0"/>
          </a:p>
          <a:p>
            <a:pPr marL="0" indent="0" algn="l">
              <a:lnSpc>
                <a:spcPct val="115000"/>
              </a:lnSpc>
              <a:buNone/>
            </a:pPr>
            <a:r>
              <a:rPr lang="en-US" sz="1100" dirty="0"/>
              <a:t>age</a:t>
            </a:r>
            <a:endParaRPr lang="en-US" sz="1100" dirty="0"/>
          </a:p>
          <a:p>
            <a:pPr marL="0" indent="0" algn="l">
              <a:lnSpc>
                <a:spcPct val="115000"/>
              </a:lnSpc>
              <a:buNone/>
            </a:pPr>
            <a:r>
              <a:rPr lang="en-US" sz="1100" dirty="0"/>
              <a:t>name</a:t>
            </a:r>
            <a:endParaRPr lang="en-US" sz="1100" dirty="0"/>
          </a:p>
        </p:txBody>
      </p:sp>
      <p:sp>
        <p:nvSpPr>
          <p:cNvPr id="16" name="Text 14"/>
          <p:cNvSpPr/>
          <p:nvPr/>
        </p:nvSpPr>
        <p:spPr>
          <a:xfrm>
            <a:off x="5796026" y="3964305"/>
            <a:ext cx="530352" cy="457200"/>
          </a:xfrm>
          <a:prstGeom prst="rect">
            <a:avLst/>
          </a:prstGeom>
          <a:noFill/>
        </p:spPr>
        <p:txBody>
          <a:bodyPr wrap="square" lIns="0" tIns="0" rIns="0" bIns="0" rtlCol="0" anchor="ctr"/>
          <a:lstStyle/>
          <a:p>
            <a:pPr marL="0" indent="0" algn="ctr">
              <a:buNone/>
            </a:pPr>
            <a:r>
              <a:rPr lang="en-US" sz="20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7" name="Shape 15"/>
          <p:cNvSpPr/>
          <p:nvPr/>
        </p:nvSpPr>
        <p:spPr>
          <a:xfrm>
            <a:off x="6208776" y="2606040"/>
            <a:ext cx="2574036" cy="3108960"/>
          </a:xfrm>
          <a:prstGeom prst="roundRect">
            <a:avLst>
              <a:gd name="adj" fmla="val 3197"/>
            </a:avLst>
          </a:prstGeom>
          <a:solidFill>
            <a:srgbClr val="F0F3FA"/>
          </a:solidFill>
        </p:spPr>
      </p:sp>
      <p:sp>
        <p:nvSpPr>
          <p:cNvPr id="18" name="Shape 16"/>
          <p:cNvSpPr/>
          <p:nvPr/>
        </p:nvSpPr>
        <p:spPr>
          <a:xfrm>
            <a:off x="7084314" y="2148840"/>
            <a:ext cx="822960" cy="822960"/>
          </a:xfrm>
          <a:prstGeom prst="ellipse">
            <a:avLst/>
          </a:prstGeom>
          <a:solidFill>
            <a:srgbClr val="1E2761"/>
          </a:solidFill>
        </p:spPr>
      </p:sp>
      <p:sp>
        <p:nvSpPr>
          <p:cNvPr id="19" name="Text 17"/>
          <p:cNvSpPr/>
          <p:nvPr/>
        </p:nvSpPr>
        <p:spPr>
          <a:xfrm>
            <a:off x="7084314" y="21488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3NF</a:t>
            </a:r>
            <a:endParaRPr lang="en-US" sz="2200" dirty="0"/>
          </a:p>
        </p:txBody>
      </p:sp>
      <p:sp>
        <p:nvSpPr>
          <p:cNvPr id="20" name="Text 18"/>
          <p:cNvSpPr/>
          <p:nvPr/>
        </p:nvSpPr>
        <p:spPr>
          <a:xfrm>
            <a:off x="6373368" y="2834640"/>
            <a:ext cx="2244852" cy="685800"/>
          </a:xfrm>
          <a:prstGeom prst="rect">
            <a:avLst/>
          </a:prstGeom>
          <a:noFill/>
        </p:spPr>
        <p:txBody>
          <a:bodyPr wrap="square" lIns="0" tIns="0" rIns="0" bIns="0" rtlCol="0" anchor="ctr"/>
          <a:lstStyle/>
          <a:p>
            <a:pPr marL="0" indent="0" algn="ctr">
              <a:lnSpc>
                <a:spcPct val="105000"/>
              </a:lnSpc>
              <a:buNone/>
            </a:pPr>
            <a:r>
              <a:rPr lang="en-US" sz="1350" b="1" dirty="0">
                <a:solidFill>
                  <a:srgbClr val="1E2761"/>
                </a:solidFill>
                <a:latin typeface="Cambria" panose="02040503050406030204" pitchFamily="34" charset="0"/>
                <a:ea typeface="Cambria" panose="02040503050406030204" pitchFamily="34" charset="-122"/>
                <a:cs typeface="Cambria" panose="02040503050406030204" pitchFamily="34" charset="-120"/>
              </a:rPr>
              <a:t>No transitive dependency</a:t>
            </a:r>
            <a:endParaRPr lang="en-US" sz="1350" dirty="0"/>
          </a:p>
        </p:txBody>
      </p:sp>
      <p:sp>
        <p:nvSpPr>
          <p:cNvPr id="21" name="Text 19"/>
          <p:cNvSpPr/>
          <p:nvPr/>
        </p:nvSpPr>
        <p:spPr>
          <a:xfrm>
            <a:off x="6373368" y="3566160"/>
            <a:ext cx="2244852" cy="2011680"/>
          </a:xfrm>
          <a:prstGeom prst="rect">
            <a:avLst/>
          </a:prstGeom>
          <a:noFill/>
        </p:spPr>
        <p:txBody>
          <a:bodyPr wrap="square" lIns="0" tIns="0" rIns="0" bIns="0" rtlCol="0" anchor="ctr"/>
          <a:lstStyle/>
          <a:p>
            <a:pPr marL="0" indent="0" algn="l">
              <a:lnSpc>
                <a:spcPct val="115000"/>
              </a:lnSpc>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Non-key columns depend only on the key — not on another non-key column.</a:t>
            </a:r>
            <a:endParaRPr lang="en-US" sz="1100" dirty="0"/>
          </a:p>
        </p:txBody>
      </p:sp>
      <p:sp>
        <p:nvSpPr>
          <p:cNvPr id="22" name="Text 20"/>
          <p:cNvSpPr/>
          <p:nvPr/>
        </p:nvSpPr>
        <p:spPr>
          <a:xfrm>
            <a:off x="8645779" y="3941445"/>
            <a:ext cx="530352" cy="457200"/>
          </a:xfrm>
          <a:prstGeom prst="rect">
            <a:avLst/>
          </a:prstGeom>
          <a:noFill/>
        </p:spPr>
        <p:txBody>
          <a:bodyPr wrap="square" lIns="0" tIns="0" rIns="0" bIns="0" rtlCol="0" anchor="ctr"/>
          <a:lstStyle/>
          <a:p>
            <a:pPr marL="0" indent="0" algn="ctr">
              <a:buNone/>
            </a:pPr>
            <a:r>
              <a:rPr lang="en-US" sz="20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3" name="Shape 21"/>
          <p:cNvSpPr/>
          <p:nvPr/>
        </p:nvSpPr>
        <p:spPr>
          <a:xfrm>
            <a:off x="9038844" y="2606040"/>
            <a:ext cx="2574036" cy="3108960"/>
          </a:xfrm>
          <a:prstGeom prst="roundRect">
            <a:avLst>
              <a:gd name="adj" fmla="val 3197"/>
            </a:avLst>
          </a:prstGeom>
          <a:solidFill>
            <a:srgbClr val="F0F3FA"/>
          </a:solidFill>
        </p:spPr>
      </p:sp>
      <p:sp>
        <p:nvSpPr>
          <p:cNvPr id="24" name="Shape 22"/>
          <p:cNvSpPr/>
          <p:nvPr/>
        </p:nvSpPr>
        <p:spPr>
          <a:xfrm>
            <a:off x="9914382" y="2148840"/>
            <a:ext cx="822960" cy="822960"/>
          </a:xfrm>
          <a:prstGeom prst="ellipse">
            <a:avLst/>
          </a:prstGeom>
          <a:solidFill>
            <a:srgbClr val="1E2761"/>
          </a:solidFill>
        </p:spPr>
      </p:sp>
      <p:sp>
        <p:nvSpPr>
          <p:cNvPr id="25" name="Text 23"/>
          <p:cNvSpPr/>
          <p:nvPr/>
        </p:nvSpPr>
        <p:spPr>
          <a:xfrm>
            <a:off x="9914382" y="21488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BCNF</a:t>
            </a:r>
            <a:endParaRPr lang="en-US" sz="2200" dirty="0"/>
          </a:p>
        </p:txBody>
      </p:sp>
      <p:sp>
        <p:nvSpPr>
          <p:cNvPr id="26" name="Text 24"/>
          <p:cNvSpPr/>
          <p:nvPr/>
        </p:nvSpPr>
        <p:spPr>
          <a:xfrm>
            <a:off x="9203436" y="2834640"/>
            <a:ext cx="2244852" cy="685800"/>
          </a:xfrm>
          <a:prstGeom prst="rect">
            <a:avLst/>
          </a:prstGeom>
          <a:noFill/>
        </p:spPr>
        <p:txBody>
          <a:bodyPr wrap="square" lIns="0" tIns="0" rIns="0" bIns="0" rtlCol="0" anchor="ctr"/>
          <a:lstStyle/>
          <a:p>
            <a:pPr marL="0" indent="0" algn="ctr">
              <a:lnSpc>
                <a:spcPct val="105000"/>
              </a:lnSpc>
              <a:buNone/>
            </a:pPr>
            <a:r>
              <a:rPr lang="en-US" sz="1350" b="1" dirty="0">
                <a:solidFill>
                  <a:srgbClr val="1E2761"/>
                </a:solidFill>
                <a:latin typeface="Cambria" panose="02040503050406030204" pitchFamily="34" charset="0"/>
                <a:ea typeface="Cambria" panose="02040503050406030204" pitchFamily="34" charset="-122"/>
                <a:cs typeface="Cambria" panose="02040503050406030204" pitchFamily="34" charset="-120"/>
              </a:rPr>
              <a:t>Every determinant is a candidate key</a:t>
            </a:r>
            <a:endParaRPr lang="en-US" sz="1350" dirty="0"/>
          </a:p>
        </p:txBody>
      </p:sp>
      <p:sp>
        <p:nvSpPr>
          <p:cNvPr id="27" name="Text 25"/>
          <p:cNvSpPr/>
          <p:nvPr/>
        </p:nvSpPr>
        <p:spPr>
          <a:xfrm>
            <a:off x="9203436" y="3566160"/>
            <a:ext cx="2244852" cy="2011680"/>
          </a:xfrm>
          <a:prstGeom prst="rect">
            <a:avLst/>
          </a:prstGeom>
          <a:noFill/>
        </p:spPr>
        <p:txBody>
          <a:bodyPr wrap="square" lIns="0" tIns="0" rIns="0" bIns="0" rtlCol="0" anchor="ctr"/>
          <a:lstStyle/>
          <a:p>
            <a:pPr marL="0" indent="0" algn="l">
              <a:lnSpc>
                <a:spcPct val="115000"/>
              </a:lnSpc>
              <a:buNone/>
            </a:pPr>
            <a:r>
              <a:rPr lang="en-US" sz="1100" dirty="0">
                <a:solidFill>
                  <a:srgbClr val="222222"/>
                </a:solidFill>
                <a:latin typeface="Calibri" panose="020F0502020204030204" pitchFamily="34" charset="0"/>
                <a:ea typeface="Calibri" panose="020F0502020204030204" pitchFamily="34" charset="-122"/>
                <a:cs typeface="Calibri" panose="020F0502020204030204" pitchFamily="34" charset="-120"/>
              </a:rPr>
              <a:t>The strict version of 3NF; closes edge cases 3NF misses.</a:t>
            </a:r>
            <a:endParaRPr lang="en-US" sz="1100" dirty="0"/>
          </a:p>
        </p:txBody>
      </p:sp>
      <p:sp>
        <p:nvSpPr>
          <p:cNvPr id="28" name="Text 26"/>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29" name="Text 27"/>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1.2</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Denormalization Tradeoffs for Analytics</a:t>
            </a:r>
            <a:endParaRPr lang="en-US" sz="3000" dirty="0"/>
          </a:p>
        </p:txBody>
      </p:sp>
      <p:sp>
        <p:nvSpPr>
          <p:cNvPr id="4" name="Shape 2"/>
          <p:cNvSpPr/>
          <p:nvPr/>
        </p:nvSpPr>
        <p:spPr>
          <a:xfrm>
            <a:off x="548640" y="1691640"/>
            <a:ext cx="5394960" cy="3566160"/>
          </a:xfrm>
          <a:prstGeom prst="roundRect">
            <a:avLst>
              <a:gd name="adj" fmla="val 2564"/>
            </a:avLst>
          </a:prstGeom>
          <a:solidFill>
            <a:srgbClr val="F0F3FA"/>
          </a:solidFill>
        </p:spPr>
      </p:sp>
      <p:sp>
        <p:nvSpPr>
          <p:cNvPr id="5" name="Shape 3"/>
          <p:cNvSpPr/>
          <p:nvPr/>
        </p:nvSpPr>
        <p:spPr>
          <a:xfrm>
            <a:off x="822960" y="1965960"/>
            <a:ext cx="146304" cy="146304"/>
          </a:xfrm>
          <a:prstGeom prst="roundRect">
            <a:avLst>
              <a:gd name="adj" fmla="val 50000"/>
            </a:avLst>
          </a:prstGeom>
          <a:solidFill>
            <a:srgbClr val="1E2761"/>
          </a:solidFill>
        </p:spPr>
      </p:sp>
      <p:sp>
        <p:nvSpPr>
          <p:cNvPr id="6" name="Text 4"/>
          <p:cNvSpPr/>
          <p:nvPr/>
        </p:nvSpPr>
        <p:spPr>
          <a:xfrm>
            <a:off x="1097280" y="1892808"/>
            <a:ext cx="4572000" cy="365760"/>
          </a:xfrm>
          <a:prstGeom prst="rect">
            <a:avLst/>
          </a:prstGeom>
          <a:noFill/>
        </p:spPr>
        <p:txBody>
          <a:bodyPr wrap="square" lIns="0" tIns="0" rIns="0" bIns="0" rtlCol="0" anchor="ctr"/>
          <a:lstStyle/>
          <a:p>
            <a:pPr marL="0" indent="0">
              <a:buNone/>
            </a:pPr>
            <a:r>
              <a:rPr lang="en-US" sz="1900" b="1" dirty="0">
                <a:solidFill>
                  <a:srgbClr val="1E2761"/>
                </a:solidFill>
                <a:latin typeface="Cambria" panose="02040503050406030204" pitchFamily="34" charset="0"/>
                <a:ea typeface="Cambria" panose="02040503050406030204" pitchFamily="34" charset="-122"/>
                <a:cs typeface="Cambria" panose="02040503050406030204" pitchFamily="34" charset="-120"/>
              </a:rPr>
              <a:t>Normalized</a:t>
            </a:r>
            <a:endParaRPr lang="en-US" sz="1900" dirty="0"/>
          </a:p>
        </p:txBody>
      </p:sp>
      <p:sp>
        <p:nvSpPr>
          <p:cNvPr id="7" name="Text 5"/>
          <p:cNvSpPr/>
          <p:nvPr/>
        </p:nvSpPr>
        <p:spPr>
          <a:xfrm>
            <a:off x="822960" y="2468880"/>
            <a:ext cx="4846320" cy="2560320"/>
          </a:xfrm>
          <a:prstGeom prst="rect">
            <a:avLst/>
          </a:prstGeom>
          <a:noFill/>
        </p:spPr>
        <p:txBody>
          <a:bodyPr wrap="square" lIns="0" tIns="0" rIns="0" bIns="0" rtlCol="0" anchor="ctr"/>
          <a:lstStyle/>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Minimal redundancy — each fact stored once</a:t>
            </a:r>
            <a:endParaRPr lang="en-US" sz="1350" dirty="0"/>
          </a:p>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Safer writes: update one row, done</a:t>
            </a:r>
            <a:endParaRPr lang="en-US" sz="1350" dirty="0"/>
          </a:p>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But: more joins needed to answer a question</a:t>
            </a:r>
            <a:endParaRPr lang="en-US" sz="1350" dirty="0"/>
          </a:p>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Best fit: the OLTP source system (users, orders)</a:t>
            </a:r>
            <a:endParaRPr lang="en-US" sz="1350" dirty="0"/>
          </a:p>
        </p:txBody>
      </p:sp>
      <p:sp>
        <p:nvSpPr>
          <p:cNvPr id="8" name="Shape 6"/>
          <p:cNvSpPr/>
          <p:nvPr/>
        </p:nvSpPr>
        <p:spPr>
          <a:xfrm>
            <a:off x="6217920" y="1691640"/>
            <a:ext cx="5394960" cy="3566160"/>
          </a:xfrm>
          <a:prstGeom prst="roundRect">
            <a:avLst>
              <a:gd name="adj" fmla="val 2564"/>
            </a:avLst>
          </a:prstGeom>
          <a:solidFill>
            <a:srgbClr val="F0F3FA"/>
          </a:solidFill>
        </p:spPr>
      </p:sp>
      <p:sp>
        <p:nvSpPr>
          <p:cNvPr id="9" name="Shape 7"/>
          <p:cNvSpPr/>
          <p:nvPr/>
        </p:nvSpPr>
        <p:spPr>
          <a:xfrm>
            <a:off x="6492240" y="1965960"/>
            <a:ext cx="146304" cy="146304"/>
          </a:xfrm>
          <a:prstGeom prst="roundRect">
            <a:avLst>
              <a:gd name="adj" fmla="val 50000"/>
            </a:avLst>
          </a:prstGeom>
          <a:solidFill>
            <a:srgbClr val="E3A008"/>
          </a:solidFill>
        </p:spPr>
      </p:sp>
      <p:sp>
        <p:nvSpPr>
          <p:cNvPr id="10" name="Text 8"/>
          <p:cNvSpPr/>
          <p:nvPr/>
        </p:nvSpPr>
        <p:spPr>
          <a:xfrm>
            <a:off x="6766560" y="1892808"/>
            <a:ext cx="4572000" cy="365760"/>
          </a:xfrm>
          <a:prstGeom prst="rect">
            <a:avLst/>
          </a:prstGeom>
          <a:noFill/>
        </p:spPr>
        <p:txBody>
          <a:bodyPr wrap="square" lIns="0" tIns="0" rIns="0" bIns="0" rtlCol="0" anchor="ctr"/>
          <a:lstStyle/>
          <a:p>
            <a:pPr marL="0" indent="0">
              <a:buNone/>
            </a:pPr>
            <a:r>
              <a:rPr lang="en-US" sz="1900" b="1" dirty="0">
                <a:solidFill>
                  <a:srgbClr val="1E2761"/>
                </a:solidFill>
                <a:latin typeface="Cambria" panose="02040503050406030204" pitchFamily="34" charset="0"/>
                <a:ea typeface="Cambria" panose="02040503050406030204" pitchFamily="34" charset="-122"/>
                <a:cs typeface="Cambria" panose="02040503050406030204" pitchFamily="34" charset="-120"/>
              </a:rPr>
              <a:t>Denormalized</a:t>
            </a:r>
            <a:endParaRPr lang="en-US" sz="1900" dirty="0"/>
          </a:p>
        </p:txBody>
      </p:sp>
      <p:sp>
        <p:nvSpPr>
          <p:cNvPr id="11" name="Text 9"/>
          <p:cNvSpPr/>
          <p:nvPr/>
        </p:nvSpPr>
        <p:spPr>
          <a:xfrm>
            <a:off x="6492240" y="2468880"/>
            <a:ext cx="4846320" cy="2560320"/>
          </a:xfrm>
          <a:prstGeom prst="rect">
            <a:avLst/>
          </a:prstGeom>
          <a:noFill/>
        </p:spPr>
        <p:txBody>
          <a:bodyPr wrap="square" lIns="0" tIns="0" rIns="0" bIns="0" rtlCol="0" anchor="ctr"/>
          <a:lstStyle/>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Fewer joins — data pre-combined for reads</a:t>
            </a:r>
            <a:endParaRPr lang="en-US" sz="1350" dirty="0"/>
          </a:p>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Faster analytical queries, less optimizer work</a:t>
            </a:r>
            <a:endParaRPr lang="en-US" sz="1350" dirty="0"/>
          </a:p>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But: redundant storage &amp; update-anomaly risk</a:t>
            </a:r>
            <a:endParaRPr lang="en-US" sz="1350" dirty="0"/>
          </a:p>
          <a:p>
            <a:pPr marL="342900" indent="-342900">
              <a:lnSpc>
                <a:spcPct val="115000"/>
              </a:lnSpc>
              <a:spcAft>
                <a:spcPts val="1400"/>
              </a:spcAft>
              <a:buSzPct val="100000"/>
              <a:buChar char="➔"/>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Best fit: reporting tables, star schemas, feature tables</a:t>
            </a:r>
            <a:endParaRPr lang="en-US" sz="1350" dirty="0"/>
          </a:p>
        </p:txBody>
      </p:sp>
      <p:sp>
        <p:nvSpPr>
          <p:cNvPr id="12" name="Shape 10"/>
          <p:cNvSpPr/>
          <p:nvPr/>
        </p:nvSpPr>
        <p:spPr>
          <a:xfrm>
            <a:off x="548640" y="5440680"/>
            <a:ext cx="11064240" cy="1051560"/>
          </a:xfrm>
          <a:prstGeom prst="roundRect">
            <a:avLst>
              <a:gd name="adj" fmla="val 6957"/>
            </a:avLst>
          </a:prstGeom>
          <a:solidFill>
            <a:srgbClr val="F0F3FA"/>
          </a:solidFill>
        </p:spPr>
      </p:sp>
      <p:sp>
        <p:nvSpPr>
          <p:cNvPr id="13" name="Text 11"/>
          <p:cNvSpPr/>
          <p:nvPr/>
        </p:nvSpPr>
        <p:spPr>
          <a:xfrm>
            <a:off x="777240" y="557784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14" name="Text 12"/>
          <p:cNvSpPr/>
          <p:nvPr/>
        </p:nvSpPr>
        <p:spPr>
          <a:xfrm>
            <a:off x="777240" y="5897880"/>
            <a:ext cx="10607040" cy="45720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Analytics workloads often denormalize on purpose (star schemas, feature tables) — this is a deliberate tradeoff of write-safety for read-speed, not sloppy design. Module 4's feature stores lean fully into this.</a:t>
            </a:r>
            <a:endParaRPr lang="en-US" sz="1300" dirty="0"/>
          </a:p>
        </p:txBody>
      </p:sp>
      <p:sp>
        <p:nvSpPr>
          <p:cNvPr id="15" name="Text 13"/>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16" name="Text 14"/>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1.3</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DDL Deep Dive — Data Types &amp; Storage Cost</a:t>
            </a:r>
            <a:endParaRPr lang="en-US" sz="3000" dirty="0"/>
          </a:p>
        </p:txBody>
      </p:sp>
      <p:graphicFrame>
        <p:nvGraphicFramePr>
          <p:cNvPr id="14" name="Table 0"/>
          <p:cNvGraphicFramePr>
            <a:graphicFrameLocks noGrp="1"/>
          </p:cNvGraphicFramePr>
          <p:nvPr/>
        </p:nvGraphicFramePr>
        <p:xfrm>
          <a:off x="548640" y="1737360"/>
          <a:ext cx="11064240" cy="3401568"/>
        </p:xfrm>
        <a:graphic>
          <a:graphicData uri="http://schemas.openxmlformats.org/drawingml/2006/table">
            <a:tbl>
              <a:tblPr/>
              <a:tblGrid>
                <a:gridCol w="2377440"/>
                <a:gridCol w="3200400"/>
                <a:gridCol w="5486400"/>
              </a:tblGrid>
              <a:tr h="566928">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Storage Cost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When To Use It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r>
              <a:tr h="56692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CHAR(n) </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Fixed n bytes, always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Fixed-length codes e.g. an ISO country code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r h="56692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VARCHAR(n) </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Actual length + 1–2 bytes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Variable-length text ; most string columns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56692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INT  </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4 bytes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Counts, small IDs (up to ~2.1 billion)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r h="56692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BIGINT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8 bytes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Large auto-increment PKs, high-volume event IDs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566928">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DECIMAL(p,s)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Exact, no float drift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Money / currency — never use FLOAT for this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bl>
          </a:graphicData>
        </a:graphic>
      </p:graphicFrame>
      <p:sp>
        <p:nvSpPr>
          <p:cNvPr id="5" name="Shape 2"/>
          <p:cNvSpPr/>
          <p:nvPr/>
        </p:nvSpPr>
        <p:spPr>
          <a:xfrm>
            <a:off x="548640" y="5166360"/>
            <a:ext cx="11064240" cy="1325880"/>
          </a:xfrm>
          <a:prstGeom prst="roundRect">
            <a:avLst>
              <a:gd name="adj" fmla="val 5517"/>
            </a:avLst>
          </a:prstGeom>
          <a:solidFill>
            <a:srgbClr val="F0F3FA"/>
          </a:solidFill>
        </p:spPr>
      </p:sp>
      <p:sp>
        <p:nvSpPr>
          <p:cNvPr id="6" name="Text 3"/>
          <p:cNvSpPr/>
          <p:nvPr/>
        </p:nvSpPr>
        <p:spPr>
          <a:xfrm>
            <a:off x="777240" y="53035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7" name="Text 4"/>
          <p:cNvSpPr/>
          <p:nvPr/>
        </p:nvSpPr>
        <p:spPr>
          <a:xfrm>
            <a:off x="777240" y="5623560"/>
            <a:ext cx="10607040" cy="73152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DECIMAL is exact because it's stored as scaled integers, not base-2 fractions — FLOAT/DOUBLE cannot represent 0.1 exactly in binary, so SUM(total_amount) drifts by cents across millions of rows. Never use floating point for currency aggregation.  </a:t>
            </a:r>
            <a:endParaRPr lang="en-US" sz="1300" dirty="0"/>
          </a:p>
        </p:txBody>
      </p:sp>
      <p:sp>
        <p:nvSpPr>
          <p:cNvPr id="8" name="Text 5"/>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9" name="Text 6"/>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1.3</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Constraints Are Optimizer Hints, Not Just Validation</a:t>
            </a:r>
            <a:endParaRPr lang="en-US" sz="3000" dirty="0"/>
          </a:p>
        </p:txBody>
      </p:sp>
      <p:sp>
        <p:nvSpPr>
          <p:cNvPr id="4" name="Shape 2"/>
          <p:cNvSpPr/>
          <p:nvPr/>
        </p:nvSpPr>
        <p:spPr>
          <a:xfrm>
            <a:off x="548640" y="1737360"/>
            <a:ext cx="11064240" cy="2286000"/>
          </a:xfrm>
          <a:prstGeom prst="roundRect">
            <a:avLst>
              <a:gd name="adj" fmla="val 3200"/>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920240"/>
            <a:ext cx="10607040" cy="192024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CREATE TABLE orders (</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order_id     BIGINT UNSIGNED AUTO_INCREMENT PRIMARY KEY,  -- MySQL</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 order_id  BIGINT IDENTITY(1,1) PRIMARY KEY,             -- SQL Server</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user_id      BIGINT UNSIGNED NOT NULL,</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order_date   DATETIME NOT NULL,</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status       ENUM('pending','completed','cancelled') NOT NULL,</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FOREIGN KEY (user_id) REFERENCES users(user_id)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6" name="Shape 4"/>
          <p:cNvSpPr/>
          <p:nvPr/>
        </p:nvSpPr>
        <p:spPr>
          <a:xfrm>
            <a:off x="548640" y="4251960"/>
            <a:ext cx="11064240" cy="2194560"/>
          </a:xfrm>
          <a:prstGeom prst="roundRect">
            <a:avLst>
              <a:gd name="adj" fmla="val 3333"/>
            </a:avLst>
          </a:prstGeom>
          <a:solidFill>
            <a:srgbClr val="F0F3FA"/>
          </a:solidFill>
        </p:spPr>
      </p:sp>
      <p:sp>
        <p:nvSpPr>
          <p:cNvPr id="7" name="Text 5"/>
          <p:cNvSpPr/>
          <p:nvPr/>
        </p:nvSpPr>
        <p:spPr>
          <a:xfrm>
            <a:off x="777240" y="43891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6"/>
          <p:cNvSpPr/>
          <p:nvPr/>
        </p:nvSpPr>
        <p:spPr>
          <a:xfrm>
            <a:off x="777240" y="4709160"/>
            <a:ext cx="10607040" cy="160020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A NOT NULL, UNIQUE, or FOREIGN KEY constraint isn't only there to reject bad data — it's information the optimizer can lean on. NOT NULL lets it skip a null-check branch entirely; a UNIQUE constraint lets it assume at most one match when estimating join cardinality; a FOREIGN KEY lets it trust that every user_id in orders really exists in users, sometimes allowing a join to be eliminated altogether if its output columns aren't even used. Constraints are a contract the storage engine gets to exploit, not just a gate at INSERT time.</a:t>
            </a:r>
            <a:endParaRPr lang="en-US" sz="1300" dirty="0"/>
          </a:p>
        </p:txBody>
      </p:sp>
      <p:sp>
        <p:nvSpPr>
          <p:cNvPr id="9" name="Text 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10" name="Text 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1.4</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DML &amp; Transaction Basics — Meet ACID</a:t>
            </a:r>
            <a:endParaRPr lang="en-US" sz="3000" dirty="0"/>
          </a:p>
        </p:txBody>
      </p:sp>
      <p:sp>
        <p:nvSpPr>
          <p:cNvPr id="4" name="Text 2"/>
          <p:cNvSpPr/>
          <p:nvPr/>
        </p:nvSpPr>
        <p:spPr>
          <a:xfrm>
            <a:off x="548640" y="1508760"/>
            <a:ext cx="10789920" cy="365760"/>
          </a:xfrm>
          <a:prstGeom prst="rect">
            <a:avLst/>
          </a:prstGeom>
          <a:noFill/>
        </p:spPr>
        <p:txBody>
          <a:bodyPr wrap="square" lIns="0" tIns="0" rIns="0" bIns="0" rtlCol="0" anchor="ctr"/>
          <a:lstStyle/>
          <a:p>
            <a:pPr marL="0" indent="0">
              <a:buNone/>
            </a:pPr>
            <a:r>
              <a:rPr lang="en-US" sz="1350" i="1" dirty="0">
                <a:solidFill>
                  <a:srgbClr val="6B7280"/>
                </a:solidFill>
                <a:latin typeface="Calibri" panose="020F0502020204030204" pitchFamily="34" charset="0"/>
                <a:ea typeface="Calibri" panose="020F0502020204030204" pitchFamily="34" charset="-122"/>
                <a:cs typeface="Calibri" panose="020F0502020204030204" pitchFamily="34" charset="-120"/>
              </a:rPr>
              <a:t>Four guarantees an OLTP engine makes about every transaction you commit.</a:t>
            </a:r>
            <a:endParaRPr lang="en-US" sz="1350" dirty="0"/>
          </a:p>
        </p:txBody>
      </p:sp>
      <p:sp>
        <p:nvSpPr>
          <p:cNvPr id="5" name="Shape 3"/>
          <p:cNvSpPr/>
          <p:nvPr/>
        </p:nvSpPr>
        <p:spPr>
          <a:xfrm>
            <a:off x="548640" y="2286000"/>
            <a:ext cx="2574036" cy="3657600"/>
          </a:xfrm>
          <a:prstGeom prst="roundRect">
            <a:avLst>
              <a:gd name="adj" fmla="val 3552"/>
            </a:avLst>
          </a:prstGeom>
          <a:solidFill>
            <a:srgbClr val="F0F3FA"/>
          </a:solidFill>
        </p:spPr>
      </p:sp>
      <p:sp>
        <p:nvSpPr>
          <p:cNvPr id="6" name="Shape 4"/>
          <p:cNvSpPr/>
          <p:nvPr/>
        </p:nvSpPr>
        <p:spPr>
          <a:xfrm>
            <a:off x="1424178" y="2606040"/>
            <a:ext cx="822960" cy="822960"/>
          </a:xfrm>
          <a:prstGeom prst="ellipse">
            <a:avLst/>
          </a:prstGeom>
          <a:solidFill>
            <a:srgbClr val="1E2761"/>
          </a:solidFill>
        </p:spPr>
      </p:sp>
      <p:sp>
        <p:nvSpPr>
          <p:cNvPr id="7" name="Text 5"/>
          <p:cNvSpPr/>
          <p:nvPr/>
        </p:nvSpPr>
        <p:spPr>
          <a:xfrm>
            <a:off x="1424178" y="26060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a:t>
            </a:r>
            <a:endParaRPr lang="en-US" sz="2200" dirty="0"/>
          </a:p>
        </p:txBody>
      </p:sp>
      <p:sp>
        <p:nvSpPr>
          <p:cNvPr id="8" name="Text 6"/>
          <p:cNvSpPr/>
          <p:nvPr/>
        </p:nvSpPr>
        <p:spPr>
          <a:xfrm>
            <a:off x="685800" y="3611880"/>
            <a:ext cx="2299716" cy="365760"/>
          </a:xfrm>
          <a:prstGeom prst="rect">
            <a:avLst/>
          </a:prstGeom>
          <a:noFill/>
        </p:spPr>
        <p:txBody>
          <a:bodyPr wrap="square" lIns="0" tIns="0" rIns="0" bIns="0" rtlCol="0" anchor="ctr"/>
          <a:lstStyle/>
          <a:p>
            <a:pPr marL="0" indent="0" algn="ctr">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Atomicity</a:t>
            </a:r>
            <a:endParaRPr lang="en-US" sz="1500" dirty="0"/>
          </a:p>
        </p:txBody>
      </p:sp>
      <p:sp>
        <p:nvSpPr>
          <p:cNvPr id="9" name="Text 7"/>
          <p:cNvSpPr/>
          <p:nvPr/>
        </p:nvSpPr>
        <p:spPr>
          <a:xfrm>
            <a:off x="731520" y="4069080"/>
            <a:ext cx="2208276" cy="1737360"/>
          </a:xfrm>
          <a:prstGeom prst="rect">
            <a:avLst/>
          </a:prstGeom>
          <a:noFill/>
        </p:spPr>
        <p:txBody>
          <a:bodyPr wrap="square" lIns="0" tIns="0" rIns="0" bIns="0" rtlCol="0" anchor="ctr"/>
          <a:lstStyle/>
          <a:p>
            <a:pPr marL="0" indent="0" algn="l">
              <a:lnSpc>
                <a:spcPct val="115000"/>
              </a:lnSpc>
              <a:buNone/>
            </a:pPr>
            <a:r>
              <a:rPr lang="en-US" sz="1150" dirty="0">
                <a:solidFill>
                  <a:srgbClr val="222222"/>
                </a:solidFill>
                <a:latin typeface="Calibri" panose="020F0502020204030204" pitchFamily="34" charset="0"/>
                <a:ea typeface="Calibri" panose="020F0502020204030204" pitchFamily="34" charset="-122"/>
                <a:cs typeface="Calibri" panose="020F0502020204030204" pitchFamily="34" charset="-120"/>
              </a:rPr>
              <a:t>All-or-nothing. A transaction either fully applies, or none of it does — no partial orders.</a:t>
            </a:r>
            <a:endParaRPr lang="en-US" sz="1150" dirty="0"/>
          </a:p>
        </p:txBody>
      </p:sp>
      <p:sp>
        <p:nvSpPr>
          <p:cNvPr id="10" name="Shape 8"/>
          <p:cNvSpPr/>
          <p:nvPr/>
        </p:nvSpPr>
        <p:spPr>
          <a:xfrm>
            <a:off x="3378708" y="2286000"/>
            <a:ext cx="2574036" cy="3657600"/>
          </a:xfrm>
          <a:prstGeom prst="roundRect">
            <a:avLst>
              <a:gd name="adj" fmla="val 3552"/>
            </a:avLst>
          </a:prstGeom>
          <a:solidFill>
            <a:srgbClr val="F0F3FA"/>
          </a:solidFill>
        </p:spPr>
      </p:sp>
      <p:sp>
        <p:nvSpPr>
          <p:cNvPr id="11" name="Shape 9"/>
          <p:cNvSpPr/>
          <p:nvPr/>
        </p:nvSpPr>
        <p:spPr>
          <a:xfrm>
            <a:off x="4254246" y="2606040"/>
            <a:ext cx="822960" cy="822960"/>
          </a:xfrm>
          <a:prstGeom prst="ellipse">
            <a:avLst/>
          </a:prstGeom>
          <a:solidFill>
            <a:srgbClr val="1E2761"/>
          </a:solidFill>
        </p:spPr>
      </p:sp>
      <p:sp>
        <p:nvSpPr>
          <p:cNvPr id="12" name="Text 10"/>
          <p:cNvSpPr/>
          <p:nvPr/>
        </p:nvSpPr>
        <p:spPr>
          <a:xfrm>
            <a:off x="4254246" y="26060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t>
            </a:r>
            <a:endParaRPr lang="en-US" sz="2200" dirty="0"/>
          </a:p>
        </p:txBody>
      </p:sp>
      <p:sp>
        <p:nvSpPr>
          <p:cNvPr id="13" name="Text 11"/>
          <p:cNvSpPr/>
          <p:nvPr/>
        </p:nvSpPr>
        <p:spPr>
          <a:xfrm>
            <a:off x="3515868" y="3611880"/>
            <a:ext cx="2299716" cy="365760"/>
          </a:xfrm>
          <a:prstGeom prst="rect">
            <a:avLst/>
          </a:prstGeom>
          <a:noFill/>
        </p:spPr>
        <p:txBody>
          <a:bodyPr wrap="square" lIns="0" tIns="0" rIns="0" bIns="0" rtlCol="0" anchor="ctr"/>
          <a:lstStyle/>
          <a:p>
            <a:pPr marL="0" indent="0" algn="ctr">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Consistency</a:t>
            </a:r>
            <a:endParaRPr lang="en-US" sz="1500" dirty="0"/>
          </a:p>
        </p:txBody>
      </p:sp>
      <p:sp>
        <p:nvSpPr>
          <p:cNvPr id="14" name="Text 12"/>
          <p:cNvSpPr/>
          <p:nvPr/>
        </p:nvSpPr>
        <p:spPr>
          <a:xfrm>
            <a:off x="3561588" y="4069080"/>
            <a:ext cx="2208276" cy="1737360"/>
          </a:xfrm>
          <a:prstGeom prst="rect">
            <a:avLst/>
          </a:prstGeom>
          <a:noFill/>
        </p:spPr>
        <p:txBody>
          <a:bodyPr wrap="square" lIns="0" tIns="0" rIns="0" bIns="0" rtlCol="0" anchor="ctr"/>
          <a:lstStyle/>
          <a:p>
            <a:pPr marL="0" indent="0" algn="l">
              <a:lnSpc>
                <a:spcPct val="115000"/>
              </a:lnSpc>
              <a:buNone/>
            </a:pPr>
            <a:r>
              <a:rPr lang="en-US" sz="1150" dirty="0">
                <a:solidFill>
                  <a:srgbClr val="222222"/>
                </a:solidFill>
                <a:latin typeface="Calibri" panose="020F0502020204030204" pitchFamily="34" charset="0"/>
                <a:ea typeface="Calibri" panose="020F0502020204030204" pitchFamily="34" charset="-122"/>
                <a:cs typeface="Calibri" panose="020F0502020204030204" pitchFamily="34" charset="-120"/>
              </a:rPr>
              <a:t>Valid state to valid state. Every constraint (FK, CHECK, UNIQUE) still holds after commit.</a:t>
            </a:r>
            <a:endParaRPr lang="en-US" sz="1150" dirty="0"/>
          </a:p>
        </p:txBody>
      </p:sp>
      <p:sp>
        <p:nvSpPr>
          <p:cNvPr id="15" name="Shape 13"/>
          <p:cNvSpPr/>
          <p:nvPr/>
        </p:nvSpPr>
        <p:spPr>
          <a:xfrm>
            <a:off x="6208776" y="2286000"/>
            <a:ext cx="2574036" cy="3657600"/>
          </a:xfrm>
          <a:prstGeom prst="roundRect">
            <a:avLst>
              <a:gd name="adj" fmla="val 3552"/>
            </a:avLst>
          </a:prstGeom>
          <a:solidFill>
            <a:srgbClr val="F0F3FA"/>
          </a:solidFill>
        </p:spPr>
      </p:sp>
      <p:sp>
        <p:nvSpPr>
          <p:cNvPr id="16" name="Shape 14"/>
          <p:cNvSpPr/>
          <p:nvPr/>
        </p:nvSpPr>
        <p:spPr>
          <a:xfrm>
            <a:off x="7084314" y="2606040"/>
            <a:ext cx="822960" cy="822960"/>
          </a:xfrm>
          <a:prstGeom prst="ellipse">
            <a:avLst/>
          </a:prstGeom>
          <a:solidFill>
            <a:srgbClr val="1E2761"/>
          </a:solidFill>
        </p:spPr>
      </p:sp>
      <p:sp>
        <p:nvSpPr>
          <p:cNvPr id="17" name="Text 15"/>
          <p:cNvSpPr/>
          <p:nvPr/>
        </p:nvSpPr>
        <p:spPr>
          <a:xfrm>
            <a:off x="7084314" y="26060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I</a:t>
            </a:r>
            <a:endParaRPr lang="en-US" sz="2200" dirty="0"/>
          </a:p>
        </p:txBody>
      </p:sp>
      <p:sp>
        <p:nvSpPr>
          <p:cNvPr id="18" name="Text 16"/>
          <p:cNvSpPr/>
          <p:nvPr/>
        </p:nvSpPr>
        <p:spPr>
          <a:xfrm>
            <a:off x="6345936" y="3611880"/>
            <a:ext cx="2299716" cy="365760"/>
          </a:xfrm>
          <a:prstGeom prst="rect">
            <a:avLst/>
          </a:prstGeom>
          <a:noFill/>
        </p:spPr>
        <p:txBody>
          <a:bodyPr wrap="square" lIns="0" tIns="0" rIns="0" bIns="0" rtlCol="0" anchor="ctr"/>
          <a:lstStyle/>
          <a:p>
            <a:pPr marL="0" indent="0" algn="ctr">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Isolation</a:t>
            </a:r>
            <a:endParaRPr lang="en-US" sz="1500" dirty="0"/>
          </a:p>
        </p:txBody>
      </p:sp>
      <p:sp>
        <p:nvSpPr>
          <p:cNvPr id="19" name="Text 17"/>
          <p:cNvSpPr/>
          <p:nvPr/>
        </p:nvSpPr>
        <p:spPr>
          <a:xfrm>
            <a:off x="6391656" y="4069080"/>
            <a:ext cx="2208276" cy="1737360"/>
          </a:xfrm>
          <a:prstGeom prst="rect">
            <a:avLst/>
          </a:prstGeom>
          <a:noFill/>
        </p:spPr>
        <p:txBody>
          <a:bodyPr wrap="square" lIns="0" tIns="0" rIns="0" bIns="0" rtlCol="0" anchor="ctr"/>
          <a:lstStyle/>
          <a:p>
            <a:pPr marL="0" indent="0" algn="l">
              <a:lnSpc>
                <a:spcPct val="115000"/>
              </a:lnSpc>
              <a:buNone/>
            </a:pPr>
            <a:r>
              <a:rPr lang="en-US" sz="1150" dirty="0">
                <a:solidFill>
                  <a:srgbClr val="222222"/>
                </a:solidFill>
                <a:latin typeface="Calibri" panose="020F0502020204030204" pitchFamily="34" charset="0"/>
                <a:ea typeface="Calibri" panose="020F0502020204030204" pitchFamily="34" charset="-122"/>
                <a:cs typeface="Calibri" panose="020F0502020204030204" pitchFamily="34" charset="-120"/>
              </a:rPr>
              <a:t>Concurrent transactions don't see each other's half-finished work (levels vary — see Module 3.5).</a:t>
            </a:r>
            <a:endParaRPr lang="en-US" sz="1150" dirty="0"/>
          </a:p>
        </p:txBody>
      </p:sp>
      <p:sp>
        <p:nvSpPr>
          <p:cNvPr id="20" name="Shape 18"/>
          <p:cNvSpPr/>
          <p:nvPr/>
        </p:nvSpPr>
        <p:spPr>
          <a:xfrm>
            <a:off x="9038844" y="2286000"/>
            <a:ext cx="2574036" cy="3657600"/>
          </a:xfrm>
          <a:prstGeom prst="roundRect">
            <a:avLst>
              <a:gd name="adj" fmla="val 3552"/>
            </a:avLst>
          </a:prstGeom>
          <a:solidFill>
            <a:srgbClr val="F0F3FA"/>
          </a:solidFill>
        </p:spPr>
      </p:sp>
      <p:sp>
        <p:nvSpPr>
          <p:cNvPr id="21" name="Shape 19"/>
          <p:cNvSpPr/>
          <p:nvPr/>
        </p:nvSpPr>
        <p:spPr>
          <a:xfrm>
            <a:off x="9914382" y="2606040"/>
            <a:ext cx="822960" cy="822960"/>
          </a:xfrm>
          <a:prstGeom prst="ellipse">
            <a:avLst/>
          </a:prstGeom>
          <a:solidFill>
            <a:srgbClr val="1E2761"/>
          </a:solidFill>
        </p:spPr>
      </p:sp>
      <p:sp>
        <p:nvSpPr>
          <p:cNvPr id="22" name="Text 20"/>
          <p:cNvSpPr/>
          <p:nvPr/>
        </p:nvSpPr>
        <p:spPr>
          <a:xfrm>
            <a:off x="9914382" y="2606040"/>
            <a:ext cx="822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
            </a:r>
            <a:endParaRPr lang="en-US" sz="2200" dirty="0"/>
          </a:p>
        </p:txBody>
      </p:sp>
      <p:sp>
        <p:nvSpPr>
          <p:cNvPr id="23" name="Text 21"/>
          <p:cNvSpPr/>
          <p:nvPr/>
        </p:nvSpPr>
        <p:spPr>
          <a:xfrm>
            <a:off x="9176004" y="3611880"/>
            <a:ext cx="2299716" cy="365760"/>
          </a:xfrm>
          <a:prstGeom prst="rect">
            <a:avLst/>
          </a:prstGeom>
          <a:noFill/>
        </p:spPr>
        <p:txBody>
          <a:bodyPr wrap="square" lIns="0" tIns="0" rIns="0" bIns="0" rtlCol="0" anchor="ctr"/>
          <a:lstStyle/>
          <a:p>
            <a:pPr marL="0" indent="0" algn="ctr">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Durability</a:t>
            </a:r>
            <a:endParaRPr lang="en-US" sz="1500" dirty="0"/>
          </a:p>
        </p:txBody>
      </p:sp>
      <p:sp>
        <p:nvSpPr>
          <p:cNvPr id="24" name="Text 22"/>
          <p:cNvSpPr/>
          <p:nvPr/>
        </p:nvSpPr>
        <p:spPr>
          <a:xfrm>
            <a:off x="9221724" y="4069080"/>
            <a:ext cx="2208276" cy="1737360"/>
          </a:xfrm>
          <a:prstGeom prst="rect">
            <a:avLst/>
          </a:prstGeom>
          <a:noFill/>
        </p:spPr>
        <p:txBody>
          <a:bodyPr wrap="square" lIns="0" tIns="0" rIns="0" bIns="0" rtlCol="0" anchor="ctr"/>
          <a:lstStyle/>
          <a:p>
            <a:pPr marL="0" indent="0" algn="l">
              <a:lnSpc>
                <a:spcPct val="115000"/>
              </a:lnSpc>
              <a:buNone/>
            </a:pPr>
            <a:r>
              <a:rPr lang="en-US" sz="1150" dirty="0">
                <a:solidFill>
                  <a:srgbClr val="222222"/>
                </a:solidFill>
                <a:latin typeface="Calibri" panose="020F0502020204030204" pitchFamily="34" charset="0"/>
                <a:ea typeface="Calibri" panose="020F0502020204030204" pitchFamily="34" charset="-122"/>
                <a:cs typeface="Calibri" panose="020F0502020204030204" pitchFamily="34" charset="-120"/>
              </a:rPr>
              <a:t>Once committed, it survives a crash — guaranteed by the write-ahead/redo log.</a:t>
            </a:r>
            <a:endParaRPr lang="en-US" sz="1150" dirty="0"/>
          </a:p>
        </p:txBody>
      </p:sp>
      <p:sp>
        <p:nvSpPr>
          <p:cNvPr id="25" name="Text 23"/>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26" name="Text 24"/>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1.4</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Transactions — MySQL vs. SQL Server Syntax</a:t>
            </a:r>
            <a:endParaRPr lang="en-US" sz="3000" dirty="0"/>
          </a:p>
        </p:txBody>
      </p:sp>
      <p:sp>
        <p:nvSpPr>
          <p:cNvPr id="4" name="Text 2"/>
          <p:cNvSpPr/>
          <p:nvPr/>
        </p:nvSpPr>
        <p:spPr>
          <a:xfrm>
            <a:off x="548640" y="1691640"/>
            <a:ext cx="5394960" cy="320040"/>
          </a:xfrm>
          <a:prstGeom prst="rect">
            <a:avLst/>
          </a:prstGeom>
          <a:noFill/>
        </p:spPr>
        <p:txBody>
          <a:bodyPr wrap="square" lIns="0" tIns="0" rIns="0" bIns="0" rtlCol="0" anchor="ctr"/>
          <a:lstStyle/>
          <a:p>
            <a:pPr marL="0" indent="0">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MySQL Workbench</a:t>
            </a:r>
            <a:endParaRPr lang="en-US" sz="1500" dirty="0"/>
          </a:p>
        </p:txBody>
      </p:sp>
      <p:sp>
        <p:nvSpPr>
          <p:cNvPr id="5" name="Shape 3"/>
          <p:cNvSpPr/>
          <p:nvPr/>
        </p:nvSpPr>
        <p:spPr>
          <a:xfrm>
            <a:off x="548640" y="2057400"/>
            <a:ext cx="5394960" cy="1920240"/>
          </a:xfrm>
          <a:prstGeom prst="roundRect">
            <a:avLst>
              <a:gd name="adj" fmla="val 3810"/>
            </a:avLst>
          </a:prstGeom>
          <a:solidFill>
            <a:srgbClr val="10163A"/>
          </a:solidFill>
          <a:effectLst>
            <a:outerShdw blurRad="76200" dist="25400" dir="5400000" algn="bl" rotWithShape="0">
              <a:srgbClr val="000000">
                <a:alpha val="25000"/>
              </a:srgbClr>
            </a:outerShdw>
          </a:effectLst>
        </p:spPr>
      </p:sp>
      <p:sp>
        <p:nvSpPr>
          <p:cNvPr id="6" name="Text 4"/>
          <p:cNvSpPr/>
          <p:nvPr/>
        </p:nvSpPr>
        <p:spPr>
          <a:xfrm>
            <a:off x="777240" y="2240280"/>
            <a:ext cx="4937760" cy="155448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START TRANSACTION;</a:t>
            </a:r>
            <a:endParaRPr lang="en-US" sz="1300" dirty="0"/>
          </a:p>
          <a:p>
            <a:pPr marL="0" indent="0" algn="l">
              <a:lnSpc>
                <a:spcPct val="115000"/>
              </a:lnSpc>
              <a:buNone/>
            </a:pP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UPDATE orders</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SET status = 'completed'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WHERE order_id = 501;</a:t>
            </a:r>
            <a:endParaRPr lang="en-US" sz="1300" dirty="0"/>
          </a:p>
          <a:p>
            <a:pPr marL="0" indent="0" algn="l">
              <a:lnSpc>
                <a:spcPct val="115000"/>
              </a:lnSpc>
              <a:buNone/>
            </a:pP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COMMIT;</a:t>
            </a:r>
            <a:endParaRPr lang="en-US" sz="1300" dirty="0"/>
          </a:p>
        </p:txBody>
      </p:sp>
      <p:sp>
        <p:nvSpPr>
          <p:cNvPr id="7" name="Text 5"/>
          <p:cNvSpPr/>
          <p:nvPr/>
        </p:nvSpPr>
        <p:spPr>
          <a:xfrm>
            <a:off x="6217920" y="1691640"/>
            <a:ext cx="5394960" cy="320040"/>
          </a:xfrm>
          <a:prstGeom prst="rect">
            <a:avLst/>
          </a:prstGeom>
          <a:noFill/>
        </p:spPr>
        <p:txBody>
          <a:bodyPr wrap="square" lIns="0" tIns="0" rIns="0" bIns="0" rtlCol="0" anchor="ctr"/>
          <a:lstStyle/>
          <a:p>
            <a:pPr marL="0" indent="0">
              <a:buNone/>
            </a:pPr>
            <a:r>
              <a:rPr lang="en-US" sz="1500" b="1" dirty="0">
                <a:solidFill>
                  <a:srgbClr val="1E2761"/>
                </a:solidFill>
                <a:latin typeface="Cambria" panose="02040503050406030204" pitchFamily="34" charset="0"/>
                <a:ea typeface="Cambria" panose="02040503050406030204" pitchFamily="34" charset="-122"/>
                <a:cs typeface="Cambria" panose="02040503050406030204" pitchFamily="34" charset="-120"/>
              </a:rPr>
              <a:t>SQL Server (SSMS)</a:t>
            </a:r>
            <a:endParaRPr lang="en-US" sz="1500" dirty="0"/>
          </a:p>
        </p:txBody>
      </p:sp>
      <p:sp>
        <p:nvSpPr>
          <p:cNvPr id="8" name="Shape 6"/>
          <p:cNvSpPr/>
          <p:nvPr/>
        </p:nvSpPr>
        <p:spPr>
          <a:xfrm>
            <a:off x="6217920" y="2057400"/>
            <a:ext cx="5394960" cy="1920240"/>
          </a:xfrm>
          <a:prstGeom prst="roundRect">
            <a:avLst>
              <a:gd name="adj" fmla="val 3810"/>
            </a:avLst>
          </a:prstGeom>
          <a:solidFill>
            <a:srgbClr val="10163A"/>
          </a:solidFill>
          <a:effectLst>
            <a:outerShdw blurRad="76200" dist="25400" dir="5400000" algn="bl" rotWithShape="0">
              <a:srgbClr val="000000">
                <a:alpha val="25000"/>
              </a:srgbClr>
            </a:outerShdw>
          </a:effectLst>
        </p:spPr>
      </p:sp>
      <p:sp>
        <p:nvSpPr>
          <p:cNvPr id="9" name="Text 7"/>
          <p:cNvSpPr/>
          <p:nvPr/>
        </p:nvSpPr>
        <p:spPr>
          <a:xfrm>
            <a:off x="6446520" y="2240280"/>
            <a:ext cx="4937760" cy="155448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BEGIN TRANSACTION;</a:t>
            </a:r>
            <a:endParaRPr lang="en-US" sz="1300" dirty="0"/>
          </a:p>
          <a:p>
            <a:pPr marL="0" indent="0" algn="l">
              <a:lnSpc>
                <a:spcPct val="115000"/>
              </a:lnSpc>
              <a:buNone/>
            </a:pP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UPDATE orders</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SET status = 'completed'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WHERE order_id = 501;</a:t>
            </a:r>
            <a:endParaRPr lang="en-US" sz="1300" dirty="0"/>
          </a:p>
          <a:p>
            <a:pPr marL="0" indent="0" algn="l">
              <a:lnSpc>
                <a:spcPct val="115000"/>
              </a:lnSpc>
              <a:buNone/>
            </a:pP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COMMIT TRANSACTION;</a:t>
            </a:r>
            <a:endParaRPr lang="en-US" sz="1300" dirty="0"/>
          </a:p>
        </p:txBody>
      </p:sp>
      <p:sp>
        <p:nvSpPr>
          <p:cNvPr id="10" name="Shape 8"/>
          <p:cNvSpPr/>
          <p:nvPr/>
        </p:nvSpPr>
        <p:spPr>
          <a:xfrm>
            <a:off x="548640" y="4206240"/>
            <a:ext cx="11064240" cy="2240280"/>
          </a:xfrm>
          <a:prstGeom prst="roundRect">
            <a:avLst>
              <a:gd name="adj" fmla="val 3265"/>
            </a:avLst>
          </a:prstGeom>
          <a:solidFill>
            <a:srgbClr val="F0F3FA"/>
          </a:solidFill>
        </p:spPr>
      </p:sp>
      <p:sp>
        <p:nvSpPr>
          <p:cNvPr id="11" name="Text 9"/>
          <p:cNvSpPr/>
          <p:nvPr/>
        </p:nvSpPr>
        <p:spPr>
          <a:xfrm>
            <a:off x="777240" y="434340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12" name="Text 10"/>
          <p:cNvSpPr/>
          <p:nvPr/>
        </p:nvSpPr>
        <p:spPr>
          <a:xfrm>
            <a:off x="777240" y="4663440"/>
            <a:ext cx="10607040" cy="164592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Both engines default to autocommit ON: every standalone statement is implicitly its own transaction unless you explicitly START/BEGIN one. This is why a single UPDATE outside a transaction block is already atomic and durable on its own — you only need explicit transactions when multiple statements must succeed or fail together (e.g., debit one account, credit another, both or neither).</a:t>
            </a:r>
            <a:endParaRPr lang="en-US" sz="1300" dirty="0"/>
          </a:p>
        </p:txBody>
      </p:sp>
      <p:sp>
        <p:nvSpPr>
          <p:cNvPr id="13" name="Text 11"/>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14" name="Text 12"/>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1.5</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Filtering &amp; Aggregation — Execution Order Matters</a:t>
            </a:r>
            <a:endParaRPr lang="en-US" sz="3000" dirty="0"/>
          </a:p>
        </p:txBody>
      </p:sp>
      <p:sp>
        <p:nvSpPr>
          <p:cNvPr id="4" name="Shape 2"/>
          <p:cNvSpPr/>
          <p:nvPr/>
        </p:nvSpPr>
        <p:spPr>
          <a:xfrm>
            <a:off x="548640" y="2011680"/>
            <a:ext cx="1691640" cy="1371600"/>
          </a:xfrm>
          <a:prstGeom prst="roundRect">
            <a:avLst>
              <a:gd name="adj" fmla="val 6000"/>
            </a:avLst>
          </a:prstGeom>
          <a:solidFill>
            <a:srgbClr val="1E2761"/>
          </a:solidFill>
        </p:spPr>
      </p:sp>
      <p:sp>
        <p:nvSpPr>
          <p:cNvPr id="5" name="Text 3"/>
          <p:cNvSpPr/>
          <p:nvPr/>
        </p:nvSpPr>
        <p:spPr>
          <a:xfrm>
            <a:off x="658368" y="2103120"/>
            <a:ext cx="1472184" cy="365760"/>
          </a:xfrm>
          <a:prstGeom prst="rect">
            <a:avLst/>
          </a:prstGeom>
          <a:noFill/>
        </p:spPr>
        <p:txBody>
          <a:bodyPr wrap="square" lIns="0" tIns="0" rIns="0" bIns="0" rtlCol="0" anchor="ctr"/>
          <a:lstStyle/>
          <a:p>
            <a:pPr marL="0" indent="0">
              <a:buNone/>
            </a:pPr>
            <a:r>
              <a:rPr lang="en-US" sz="1600" b="1" dirty="0">
                <a:solidFill>
                  <a:srgbClr val="5D71C4"/>
                </a:solidFill>
                <a:latin typeface="Cambria" panose="02040503050406030204" pitchFamily="34" charset="0"/>
                <a:ea typeface="Cambria" panose="02040503050406030204" pitchFamily="34" charset="-122"/>
                <a:cs typeface="Cambria" panose="02040503050406030204" pitchFamily="34" charset="-120"/>
              </a:rPr>
              <a:t>1</a:t>
            </a:r>
            <a:endParaRPr lang="en-US" sz="1600" dirty="0"/>
          </a:p>
        </p:txBody>
      </p:sp>
      <p:sp>
        <p:nvSpPr>
          <p:cNvPr id="6" name="Text 4"/>
          <p:cNvSpPr/>
          <p:nvPr/>
        </p:nvSpPr>
        <p:spPr>
          <a:xfrm>
            <a:off x="640080" y="2514600"/>
            <a:ext cx="1508760" cy="548640"/>
          </a:xfrm>
          <a:prstGeom prst="rect">
            <a:avLst/>
          </a:prstGeom>
          <a:noFill/>
        </p:spPr>
        <p:txBody>
          <a:bodyPr wrap="square" lIns="0" tIns="0" rIns="0" bIns="0" rtlCol="0" anchor="ctr"/>
          <a:lstStyle/>
          <a:p>
            <a:pPr marL="0" indent="0" algn="ctr">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a:t>
            </a:r>
            <a:endParaRPr lang="en-US" sz="1450" dirty="0"/>
          </a:p>
        </p:txBody>
      </p:sp>
      <p:sp>
        <p:nvSpPr>
          <p:cNvPr id="7" name="Text 5"/>
          <p:cNvSpPr/>
          <p:nvPr/>
        </p:nvSpPr>
        <p:spPr>
          <a:xfrm>
            <a:off x="2114042" y="2510155"/>
            <a:ext cx="457200" cy="457200"/>
          </a:xfrm>
          <a:prstGeom prst="rect">
            <a:avLst/>
          </a:prstGeom>
          <a:noFill/>
        </p:spPr>
        <p:txBody>
          <a:bodyPr wrap="square" lIns="0" tIns="0" rIns="0" bIns="0"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8" name="Shape 6"/>
          <p:cNvSpPr/>
          <p:nvPr/>
        </p:nvSpPr>
        <p:spPr>
          <a:xfrm>
            <a:off x="2423160" y="2011680"/>
            <a:ext cx="1691640" cy="1371600"/>
          </a:xfrm>
          <a:prstGeom prst="roundRect">
            <a:avLst>
              <a:gd name="adj" fmla="val 6000"/>
            </a:avLst>
          </a:prstGeom>
          <a:solidFill>
            <a:srgbClr val="1E2761"/>
          </a:solidFill>
        </p:spPr>
      </p:sp>
      <p:sp>
        <p:nvSpPr>
          <p:cNvPr id="9" name="Text 7"/>
          <p:cNvSpPr/>
          <p:nvPr/>
        </p:nvSpPr>
        <p:spPr>
          <a:xfrm>
            <a:off x="2532888" y="2103120"/>
            <a:ext cx="1472184" cy="365760"/>
          </a:xfrm>
          <a:prstGeom prst="rect">
            <a:avLst/>
          </a:prstGeom>
          <a:noFill/>
        </p:spPr>
        <p:txBody>
          <a:bodyPr wrap="square" lIns="0" tIns="0" rIns="0" bIns="0" rtlCol="0" anchor="ctr"/>
          <a:lstStyle/>
          <a:p>
            <a:pPr marL="0" indent="0">
              <a:buNone/>
            </a:pPr>
            <a:r>
              <a:rPr lang="en-US" sz="1600" b="1" dirty="0">
                <a:solidFill>
                  <a:srgbClr val="5D71C4"/>
                </a:solidFill>
                <a:latin typeface="Cambria" panose="02040503050406030204" pitchFamily="34" charset="0"/>
                <a:ea typeface="Cambria" panose="02040503050406030204" pitchFamily="34" charset="-122"/>
                <a:cs typeface="Cambria" panose="02040503050406030204" pitchFamily="34" charset="-120"/>
              </a:rPr>
              <a:t>2</a:t>
            </a:r>
            <a:endParaRPr lang="en-US" sz="1600" dirty="0"/>
          </a:p>
        </p:txBody>
      </p:sp>
      <p:sp>
        <p:nvSpPr>
          <p:cNvPr id="10" name="Text 8"/>
          <p:cNvSpPr/>
          <p:nvPr/>
        </p:nvSpPr>
        <p:spPr>
          <a:xfrm>
            <a:off x="2514600" y="2514600"/>
            <a:ext cx="1508760" cy="548640"/>
          </a:xfrm>
          <a:prstGeom prst="rect">
            <a:avLst/>
          </a:prstGeom>
          <a:noFill/>
        </p:spPr>
        <p:txBody>
          <a:bodyPr wrap="square" lIns="0" tIns="0" rIns="0" bIns="0" rtlCol="0" anchor="ctr"/>
          <a:lstStyle/>
          <a:p>
            <a:pPr marL="0" indent="0" algn="ctr">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WHERE</a:t>
            </a:r>
            <a:endParaRPr lang="en-US" sz="1450" dirty="0"/>
          </a:p>
        </p:txBody>
      </p:sp>
      <p:sp>
        <p:nvSpPr>
          <p:cNvPr id="11" name="Text 9"/>
          <p:cNvSpPr/>
          <p:nvPr/>
        </p:nvSpPr>
        <p:spPr>
          <a:xfrm>
            <a:off x="3988562" y="2510155"/>
            <a:ext cx="457200" cy="457200"/>
          </a:xfrm>
          <a:prstGeom prst="rect">
            <a:avLst/>
          </a:prstGeom>
          <a:noFill/>
        </p:spPr>
        <p:txBody>
          <a:bodyPr wrap="square" lIns="0" tIns="0" rIns="0" bIns="0"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2" name="Shape 10"/>
          <p:cNvSpPr/>
          <p:nvPr/>
        </p:nvSpPr>
        <p:spPr>
          <a:xfrm>
            <a:off x="4297680" y="2011680"/>
            <a:ext cx="1691640" cy="1371600"/>
          </a:xfrm>
          <a:prstGeom prst="roundRect">
            <a:avLst>
              <a:gd name="adj" fmla="val 6000"/>
            </a:avLst>
          </a:prstGeom>
          <a:solidFill>
            <a:srgbClr val="1E2761"/>
          </a:solidFill>
        </p:spPr>
      </p:sp>
      <p:sp>
        <p:nvSpPr>
          <p:cNvPr id="13" name="Text 11"/>
          <p:cNvSpPr/>
          <p:nvPr/>
        </p:nvSpPr>
        <p:spPr>
          <a:xfrm>
            <a:off x="4407408" y="2103120"/>
            <a:ext cx="1472184" cy="365760"/>
          </a:xfrm>
          <a:prstGeom prst="rect">
            <a:avLst/>
          </a:prstGeom>
          <a:noFill/>
        </p:spPr>
        <p:txBody>
          <a:bodyPr wrap="square" lIns="0" tIns="0" rIns="0" bIns="0" rtlCol="0" anchor="ctr"/>
          <a:lstStyle/>
          <a:p>
            <a:pPr marL="0" indent="0">
              <a:buNone/>
            </a:pPr>
            <a:r>
              <a:rPr lang="en-US" sz="1600" b="1" dirty="0">
                <a:solidFill>
                  <a:srgbClr val="5D71C4"/>
                </a:solidFill>
                <a:latin typeface="Cambria" panose="02040503050406030204" pitchFamily="34" charset="0"/>
                <a:ea typeface="Cambria" panose="02040503050406030204" pitchFamily="34" charset="-122"/>
                <a:cs typeface="Cambria" panose="02040503050406030204" pitchFamily="34" charset="-120"/>
              </a:rPr>
              <a:t>3</a:t>
            </a:r>
            <a:endParaRPr lang="en-US" sz="1600" dirty="0"/>
          </a:p>
        </p:txBody>
      </p:sp>
      <p:sp>
        <p:nvSpPr>
          <p:cNvPr id="14" name="Text 12"/>
          <p:cNvSpPr/>
          <p:nvPr/>
        </p:nvSpPr>
        <p:spPr>
          <a:xfrm>
            <a:off x="4389120" y="2514600"/>
            <a:ext cx="1508760" cy="548640"/>
          </a:xfrm>
          <a:prstGeom prst="rect">
            <a:avLst/>
          </a:prstGeom>
          <a:noFill/>
        </p:spPr>
        <p:txBody>
          <a:bodyPr wrap="square" lIns="0" tIns="0" rIns="0" bIns="0" rtlCol="0" anchor="ctr"/>
          <a:lstStyle/>
          <a:p>
            <a:pPr marL="0" indent="0" algn="ctr">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GROUP BY</a:t>
            </a:r>
            <a:endParaRPr lang="en-US" sz="1450" dirty="0"/>
          </a:p>
        </p:txBody>
      </p:sp>
      <p:sp>
        <p:nvSpPr>
          <p:cNvPr id="15" name="Text 13"/>
          <p:cNvSpPr/>
          <p:nvPr/>
        </p:nvSpPr>
        <p:spPr>
          <a:xfrm>
            <a:off x="5863082" y="2510155"/>
            <a:ext cx="457200" cy="457200"/>
          </a:xfrm>
          <a:prstGeom prst="rect">
            <a:avLst/>
          </a:prstGeom>
          <a:noFill/>
        </p:spPr>
        <p:txBody>
          <a:bodyPr wrap="square" lIns="0" tIns="0" rIns="0" bIns="0"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6" name="Shape 14"/>
          <p:cNvSpPr/>
          <p:nvPr/>
        </p:nvSpPr>
        <p:spPr>
          <a:xfrm>
            <a:off x="6172200" y="2011680"/>
            <a:ext cx="1691640" cy="1371600"/>
          </a:xfrm>
          <a:prstGeom prst="roundRect">
            <a:avLst>
              <a:gd name="adj" fmla="val 6000"/>
            </a:avLst>
          </a:prstGeom>
          <a:solidFill>
            <a:srgbClr val="E3A008"/>
          </a:solidFill>
        </p:spPr>
      </p:sp>
      <p:sp>
        <p:nvSpPr>
          <p:cNvPr id="17" name="Text 15"/>
          <p:cNvSpPr/>
          <p:nvPr/>
        </p:nvSpPr>
        <p:spPr>
          <a:xfrm>
            <a:off x="6281928" y="2103120"/>
            <a:ext cx="1472184" cy="365760"/>
          </a:xfrm>
          <a:prstGeom prst="rect">
            <a:avLst/>
          </a:prstGeom>
          <a:noFill/>
        </p:spPr>
        <p:txBody>
          <a:bodyPr wrap="square" lIns="0" tIns="0" rIns="0" bIns="0" rtlCol="0" anchor="ctr"/>
          <a:lstStyle/>
          <a:p>
            <a:pPr marL="0" indent="0">
              <a:buNone/>
            </a:pPr>
            <a:r>
              <a:rPr lang="en-US" sz="1600" b="1" dirty="0">
                <a:solidFill>
                  <a:srgbClr val="1E2761"/>
                </a:solidFill>
                <a:latin typeface="Cambria" panose="02040503050406030204" pitchFamily="34" charset="0"/>
                <a:ea typeface="Cambria" panose="02040503050406030204" pitchFamily="34" charset="-122"/>
                <a:cs typeface="Cambria" panose="02040503050406030204" pitchFamily="34" charset="-120"/>
              </a:rPr>
              <a:t>4</a:t>
            </a:r>
            <a:endParaRPr lang="en-US" sz="1600" dirty="0"/>
          </a:p>
        </p:txBody>
      </p:sp>
      <p:sp>
        <p:nvSpPr>
          <p:cNvPr id="18" name="Text 16"/>
          <p:cNvSpPr/>
          <p:nvPr/>
        </p:nvSpPr>
        <p:spPr>
          <a:xfrm>
            <a:off x="6263640" y="2514600"/>
            <a:ext cx="1508760" cy="548640"/>
          </a:xfrm>
          <a:prstGeom prst="rect">
            <a:avLst/>
          </a:prstGeom>
          <a:noFill/>
        </p:spPr>
        <p:txBody>
          <a:bodyPr wrap="square" lIns="0" tIns="0" rIns="0" bIns="0" rtlCol="0" anchor="ctr"/>
          <a:lstStyle/>
          <a:p>
            <a:pPr marL="0" indent="0" algn="ctr">
              <a:buNone/>
            </a:pPr>
            <a:r>
              <a:rPr lang="en-US" sz="1450" b="1" dirty="0">
                <a:solidFill>
                  <a:srgbClr val="1E2761"/>
                </a:solidFill>
                <a:latin typeface="Cambria" panose="02040503050406030204" pitchFamily="34" charset="0"/>
                <a:ea typeface="Cambria" panose="02040503050406030204" pitchFamily="34" charset="-122"/>
                <a:cs typeface="Cambria" panose="02040503050406030204" pitchFamily="34" charset="-120"/>
              </a:rPr>
              <a:t>HAVING</a:t>
            </a:r>
            <a:endParaRPr lang="en-US" sz="1450" dirty="0"/>
          </a:p>
        </p:txBody>
      </p:sp>
      <p:sp>
        <p:nvSpPr>
          <p:cNvPr id="19" name="Text 17"/>
          <p:cNvSpPr/>
          <p:nvPr/>
        </p:nvSpPr>
        <p:spPr>
          <a:xfrm>
            <a:off x="7737602" y="2510155"/>
            <a:ext cx="457200" cy="457200"/>
          </a:xfrm>
          <a:prstGeom prst="rect">
            <a:avLst/>
          </a:prstGeom>
          <a:noFill/>
        </p:spPr>
        <p:txBody>
          <a:bodyPr wrap="square" lIns="0" tIns="0" rIns="0" bIns="0"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0" name="Shape 18"/>
          <p:cNvSpPr/>
          <p:nvPr/>
        </p:nvSpPr>
        <p:spPr>
          <a:xfrm>
            <a:off x="8046720" y="2011680"/>
            <a:ext cx="1691640" cy="1371600"/>
          </a:xfrm>
          <a:prstGeom prst="roundRect">
            <a:avLst>
              <a:gd name="adj" fmla="val 6000"/>
            </a:avLst>
          </a:prstGeom>
          <a:solidFill>
            <a:srgbClr val="1E2761"/>
          </a:solidFill>
        </p:spPr>
      </p:sp>
      <p:sp>
        <p:nvSpPr>
          <p:cNvPr id="21" name="Text 19"/>
          <p:cNvSpPr/>
          <p:nvPr/>
        </p:nvSpPr>
        <p:spPr>
          <a:xfrm>
            <a:off x="8156448" y="2103120"/>
            <a:ext cx="1472184" cy="365760"/>
          </a:xfrm>
          <a:prstGeom prst="rect">
            <a:avLst/>
          </a:prstGeom>
          <a:noFill/>
        </p:spPr>
        <p:txBody>
          <a:bodyPr wrap="square" lIns="0" tIns="0" rIns="0" bIns="0" rtlCol="0" anchor="ctr"/>
          <a:lstStyle/>
          <a:p>
            <a:pPr marL="0" indent="0">
              <a:buNone/>
            </a:pPr>
            <a:r>
              <a:rPr lang="en-US" sz="1600" b="1" dirty="0">
                <a:solidFill>
                  <a:srgbClr val="5D71C4"/>
                </a:solidFill>
                <a:latin typeface="Cambria" panose="02040503050406030204" pitchFamily="34" charset="0"/>
                <a:ea typeface="Cambria" panose="02040503050406030204" pitchFamily="34" charset="-122"/>
                <a:cs typeface="Cambria" panose="02040503050406030204" pitchFamily="34" charset="-120"/>
              </a:rPr>
              <a:t>5</a:t>
            </a:r>
            <a:endParaRPr lang="en-US" sz="1600" dirty="0"/>
          </a:p>
        </p:txBody>
      </p:sp>
      <p:sp>
        <p:nvSpPr>
          <p:cNvPr id="22" name="Text 20"/>
          <p:cNvSpPr/>
          <p:nvPr/>
        </p:nvSpPr>
        <p:spPr>
          <a:xfrm>
            <a:off x="8138160" y="2514600"/>
            <a:ext cx="1508760" cy="548640"/>
          </a:xfrm>
          <a:prstGeom prst="rect">
            <a:avLst/>
          </a:prstGeom>
          <a:noFill/>
        </p:spPr>
        <p:txBody>
          <a:bodyPr wrap="square" lIns="0" tIns="0" rIns="0" bIns="0" rtlCol="0" anchor="ctr"/>
          <a:lstStyle/>
          <a:p>
            <a:pPr marL="0" indent="0" algn="ctr">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SELECT</a:t>
            </a:r>
            <a:endParaRPr lang="en-US" sz="1450" dirty="0"/>
          </a:p>
        </p:txBody>
      </p:sp>
      <p:sp>
        <p:nvSpPr>
          <p:cNvPr id="23" name="Text 21"/>
          <p:cNvSpPr/>
          <p:nvPr/>
        </p:nvSpPr>
        <p:spPr>
          <a:xfrm>
            <a:off x="9612122" y="2510155"/>
            <a:ext cx="457200" cy="457200"/>
          </a:xfrm>
          <a:prstGeom prst="rect">
            <a:avLst/>
          </a:prstGeom>
          <a:noFill/>
        </p:spPr>
        <p:txBody>
          <a:bodyPr wrap="square" lIns="0" tIns="0" rIns="0" bIns="0"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4" name="Shape 22"/>
          <p:cNvSpPr/>
          <p:nvPr/>
        </p:nvSpPr>
        <p:spPr>
          <a:xfrm>
            <a:off x="9921240" y="2011680"/>
            <a:ext cx="1691640" cy="1371600"/>
          </a:xfrm>
          <a:prstGeom prst="roundRect">
            <a:avLst>
              <a:gd name="adj" fmla="val 6000"/>
            </a:avLst>
          </a:prstGeom>
          <a:solidFill>
            <a:srgbClr val="1E2761"/>
          </a:solidFill>
        </p:spPr>
      </p:sp>
      <p:sp>
        <p:nvSpPr>
          <p:cNvPr id="25" name="Text 23"/>
          <p:cNvSpPr/>
          <p:nvPr/>
        </p:nvSpPr>
        <p:spPr>
          <a:xfrm>
            <a:off x="10030968" y="2103120"/>
            <a:ext cx="1472184" cy="365760"/>
          </a:xfrm>
          <a:prstGeom prst="rect">
            <a:avLst/>
          </a:prstGeom>
          <a:noFill/>
        </p:spPr>
        <p:txBody>
          <a:bodyPr wrap="square" lIns="0" tIns="0" rIns="0" bIns="0" rtlCol="0" anchor="ctr"/>
          <a:lstStyle/>
          <a:p>
            <a:pPr marL="0" indent="0">
              <a:buNone/>
            </a:pPr>
            <a:r>
              <a:rPr lang="en-US" sz="1600" b="1" dirty="0">
                <a:solidFill>
                  <a:srgbClr val="5D71C4"/>
                </a:solidFill>
                <a:latin typeface="Cambria" panose="02040503050406030204" pitchFamily="34" charset="0"/>
                <a:ea typeface="Cambria" panose="02040503050406030204" pitchFamily="34" charset="-122"/>
                <a:cs typeface="Cambria" panose="02040503050406030204" pitchFamily="34" charset="-120"/>
              </a:rPr>
              <a:t>6</a:t>
            </a:r>
            <a:endParaRPr lang="en-US" sz="1600" dirty="0"/>
          </a:p>
        </p:txBody>
      </p:sp>
      <p:sp>
        <p:nvSpPr>
          <p:cNvPr id="26" name="Text 24"/>
          <p:cNvSpPr/>
          <p:nvPr/>
        </p:nvSpPr>
        <p:spPr>
          <a:xfrm>
            <a:off x="10012680" y="2514600"/>
            <a:ext cx="1508760" cy="548640"/>
          </a:xfrm>
          <a:prstGeom prst="rect">
            <a:avLst/>
          </a:prstGeom>
          <a:noFill/>
        </p:spPr>
        <p:txBody>
          <a:bodyPr wrap="square" lIns="0" tIns="0" rIns="0" bIns="0" rtlCol="0" anchor="ctr"/>
          <a:lstStyle/>
          <a:p>
            <a:pPr marL="0" indent="0" algn="ctr">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ORDER BY</a:t>
            </a:r>
            <a:endParaRPr lang="en-US" sz="1450" dirty="0"/>
          </a:p>
        </p:txBody>
      </p:sp>
      <p:sp>
        <p:nvSpPr>
          <p:cNvPr id="27" name="Shape 25"/>
          <p:cNvSpPr/>
          <p:nvPr/>
        </p:nvSpPr>
        <p:spPr>
          <a:xfrm>
            <a:off x="548640" y="3794760"/>
            <a:ext cx="11064240" cy="2651760"/>
          </a:xfrm>
          <a:prstGeom prst="roundRect">
            <a:avLst>
              <a:gd name="adj" fmla="val 2759"/>
            </a:avLst>
          </a:prstGeom>
          <a:solidFill>
            <a:srgbClr val="F0F3FA"/>
          </a:solidFill>
        </p:spPr>
      </p:sp>
      <p:sp>
        <p:nvSpPr>
          <p:cNvPr id="28" name="Text 26"/>
          <p:cNvSpPr/>
          <p:nvPr/>
        </p:nvSpPr>
        <p:spPr>
          <a:xfrm>
            <a:off x="777240" y="39319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29" name="Text 27"/>
          <p:cNvSpPr/>
          <p:nvPr/>
        </p:nvSpPr>
        <p:spPr>
          <a:xfrm>
            <a:off x="777240" y="4251960"/>
            <a:ext cx="10607040" cy="205740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WHERE runs before any grouping happens — it filters raw rows, and cannot reference an aggregate like SUM(revenue) because that value doesn't exist yet at this stage. HAVING runs after GROUP BY, once aggregates are computed, so it CAN filter on SUM(revenue) &gt; 10000. This single ordering fact explains almost every “why won't my filter work” question a beginner hits with aggregation.</a:t>
            </a:r>
            <a:endParaRPr lang="en-US" sz="1300" dirty="0"/>
          </a:p>
        </p:txBody>
      </p:sp>
      <p:sp>
        <p:nvSpPr>
          <p:cNvPr id="30" name="Text 28"/>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31" name="Text 29"/>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1.5</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Aggregation Internals — Hash vs. Stream</a:t>
            </a:r>
            <a:endParaRPr lang="en-US" sz="3000" dirty="0"/>
          </a:p>
        </p:txBody>
      </p:sp>
      <p:sp>
        <p:nvSpPr>
          <p:cNvPr id="4" name="Shape 2"/>
          <p:cNvSpPr/>
          <p:nvPr/>
        </p:nvSpPr>
        <p:spPr>
          <a:xfrm>
            <a:off x="548640" y="1691640"/>
            <a:ext cx="11064240" cy="2011680"/>
          </a:xfrm>
          <a:prstGeom prst="roundRect">
            <a:avLst>
              <a:gd name="adj" fmla="val 3636"/>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874520"/>
            <a:ext cx="10607040" cy="164592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p.category,</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COUNT(*) AS items_sold,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SUM(oi.quantity * oi.unit_price) AS revenue</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FROM order_items oi</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JOIN products p ON p.product_id = oi.product_id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GROUP BY p.category</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HAVING SUM(oi.quantity * oi.unit_price) &gt; 10000</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ORDER BY revenue DESC;</a:t>
            </a:r>
            <a:endParaRPr lang="en-US" sz="1300" dirty="0"/>
          </a:p>
        </p:txBody>
      </p:sp>
      <p:sp>
        <p:nvSpPr>
          <p:cNvPr id="6" name="Shape 4"/>
          <p:cNvSpPr/>
          <p:nvPr/>
        </p:nvSpPr>
        <p:spPr>
          <a:xfrm>
            <a:off x="548640" y="3886200"/>
            <a:ext cx="11064240" cy="2560320"/>
          </a:xfrm>
          <a:prstGeom prst="roundRect">
            <a:avLst>
              <a:gd name="adj" fmla="val 2857"/>
            </a:avLst>
          </a:prstGeom>
          <a:solidFill>
            <a:srgbClr val="F0F3FA"/>
          </a:solidFill>
        </p:spPr>
      </p:sp>
      <p:sp>
        <p:nvSpPr>
          <p:cNvPr id="7" name="Text 5"/>
          <p:cNvSpPr/>
          <p:nvPr/>
        </p:nvSpPr>
        <p:spPr>
          <a:xfrm>
            <a:off x="777240" y="402336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6"/>
          <p:cNvSpPr/>
          <p:nvPr/>
        </p:nvSpPr>
        <p:spPr>
          <a:xfrm>
            <a:off x="777240" y="4343400"/>
            <a:ext cx="10607040" cy="196596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GROUP BY is implemented one of two ways. Hash aggregation: build an in-memory hash table keyed on category, probe/update it per row — O(n), no sort required. Stream (sort) aggregation: sort rows by category first, then walk the sorted stream summing runs — worthwhile only if an index already delivers rows in that order, since it avoids a separate sort step. The optimizer picks based on whether a usable index exists on the grouping column and on estimated group cardinality versus available memory — you'll see this choice directly in an execution plan starting in Module 3.</a:t>
            </a:r>
            <a:endParaRPr lang="en-US" sz="1300" dirty="0"/>
          </a:p>
        </p:txBody>
      </p:sp>
      <p:sp>
        <p:nvSpPr>
          <p:cNvPr id="9" name="Text 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1 — Relational Foundations, DDL/DML</a:t>
            </a:r>
            <a:endParaRPr lang="en-US" sz="1000" dirty="0"/>
          </a:p>
        </p:txBody>
      </p:sp>
      <p:sp>
        <p:nvSpPr>
          <p:cNvPr id="10" name="Text 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85800"/>
            <a:ext cx="73152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PRACTICAL MILESTONE 1</a:t>
            </a:r>
            <a:endParaRPr lang="en-US" sz="1400" dirty="0"/>
          </a:p>
        </p:txBody>
      </p:sp>
      <p:sp>
        <p:nvSpPr>
          <p:cNvPr id="3" name="Shape 1"/>
          <p:cNvSpPr/>
          <p:nvPr/>
        </p:nvSpPr>
        <p:spPr>
          <a:xfrm>
            <a:off x="640080" y="1371600"/>
            <a:ext cx="10881360" cy="4434840"/>
          </a:xfrm>
          <a:prstGeom prst="roundRect">
            <a:avLst>
              <a:gd name="adj" fmla="val 2474"/>
            </a:avLst>
          </a:prstGeom>
          <a:solidFill>
            <a:srgbClr val="2A3577"/>
          </a:solidFill>
        </p:spPr>
      </p:sp>
      <p:sp>
        <p:nvSpPr>
          <p:cNvPr id="4" name="Text 2"/>
          <p:cNvSpPr/>
          <p:nvPr/>
        </p:nvSpPr>
        <p:spPr>
          <a:xfrm>
            <a:off x="1005840" y="1783080"/>
            <a:ext cx="10058400" cy="640080"/>
          </a:xfrm>
          <a:prstGeom prst="rect">
            <a:avLst/>
          </a:prstGeom>
          <a:noFill/>
        </p:spPr>
        <p:txBody>
          <a:bodyPr wrap="square" lIns="0" tIns="0" rIns="0" bIns="0" rtlCol="0" anchor="ctr"/>
          <a:lstStyle/>
          <a:p>
            <a:pPr marL="0" indent="0">
              <a:buNone/>
            </a:pPr>
            <a:r>
              <a:rPr lang="en-US" sz="2700" b="1" dirty="0">
                <a:solidFill>
                  <a:srgbClr val="FFFFFF"/>
                </a:solidFill>
                <a:latin typeface="Cambria" panose="02040503050406030204" pitchFamily="34" charset="0"/>
                <a:ea typeface="Cambria" panose="02040503050406030204" pitchFamily="34" charset="-122"/>
                <a:cs typeface="Cambria" panose="02040503050406030204" pitchFamily="34" charset="-120"/>
              </a:rPr>
              <a:t>Build the E-Commerce Schema — Twice</a:t>
            </a:r>
            <a:endParaRPr lang="en-US" sz="2700" dirty="0"/>
          </a:p>
        </p:txBody>
      </p:sp>
      <p:sp>
        <p:nvSpPr>
          <p:cNvPr id="5" name="Text 3"/>
          <p:cNvSpPr/>
          <p:nvPr/>
        </p:nvSpPr>
        <p:spPr>
          <a:xfrm>
            <a:off x="1005840" y="2468880"/>
            <a:ext cx="9875520" cy="685800"/>
          </a:xfrm>
          <a:prstGeom prst="rect">
            <a:avLst/>
          </a:prstGeom>
          <a:noFill/>
        </p:spPr>
        <p:txBody>
          <a:bodyPr wrap="square" lIns="0" tIns="0" rIns="0" bIns="0" rtlCol="0" anchor="ctr"/>
          <a:lstStyle/>
          <a:p>
            <a:pPr marL="0" indent="0">
              <a:lnSpc>
                <a:spcPct val="120000"/>
              </a:lnSpc>
              <a:buNone/>
            </a:pPr>
            <a:r>
              <a:rPr lang="en-US" sz="1450" dirty="0">
                <a:solidFill>
                  <a:srgbClr val="CADCFC"/>
                </a:solidFill>
                <a:latin typeface="Calibri" panose="020F0502020204030204" pitchFamily="34" charset="0"/>
                <a:ea typeface="Calibri" panose="020F0502020204030204" pitchFamily="34" charset="-122"/>
                <a:cs typeface="Calibri" panose="020F0502020204030204" pitchFamily="34" charset="-120"/>
              </a:rPr>
              <a:t>Design and populate a normalized schema (users, products, orders, order_items) using only Module 1 constructs — then reproduce it in both engines.</a:t>
            </a:r>
            <a:endParaRPr lang="en-US" sz="1450" dirty="0"/>
          </a:p>
        </p:txBody>
      </p:sp>
      <p:sp>
        <p:nvSpPr>
          <p:cNvPr id="6" name="Text 4"/>
          <p:cNvSpPr/>
          <p:nvPr/>
        </p:nvSpPr>
        <p:spPr>
          <a:xfrm>
            <a:off x="1005840" y="3291840"/>
            <a:ext cx="9692640" cy="2286000"/>
          </a:xfrm>
          <a:prstGeom prst="rect">
            <a:avLst/>
          </a:prstGeom>
          <a:noFill/>
        </p:spPr>
        <p:txBody>
          <a:bodyPr wrap="square" lIns="0" tIns="0" rIns="0" bIns="0" rtlCol="0" anchor="ctr"/>
          <a:lstStyle/>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Normalize to at least 3NF; document your functional dependencies</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Write DDL in both MySQL Workbench and SSMS (T-SQL)</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Populate with representative sample data (including some NULLs)</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Produce 5 business reports: revenue by category, top users, order counts by status, etc.</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Every report must use only SELECT / WHERE / GROUP BY / HAVING / basic JOINs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2011680"/>
            <a:ext cx="73152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UP NEXT</a:t>
            </a:r>
            <a:endParaRPr lang="en-US" sz="1400" dirty="0"/>
          </a:p>
        </p:txBody>
      </p:sp>
      <p:sp>
        <p:nvSpPr>
          <p:cNvPr id="3" name="Text 1"/>
          <p:cNvSpPr/>
          <p:nvPr/>
        </p:nvSpPr>
        <p:spPr>
          <a:xfrm>
            <a:off x="640080" y="2377440"/>
            <a:ext cx="10515600" cy="914400"/>
          </a:xfrm>
          <a:prstGeom prst="rect">
            <a:avLst/>
          </a:prstGeom>
          <a:noFill/>
        </p:spPr>
        <p:txBody>
          <a:bodyPr wrap="square" lIns="0" tIns="0" rIns="0" bIns="0"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Module 2 — Analytical SQL &amp; Data Wrangling</a:t>
            </a:r>
            <a:endParaRPr lang="en-US" sz="3200" dirty="0"/>
          </a:p>
        </p:txBody>
      </p:sp>
      <p:sp>
        <p:nvSpPr>
          <p:cNvPr id="4" name="Text 2"/>
          <p:cNvSpPr/>
          <p:nvPr/>
        </p:nvSpPr>
        <p:spPr>
          <a:xfrm>
            <a:off x="658368" y="3200400"/>
            <a:ext cx="10058400" cy="50292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Join algorithms, recursive CTEs, window functions, and cleaning dirty data for analytics.</a:t>
            </a:r>
            <a:endParaRPr lang="en-US" sz="1600" dirty="0"/>
          </a:p>
        </p:txBody>
      </p:sp>
      <p:sp>
        <p:nvSpPr>
          <p:cNvPr id="5" name="Text 3"/>
          <p:cNvSpPr/>
          <p:nvPr/>
        </p:nvSpPr>
        <p:spPr>
          <a:xfrm>
            <a:off x="658368" y="4846320"/>
            <a:ext cx="10058400" cy="457200"/>
          </a:xfrm>
          <a:prstGeom prst="rect">
            <a:avLst/>
          </a:prstGeom>
          <a:noFill/>
        </p:spPr>
        <p:txBody>
          <a:bodyPr wrap="square" lIns="0" tIns="0" rIns="0" bIns="0" rtlCol="0" anchor="ctr"/>
          <a:lstStyle/>
          <a:p>
            <a:pPr marL="0" indent="0">
              <a:buNone/>
            </a:pPr>
            <a:r>
              <a:rPr lang="en-US" sz="1500" dirty="0">
                <a:solidFill>
                  <a:srgbClr val="9FB3D9"/>
                </a:solidFill>
                <a:latin typeface="Calibri" panose="020F0502020204030204" pitchFamily="34" charset="0"/>
                <a:ea typeface="Calibri" panose="020F0502020204030204" pitchFamily="34" charset="-122"/>
                <a:cs typeface="Calibri" panose="020F0502020204030204" pitchFamily="34" charset="-120"/>
              </a:rPr>
              <a:t>Questions before we move 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13220</Words>
  <Application>WPS Presentation</Application>
  <PresentationFormat>On-screen Show (16:9)</PresentationFormat>
  <Paragraphs>618</Paragraphs>
  <Slides>20</Slides>
  <Notes>20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20</vt:i4>
      </vt:variant>
    </vt:vector>
  </HeadingPairs>
  <TitlesOfParts>
    <vt:vector size="36"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Window</cp:lastModifiedBy>
  <cp:revision>9</cp:revision>
  <dcterms:created xsi:type="dcterms:W3CDTF">2026-08-02T20:13:00Z</dcterms:created>
  <dcterms:modified xsi:type="dcterms:W3CDTF">2026-08-05T20:43:48Z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CB155F7200D54E13B44280A85858B324_12</vt:lpwstr>
  </property>
</Properties>
</file>