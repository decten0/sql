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40080"/>
            <a:ext cx="54864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MODULE 2</a:t>
            </a:r>
            <a:endParaRPr lang="en-US" sz="1400" dirty="0"/>
          </a:p>
        </p:txBody>
      </p:sp>
      <p:sp>
        <p:nvSpPr>
          <p:cNvPr id="3" name="Text 1"/>
          <p:cNvSpPr/>
          <p:nvPr/>
        </p:nvSpPr>
        <p:spPr>
          <a:xfrm>
            <a:off x="640080" y="1005840"/>
            <a:ext cx="10515600" cy="91440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Analytical SQL &amp; Data Wrangling</a:t>
            </a:r>
            <a:endParaRPr lang="en-US" sz="3400" dirty="0"/>
          </a:p>
        </p:txBody>
      </p:sp>
      <p:sp>
        <p:nvSpPr>
          <p:cNvPr id="4" name="Text 2"/>
          <p:cNvSpPr/>
          <p:nvPr/>
        </p:nvSpPr>
        <p:spPr>
          <a:xfrm>
            <a:off x="658368" y="1783080"/>
            <a:ext cx="10058400" cy="457200"/>
          </a:xfrm>
          <a:prstGeom prst="rect">
            <a:avLst/>
          </a:prstGeom>
          <a:noFill/>
        </p:spPr>
        <p:txBody>
          <a:bodyPr wrap="square" lIns="0" tIns="0" rIns="0" bIns="0" rtlCol="0" anchor="ctr"/>
          <a:lstStyle/>
          <a:p>
            <a:pPr marL="0" indent="0">
              <a:buNone/>
            </a:pPr>
            <a:r>
              <a:rPr lang="en-US" sz="1500" i="1" dirty="0">
                <a:solidFill>
                  <a:srgbClr val="CADCFC"/>
                </a:solidFill>
                <a:latin typeface="Calibri" panose="020F0502020204030204" pitchFamily="34" charset="0"/>
                <a:ea typeface="Calibri" panose="020F0502020204030204" pitchFamily="34" charset="-122"/>
                <a:cs typeface="Calibri" panose="020F0502020204030204" pitchFamily="34" charset="-120"/>
              </a:rPr>
              <a:t>Intermediate module — from join mechanics to window functions to production-grade data cleaning.</a:t>
            </a:r>
            <a:endParaRPr lang="en-US" sz="1500" dirty="0"/>
          </a:p>
        </p:txBody>
      </p:sp>
      <p:sp>
        <p:nvSpPr>
          <p:cNvPr id="5" name="Shape 3"/>
          <p:cNvSpPr/>
          <p:nvPr/>
        </p:nvSpPr>
        <p:spPr>
          <a:xfrm>
            <a:off x="640080" y="2514600"/>
            <a:ext cx="5120640" cy="841248"/>
          </a:xfrm>
          <a:prstGeom prst="roundRect">
            <a:avLst>
              <a:gd name="adj" fmla="val 8696"/>
            </a:avLst>
          </a:prstGeom>
          <a:solidFill>
            <a:srgbClr val="2A3577"/>
          </a:solidFill>
        </p:spPr>
      </p:sp>
      <p:sp>
        <p:nvSpPr>
          <p:cNvPr id="6" name="Shape 4"/>
          <p:cNvSpPr/>
          <p:nvPr/>
        </p:nvSpPr>
        <p:spPr>
          <a:xfrm>
            <a:off x="822960" y="2660904"/>
            <a:ext cx="548640" cy="548640"/>
          </a:xfrm>
          <a:prstGeom prst="ellipse">
            <a:avLst/>
          </a:prstGeom>
          <a:solidFill>
            <a:srgbClr val="E3A008"/>
          </a:solidFill>
        </p:spPr>
      </p:sp>
      <p:sp>
        <p:nvSpPr>
          <p:cNvPr id="7" name="Text 5"/>
          <p:cNvSpPr/>
          <p:nvPr/>
        </p:nvSpPr>
        <p:spPr>
          <a:xfrm>
            <a:off x="822960" y="2660904"/>
            <a:ext cx="548640" cy="548640"/>
          </a:xfrm>
          <a:prstGeom prst="rect">
            <a:avLst/>
          </a:prstGeom>
          <a:noFill/>
        </p:spPr>
        <p:txBody>
          <a:bodyPr wrap="square" lIns="0" tIns="0" rIns="0" bIns="0" rtlCol="0" anchor="ctr"/>
          <a:lstStyle/>
          <a:p>
            <a:pPr marL="0" indent="0" algn="ctr">
              <a:buNone/>
            </a:pPr>
            <a:r>
              <a:rPr lang="en-US" sz="1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2.1</a:t>
            </a:r>
            <a:endParaRPr lang="en-US" sz="1400" dirty="0"/>
          </a:p>
        </p:txBody>
      </p:sp>
      <p:sp>
        <p:nvSpPr>
          <p:cNvPr id="8" name="Text 6"/>
          <p:cNvSpPr/>
          <p:nvPr/>
        </p:nvSpPr>
        <p:spPr>
          <a:xfrm>
            <a:off x="1508760" y="258775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Join Algorithms</a:t>
            </a:r>
            <a:endParaRPr lang="en-US" sz="1450" dirty="0"/>
          </a:p>
        </p:txBody>
      </p:sp>
      <p:sp>
        <p:nvSpPr>
          <p:cNvPr id="9" name="Text 7"/>
          <p:cNvSpPr/>
          <p:nvPr/>
        </p:nvSpPr>
        <p:spPr>
          <a:xfrm>
            <a:off x="1508760" y="293522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Nested-loop, hash join, merge join; self-joins</a:t>
            </a:r>
            <a:endParaRPr lang="en-US" sz="1050" dirty="0"/>
          </a:p>
        </p:txBody>
      </p:sp>
      <p:sp>
        <p:nvSpPr>
          <p:cNvPr id="10" name="Shape 8"/>
          <p:cNvSpPr/>
          <p:nvPr/>
        </p:nvSpPr>
        <p:spPr>
          <a:xfrm>
            <a:off x="6080760" y="2514600"/>
            <a:ext cx="5120640" cy="841248"/>
          </a:xfrm>
          <a:prstGeom prst="roundRect">
            <a:avLst>
              <a:gd name="adj" fmla="val 8696"/>
            </a:avLst>
          </a:prstGeom>
          <a:solidFill>
            <a:srgbClr val="2A3577"/>
          </a:solidFill>
        </p:spPr>
      </p:sp>
      <p:sp>
        <p:nvSpPr>
          <p:cNvPr id="11" name="Shape 9"/>
          <p:cNvSpPr/>
          <p:nvPr/>
        </p:nvSpPr>
        <p:spPr>
          <a:xfrm>
            <a:off x="6263640" y="2660904"/>
            <a:ext cx="548640" cy="548640"/>
          </a:xfrm>
          <a:prstGeom prst="ellipse">
            <a:avLst/>
          </a:prstGeom>
          <a:solidFill>
            <a:srgbClr val="E3A008"/>
          </a:solidFill>
        </p:spPr>
      </p:sp>
      <p:sp>
        <p:nvSpPr>
          <p:cNvPr id="12" name="Text 10"/>
          <p:cNvSpPr/>
          <p:nvPr/>
        </p:nvSpPr>
        <p:spPr>
          <a:xfrm>
            <a:off x="6263640" y="2660904"/>
            <a:ext cx="548640" cy="548640"/>
          </a:xfrm>
          <a:prstGeom prst="rect">
            <a:avLst/>
          </a:prstGeom>
          <a:noFill/>
        </p:spPr>
        <p:txBody>
          <a:bodyPr wrap="square" lIns="0" tIns="0" rIns="0" bIns="0" rtlCol="0" anchor="ctr"/>
          <a:lstStyle/>
          <a:p>
            <a:pPr marL="0" indent="0" algn="ctr">
              <a:buNone/>
            </a:pPr>
            <a:r>
              <a:rPr lang="en-US" sz="1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2.2</a:t>
            </a:r>
            <a:endParaRPr lang="en-US" sz="1400" dirty="0"/>
          </a:p>
        </p:txBody>
      </p:sp>
      <p:sp>
        <p:nvSpPr>
          <p:cNvPr id="13" name="Text 11"/>
          <p:cNvSpPr/>
          <p:nvPr/>
        </p:nvSpPr>
        <p:spPr>
          <a:xfrm>
            <a:off x="6949440" y="258775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Subqueries &amp; CTEs</a:t>
            </a:r>
            <a:endParaRPr lang="en-US" sz="1450" dirty="0"/>
          </a:p>
        </p:txBody>
      </p:sp>
      <p:sp>
        <p:nvSpPr>
          <p:cNvPr id="14" name="Text 12"/>
          <p:cNvSpPr/>
          <p:nvPr/>
        </p:nvSpPr>
        <p:spPr>
          <a:xfrm>
            <a:off x="6949440" y="293522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Correlated vs. uncorrelated; recursive CTEs; materialization</a:t>
            </a:r>
            <a:endParaRPr lang="en-US" sz="1050" dirty="0"/>
          </a:p>
        </p:txBody>
      </p:sp>
      <p:sp>
        <p:nvSpPr>
          <p:cNvPr id="15" name="Shape 13"/>
          <p:cNvSpPr/>
          <p:nvPr/>
        </p:nvSpPr>
        <p:spPr>
          <a:xfrm>
            <a:off x="640080" y="3520440"/>
            <a:ext cx="5120640" cy="841248"/>
          </a:xfrm>
          <a:prstGeom prst="roundRect">
            <a:avLst>
              <a:gd name="adj" fmla="val 8696"/>
            </a:avLst>
          </a:prstGeom>
          <a:solidFill>
            <a:srgbClr val="2A3577"/>
          </a:solidFill>
        </p:spPr>
      </p:sp>
      <p:sp>
        <p:nvSpPr>
          <p:cNvPr id="16" name="Shape 14"/>
          <p:cNvSpPr/>
          <p:nvPr/>
        </p:nvSpPr>
        <p:spPr>
          <a:xfrm>
            <a:off x="822960" y="3666744"/>
            <a:ext cx="548640" cy="548640"/>
          </a:xfrm>
          <a:prstGeom prst="ellipse">
            <a:avLst/>
          </a:prstGeom>
          <a:solidFill>
            <a:srgbClr val="E3A008"/>
          </a:solidFill>
        </p:spPr>
      </p:sp>
      <p:sp>
        <p:nvSpPr>
          <p:cNvPr id="17" name="Text 15"/>
          <p:cNvSpPr/>
          <p:nvPr/>
        </p:nvSpPr>
        <p:spPr>
          <a:xfrm>
            <a:off x="822960" y="3666744"/>
            <a:ext cx="548640" cy="548640"/>
          </a:xfrm>
          <a:prstGeom prst="rect">
            <a:avLst/>
          </a:prstGeom>
          <a:noFill/>
        </p:spPr>
        <p:txBody>
          <a:bodyPr wrap="square" lIns="0" tIns="0" rIns="0" bIns="0" rtlCol="0" anchor="ctr"/>
          <a:lstStyle/>
          <a:p>
            <a:pPr marL="0" indent="0" algn="ctr">
              <a:buNone/>
            </a:pPr>
            <a:r>
              <a:rPr lang="en-US" sz="1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2.3</a:t>
            </a:r>
            <a:endParaRPr lang="en-US" sz="1400" dirty="0"/>
          </a:p>
        </p:txBody>
      </p:sp>
      <p:sp>
        <p:nvSpPr>
          <p:cNvPr id="18" name="Text 16"/>
          <p:cNvSpPr/>
          <p:nvPr/>
        </p:nvSpPr>
        <p:spPr>
          <a:xfrm>
            <a:off x="1508760" y="359359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Window Functions</a:t>
            </a:r>
            <a:endParaRPr lang="en-US" sz="1450" dirty="0"/>
          </a:p>
        </p:txBody>
      </p:sp>
      <p:sp>
        <p:nvSpPr>
          <p:cNvPr id="19" name="Text 17"/>
          <p:cNvSpPr/>
          <p:nvPr/>
        </p:nvSpPr>
        <p:spPr>
          <a:xfrm>
            <a:off x="1508760" y="394106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ROW_NUMBER, RANK, LAG/LEAD, frames, running totals</a:t>
            </a:r>
            <a:endParaRPr lang="en-US" sz="1050" dirty="0"/>
          </a:p>
        </p:txBody>
      </p:sp>
      <p:sp>
        <p:nvSpPr>
          <p:cNvPr id="20" name="Shape 18"/>
          <p:cNvSpPr/>
          <p:nvPr/>
        </p:nvSpPr>
        <p:spPr>
          <a:xfrm>
            <a:off x="6080760" y="3520440"/>
            <a:ext cx="5120640" cy="841248"/>
          </a:xfrm>
          <a:prstGeom prst="roundRect">
            <a:avLst>
              <a:gd name="adj" fmla="val 8696"/>
            </a:avLst>
          </a:prstGeom>
          <a:solidFill>
            <a:srgbClr val="2A3577"/>
          </a:solidFill>
        </p:spPr>
      </p:sp>
      <p:sp>
        <p:nvSpPr>
          <p:cNvPr id="21" name="Shape 19"/>
          <p:cNvSpPr/>
          <p:nvPr/>
        </p:nvSpPr>
        <p:spPr>
          <a:xfrm>
            <a:off x="6263640" y="3666744"/>
            <a:ext cx="548640" cy="548640"/>
          </a:xfrm>
          <a:prstGeom prst="ellipse">
            <a:avLst/>
          </a:prstGeom>
          <a:solidFill>
            <a:srgbClr val="E3A008"/>
          </a:solidFill>
        </p:spPr>
      </p:sp>
      <p:sp>
        <p:nvSpPr>
          <p:cNvPr id="22" name="Text 20"/>
          <p:cNvSpPr/>
          <p:nvPr/>
        </p:nvSpPr>
        <p:spPr>
          <a:xfrm>
            <a:off x="6263640" y="3666744"/>
            <a:ext cx="548640" cy="548640"/>
          </a:xfrm>
          <a:prstGeom prst="rect">
            <a:avLst/>
          </a:prstGeom>
          <a:noFill/>
        </p:spPr>
        <p:txBody>
          <a:bodyPr wrap="square" lIns="0" tIns="0" rIns="0" bIns="0" rtlCol="0" anchor="ctr"/>
          <a:lstStyle/>
          <a:p>
            <a:pPr marL="0" indent="0" algn="ctr">
              <a:buNone/>
            </a:pPr>
            <a:r>
              <a:rPr lang="en-US" sz="1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2.4</a:t>
            </a:r>
            <a:endParaRPr lang="en-US" sz="1400" dirty="0"/>
          </a:p>
        </p:txBody>
      </p:sp>
      <p:sp>
        <p:nvSpPr>
          <p:cNvPr id="23" name="Text 21"/>
          <p:cNvSpPr/>
          <p:nvPr/>
        </p:nvSpPr>
        <p:spPr>
          <a:xfrm>
            <a:off x="6949440" y="359359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Cleaning for Analytics</a:t>
            </a:r>
            <a:endParaRPr lang="en-US" sz="1450" dirty="0"/>
          </a:p>
        </p:txBody>
      </p:sp>
      <p:sp>
        <p:nvSpPr>
          <p:cNvPr id="24" name="Text 22"/>
          <p:cNvSpPr/>
          <p:nvPr/>
        </p:nvSpPr>
        <p:spPr>
          <a:xfrm>
            <a:off x="6949440" y="394106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NULL semantics, dedup, type coercion, outliers</a:t>
            </a:r>
            <a:endParaRPr lang="en-US" sz="1050" dirty="0"/>
          </a:p>
        </p:txBody>
      </p:sp>
      <p:sp>
        <p:nvSpPr>
          <p:cNvPr id="25" name="Shape 23"/>
          <p:cNvSpPr/>
          <p:nvPr/>
        </p:nvSpPr>
        <p:spPr>
          <a:xfrm>
            <a:off x="640080" y="4526280"/>
            <a:ext cx="5120640" cy="841248"/>
          </a:xfrm>
          <a:prstGeom prst="roundRect">
            <a:avLst>
              <a:gd name="adj" fmla="val 8696"/>
            </a:avLst>
          </a:prstGeom>
          <a:solidFill>
            <a:srgbClr val="2A3577"/>
          </a:solidFill>
        </p:spPr>
      </p:sp>
      <p:sp>
        <p:nvSpPr>
          <p:cNvPr id="26" name="Shape 24"/>
          <p:cNvSpPr/>
          <p:nvPr/>
        </p:nvSpPr>
        <p:spPr>
          <a:xfrm>
            <a:off x="822960" y="4672584"/>
            <a:ext cx="548640" cy="548640"/>
          </a:xfrm>
          <a:prstGeom prst="ellipse">
            <a:avLst/>
          </a:prstGeom>
          <a:solidFill>
            <a:srgbClr val="E3A008"/>
          </a:solidFill>
        </p:spPr>
      </p:sp>
      <p:sp>
        <p:nvSpPr>
          <p:cNvPr id="27" name="Text 25"/>
          <p:cNvSpPr/>
          <p:nvPr/>
        </p:nvSpPr>
        <p:spPr>
          <a:xfrm>
            <a:off x="822960" y="4672584"/>
            <a:ext cx="548640" cy="548640"/>
          </a:xfrm>
          <a:prstGeom prst="rect">
            <a:avLst/>
          </a:prstGeom>
          <a:noFill/>
        </p:spPr>
        <p:txBody>
          <a:bodyPr wrap="square" lIns="0" tIns="0" rIns="0" bIns="0" rtlCol="0" anchor="ctr"/>
          <a:lstStyle/>
          <a:p>
            <a:pPr marL="0" indent="0" algn="ctr">
              <a:buNone/>
            </a:pPr>
            <a:r>
              <a:rPr lang="en-US" sz="1400" b="1" dirty="0">
                <a:solidFill>
                  <a:srgbClr val="1E2761"/>
                </a:solidFill>
                <a:latin typeface="Cambria" panose="02040503050406030204" pitchFamily="34" charset="0"/>
                <a:ea typeface="Cambria" panose="02040503050406030204" pitchFamily="34" charset="-122"/>
                <a:cs typeface="Cambria" panose="02040503050406030204" pitchFamily="34" charset="-120"/>
              </a:rPr>
              <a:t>2.5</a:t>
            </a:r>
            <a:endParaRPr lang="en-US" sz="1400" dirty="0"/>
          </a:p>
        </p:txBody>
      </p:sp>
      <p:sp>
        <p:nvSpPr>
          <p:cNvPr id="28" name="Text 26"/>
          <p:cNvSpPr/>
          <p:nvPr/>
        </p:nvSpPr>
        <p:spPr>
          <a:xfrm>
            <a:off x="1508760" y="4599432"/>
            <a:ext cx="406908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Set Operations &amp; Pivoting</a:t>
            </a:r>
            <a:endParaRPr lang="en-US" sz="1450" dirty="0"/>
          </a:p>
        </p:txBody>
      </p:sp>
      <p:sp>
        <p:nvSpPr>
          <p:cNvPr id="29" name="Text 27"/>
          <p:cNvSpPr/>
          <p:nvPr/>
        </p:nvSpPr>
        <p:spPr>
          <a:xfrm>
            <a:off x="1508760" y="4946904"/>
            <a:ext cx="4069080" cy="384048"/>
          </a:xfrm>
          <a:prstGeom prst="rect">
            <a:avLst/>
          </a:prstGeom>
          <a:noFill/>
        </p:spPr>
        <p:txBody>
          <a:bodyPr wrap="square" lIns="0" tIns="0" rIns="0" bIns="0" rtlCol="0" anchor="ctr"/>
          <a:lstStyle/>
          <a:p>
            <a:pPr marL="0" indent="0">
              <a:lnSpc>
                <a:spcPct val="10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UNION cost; conditional-aggregation pivoting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2.1</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Join Algorithms</a:t>
            </a:r>
            <a:endParaRPr lang="en-US" sz="3000" dirty="0"/>
          </a:p>
        </p:txBody>
      </p:sp>
      <p:sp>
        <p:nvSpPr>
          <p:cNvPr id="4" name="Text 2"/>
          <p:cNvSpPr/>
          <p:nvPr/>
        </p:nvSpPr>
        <p:spPr>
          <a:xfrm>
            <a:off x="548640" y="1508760"/>
            <a:ext cx="10789920" cy="41148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The same JOIN keyword compiles to one of three completely different physical execution strategies.</a:t>
            </a:r>
            <a:endParaRPr lang="en-US" sz="1350" dirty="0"/>
          </a:p>
        </p:txBody>
      </p:sp>
      <p:sp>
        <p:nvSpPr>
          <p:cNvPr id="5" name="Shape 3"/>
          <p:cNvSpPr/>
          <p:nvPr/>
        </p:nvSpPr>
        <p:spPr>
          <a:xfrm>
            <a:off x="548640" y="2103120"/>
            <a:ext cx="3520440" cy="3474720"/>
          </a:xfrm>
          <a:prstGeom prst="roundRect">
            <a:avLst>
              <a:gd name="adj" fmla="val 2632"/>
            </a:avLst>
          </a:prstGeom>
          <a:solidFill>
            <a:srgbClr val="F0F3FA"/>
          </a:solidFill>
        </p:spPr>
      </p:sp>
      <p:sp>
        <p:nvSpPr>
          <p:cNvPr id="6" name="Shape 4"/>
          <p:cNvSpPr/>
          <p:nvPr/>
        </p:nvSpPr>
        <p:spPr>
          <a:xfrm>
            <a:off x="822960" y="2377440"/>
            <a:ext cx="502920" cy="502920"/>
          </a:xfrm>
          <a:prstGeom prst="ellipse">
            <a:avLst/>
          </a:prstGeom>
          <a:solidFill>
            <a:srgbClr val="1E2761"/>
          </a:solidFill>
        </p:spPr>
      </p:sp>
      <p:sp>
        <p:nvSpPr>
          <p:cNvPr id="7" name="Text 5"/>
          <p:cNvSpPr/>
          <p:nvPr/>
        </p:nvSpPr>
        <p:spPr>
          <a:xfrm>
            <a:off x="822960" y="237744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1800" dirty="0"/>
          </a:p>
        </p:txBody>
      </p:sp>
      <p:sp>
        <p:nvSpPr>
          <p:cNvPr id="8" name="Text 6"/>
          <p:cNvSpPr/>
          <p:nvPr/>
        </p:nvSpPr>
        <p:spPr>
          <a:xfrm>
            <a:off x="1463040" y="2395728"/>
            <a:ext cx="2423160" cy="45720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Nested-Loop</a:t>
            </a:r>
            <a:endParaRPr lang="en-US" sz="1700" dirty="0"/>
          </a:p>
        </p:txBody>
      </p:sp>
      <p:sp>
        <p:nvSpPr>
          <p:cNvPr id="9" name="Text 7"/>
          <p:cNvSpPr/>
          <p:nvPr/>
        </p:nvSpPr>
        <p:spPr>
          <a:xfrm>
            <a:off x="822960" y="3063240"/>
            <a:ext cx="2971800" cy="1417320"/>
          </a:xfrm>
          <a:prstGeom prst="rect">
            <a:avLst/>
          </a:prstGeom>
          <a:noFill/>
        </p:spPr>
        <p:txBody>
          <a:bodyPr wrap="square" lIns="0" tIns="0" rIns="0" bIns="0" rtlCol="0" anchor="ctr"/>
          <a:lstStyle/>
          <a:p>
            <a:pPr marL="0" indent="0">
              <a:lnSpc>
                <a:spcPct val="115000"/>
              </a:lnSpc>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For each row in the outer table, probe the inner table — ideally via an index. Cost ≈ outer_rows × index_lookup_cost, not O(n×m).</a:t>
            </a:r>
            <a:endParaRPr lang="en-US" sz="1200" dirty="0"/>
          </a:p>
        </p:txBody>
      </p:sp>
      <p:sp>
        <p:nvSpPr>
          <p:cNvPr id="10" name="Shape 8"/>
          <p:cNvSpPr/>
          <p:nvPr/>
        </p:nvSpPr>
        <p:spPr>
          <a:xfrm>
            <a:off x="822960" y="4526280"/>
            <a:ext cx="2971800" cy="0"/>
          </a:xfrm>
          <a:prstGeom prst="line">
            <a:avLst/>
          </a:prstGeom>
          <a:noFill/>
          <a:ln w="12700">
            <a:solidFill>
              <a:srgbClr val="C9CEDA"/>
            </a:solidFill>
            <a:prstDash val="solid"/>
          </a:ln>
        </p:spPr>
      </p:sp>
      <p:sp>
        <p:nvSpPr>
          <p:cNvPr id="11" name="Text 9"/>
          <p:cNvSpPr/>
          <p:nvPr/>
        </p:nvSpPr>
        <p:spPr>
          <a:xfrm>
            <a:off x="822960" y="4645152"/>
            <a:ext cx="2971800" cy="822960"/>
          </a:xfrm>
          <a:prstGeom prst="rect">
            <a:avLst/>
          </a:prstGeom>
          <a:noFill/>
        </p:spPr>
        <p:txBody>
          <a:bodyPr wrap="square" lIns="0" tIns="0" rIns="0" bIns="0" rtlCol="0" anchor="ctr"/>
          <a:lstStyle/>
          <a:p>
            <a:pPr marL="0" indent="0">
              <a:lnSpc>
                <a:spcPct val="110000"/>
              </a:lnSpc>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Best when: inner side is indexed and the outer side is small.</a:t>
            </a:r>
            <a:endParaRPr lang="en-US" sz="1100" dirty="0"/>
          </a:p>
        </p:txBody>
      </p:sp>
      <p:sp>
        <p:nvSpPr>
          <p:cNvPr id="12" name="Shape 10"/>
          <p:cNvSpPr/>
          <p:nvPr/>
        </p:nvSpPr>
        <p:spPr>
          <a:xfrm>
            <a:off x="4343400" y="2103120"/>
            <a:ext cx="3520440" cy="3474720"/>
          </a:xfrm>
          <a:prstGeom prst="roundRect">
            <a:avLst>
              <a:gd name="adj" fmla="val 2632"/>
            </a:avLst>
          </a:prstGeom>
          <a:solidFill>
            <a:srgbClr val="F0F3FA"/>
          </a:solidFill>
        </p:spPr>
      </p:sp>
      <p:sp>
        <p:nvSpPr>
          <p:cNvPr id="13" name="Shape 11"/>
          <p:cNvSpPr/>
          <p:nvPr/>
        </p:nvSpPr>
        <p:spPr>
          <a:xfrm>
            <a:off x="4617720" y="2377440"/>
            <a:ext cx="502920" cy="502920"/>
          </a:xfrm>
          <a:prstGeom prst="ellipse">
            <a:avLst/>
          </a:prstGeom>
          <a:solidFill>
            <a:srgbClr val="3D4FA0"/>
          </a:solidFill>
        </p:spPr>
      </p:sp>
      <p:sp>
        <p:nvSpPr>
          <p:cNvPr id="14" name="Text 12"/>
          <p:cNvSpPr/>
          <p:nvPr/>
        </p:nvSpPr>
        <p:spPr>
          <a:xfrm>
            <a:off x="4617720" y="237744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1800" dirty="0"/>
          </a:p>
        </p:txBody>
      </p:sp>
      <p:sp>
        <p:nvSpPr>
          <p:cNvPr id="15" name="Text 13"/>
          <p:cNvSpPr/>
          <p:nvPr/>
        </p:nvSpPr>
        <p:spPr>
          <a:xfrm>
            <a:off x="5257800" y="2395728"/>
            <a:ext cx="2423160" cy="45720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Hash Join</a:t>
            </a:r>
            <a:endParaRPr lang="en-US" sz="1700" dirty="0"/>
          </a:p>
        </p:txBody>
      </p:sp>
      <p:sp>
        <p:nvSpPr>
          <p:cNvPr id="16" name="Text 14"/>
          <p:cNvSpPr/>
          <p:nvPr/>
        </p:nvSpPr>
        <p:spPr>
          <a:xfrm>
            <a:off x="4617720" y="3063240"/>
            <a:ext cx="2971800" cy="1417320"/>
          </a:xfrm>
          <a:prstGeom prst="rect">
            <a:avLst/>
          </a:prstGeom>
          <a:noFill/>
        </p:spPr>
        <p:txBody>
          <a:bodyPr wrap="square" lIns="0" tIns="0" rIns="0" bIns="0" rtlCol="0" anchor="ctr"/>
          <a:lstStyle/>
          <a:p>
            <a:pPr marL="0" indent="0">
              <a:lnSpc>
                <a:spcPct val="115000"/>
              </a:lnSpc>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Build an in-memory hash table on the smaller input's join key, then probe it with the larger input's rows.</a:t>
            </a:r>
            <a:endParaRPr lang="en-US" sz="1200" dirty="0"/>
          </a:p>
        </p:txBody>
      </p:sp>
      <p:sp>
        <p:nvSpPr>
          <p:cNvPr id="17" name="Shape 15"/>
          <p:cNvSpPr/>
          <p:nvPr/>
        </p:nvSpPr>
        <p:spPr>
          <a:xfrm>
            <a:off x="4617720" y="4526280"/>
            <a:ext cx="2971800" cy="0"/>
          </a:xfrm>
          <a:prstGeom prst="line">
            <a:avLst/>
          </a:prstGeom>
          <a:noFill/>
          <a:ln w="12700">
            <a:solidFill>
              <a:srgbClr val="C9CEDA"/>
            </a:solidFill>
            <a:prstDash val="solid"/>
          </a:ln>
        </p:spPr>
      </p:sp>
      <p:sp>
        <p:nvSpPr>
          <p:cNvPr id="18" name="Text 16"/>
          <p:cNvSpPr/>
          <p:nvPr/>
        </p:nvSpPr>
        <p:spPr>
          <a:xfrm>
            <a:off x="4617720" y="4645152"/>
            <a:ext cx="2971800" cy="822960"/>
          </a:xfrm>
          <a:prstGeom prst="rect">
            <a:avLst/>
          </a:prstGeom>
          <a:noFill/>
        </p:spPr>
        <p:txBody>
          <a:bodyPr wrap="square" lIns="0" tIns="0" rIns="0" bIns="0" rtlCol="0" anchor="ctr"/>
          <a:lstStyle/>
          <a:p>
            <a:pPr marL="0" indent="0">
              <a:lnSpc>
                <a:spcPct val="110000"/>
              </a:lnSpc>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Best when: neither side is indexed and both are large. MySQL added true hash joins only in 8.0.18+.</a:t>
            </a:r>
            <a:endParaRPr lang="en-US" sz="1100" dirty="0"/>
          </a:p>
        </p:txBody>
      </p:sp>
      <p:sp>
        <p:nvSpPr>
          <p:cNvPr id="19" name="Shape 17"/>
          <p:cNvSpPr/>
          <p:nvPr/>
        </p:nvSpPr>
        <p:spPr>
          <a:xfrm>
            <a:off x="8138160" y="2103120"/>
            <a:ext cx="3520440" cy="3474720"/>
          </a:xfrm>
          <a:prstGeom prst="roundRect">
            <a:avLst>
              <a:gd name="adj" fmla="val 2632"/>
            </a:avLst>
          </a:prstGeom>
          <a:solidFill>
            <a:srgbClr val="F0F3FA"/>
          </a:solidFill>
        </p:spPr>
      </p:sp>
      <p:sp>
        <p:nvSpPr>
          <p:cNvPr id="20" name="Shape 18"/>
          <p:cNvSpPr/>
          <p:nvPr/>
        </p:nvSpPr>
        <p:spPr>
          <a:xfrm>
            <a:off x="8412480" y="2377440"/>
            <a:ext cx="502920" cy="502920"/>
          </a:xfrm>
          <a:prstGeom prst="ellipse">
            <a:avLst/>
          </a:prstGeom>
          <a:solidFill>
            <a:srgbClr val="E3A008"/>
          </a:solidFill>
        </p:spPr>
      </p:sp>
      <p:sp>
        <p:nvSpPr>
          <p:cNvPr id="21" name="Text 19"/>
          <p:cNvSpPr/>
          <p:nvPr/>
        </p:nvSpPr>
        <p:spPr>
          <a:xfrm>
            <a:off x="8412480" y="2377440"/>
            <a:ext cx="502920" cy="502920"/>
          </a:xfrm>
          <a:prstGeom prst="rect">
            <a:avLst/>
          </a:prstGeom>
          <a:noFill/>
        </p:spPr>
        <p:txBody>
          <a:bodyPr wrap="square" lIns="0" tIns="0" rIns="0" bIns="0" rtlCol="0" anchor="ctr"/>
          <a:lstStyle/>
          <a:p>
            <a:pPr marL="0" indent="0" algn="ct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800" dirty="0"/>
          </a:p>
        </p:txBody>
      </p:sp>
      <p:sp>
        <p:nvSpPr>
          <p:cNvPr id="22" name="Text 20"/>
          <p:cNvSpPr/>
          <p:nvPr/>
        </p:nvSpPr>
        <p:spPr>
          <a:xfrm>
            <a:off x="9052560" y="2395728"/>
            <a:ext cx="2423160" cy="45720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Merge Join</a:t>
            </a:r>
            <a:endParaRPr lang="en-US" sz="1700" dirty="0"/>
          </a:p>
        </p:txBody>
      </p:sp>
      <p:sp>
        <p:nvSpPr>
          <p:cNvPr id="23" name="Text 21"/>
          <p:cNvSpPr/>
          <p:nvPr/>
        </p:nvSpPr>
        <p:spPr>
          <a:xfrm>
            <a:off x="8412480" y="3063240"/>
            <a:ext cx="2971800" cy="1417320"/>
          </a:xfrm>
          <a:prstGeom prst="rect">
            <a:avLst/>
          </a:prstGeom>
          <a:noFill/>
        </p:spPr>
        <p:txBody>
          <a:bodyPr wrap="square" lIns="0" tIns="0" rIns="0" bIns="0" rtlCol="0" anchor="ctr"/>
          <a:lstStyle/>
          <a:p>
            <a:pPr marL="0" indent="0">
              <a:lnSpc>
                <a:spcPct val="115000"/>
              </a:lnSpc>
              <a:buNone/>
            </a:pPr>
            <a:r>
              <a:rPr lang="en-US" sz="1200" dirty="0">
                <a:solidFill>
                  <a:srgbClr val="222222"/>
                </a:solidFill>
                <a:latin typeface="Calibri" panose="020F0502020204030204" pitchFamily="34" charset="0"/>
                <a:ea typeface="Calibri" panose="020F0502020204030204" pitchFamily="34" charset="-122"/>
                <a:cs typeface="Calibri" panose="020F0502020204030204" pitchFamily="34" charset="-120"/>
              </a:rPr>
              <a:t>If both inputs are already sorted on the join key, walk both streams in lockstep — no extra sort needed.</a:t>
            </a:r>
            <a:endParaRPr lang="en-US" sz="1200" dirty="0"/>
          </a:p>
        </p:txBody>
      </p:sp>
      <p:sp>
        <p:nvSpPr>
          <p:cNvPr id="24" name="Shape 22"/>
          <p:cNvSpPr/>
          <p:nvPr/>
        </p:nvSpPr>
        <p:spPr>
          <a:xfrm>
            <a:off x="8412480" y="4526280"/>
            <a:ext cx="2971800" cy="0"/>
          </a:xfrm>
          <a:prstGeom prst="line">
            <a:avLst/>
          </a:prstGeom>
          <a:noFill/>
          <a:ln w="12700">
            <a:solidFill>
              <a:srgbClr val="C9CEDA"/>
            </a:solidFill>
            <a:prstDash val="solid"/>
          </a:ln>
        </p:spPr>
      </p:sp>
      <p:sp>
        <p:nvSpPr>
          <p:cNvPr id="25" name="Text 23"/>
          <p:cNvSpPr/>
          <p:nvPr/>
        </p:nvSpPr>
        <p:spPr>
          <a:xfrm>
            <a:off x="8412480" y="4645152"/>
            <a:ext cx="2971800" cy="822960"/>
          </a:xfrm>
          <a:prstGeom prst="rect">
            <a:avLst/>
          </a:prstGeom>
          <a:noFill/>
        </p:spPr>
        <p:txBody>
          <a:bodyPr wrap="square" lIns="0" tIns="0" rIns="0" bIns="0" rtlCol="0" anchor="ctr"/>
          <a:lstStyle/>
          <a:p>
            <a:pPr marL="0" indent="0">
              <a:lnSpc>
                <a:spcPct val="110000"/>
              </a:lnSpc>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Best when: both sides are scanned via an index that already provides sorted order.</a:t>
            </a:r>
            <a:endParaRPr lang="en-US" sz="1100" dirty="0"/>
          </a:p>
        </p:txBody>
      </p:sp>
      <p:sp>
        <p:nvSpPr>
          <p:cNvPr id="26" name="Text 24"/>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27" name="Text 25"/>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2.1</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Worked Example — A Three-Way Join</a:t>
            </a:r>
            <a:endParaRPr lang="en-US" sz="3000" dirty="0"/>
          </a:p>
        </p:txBody>
      </p:sp>
      <p:sp>
        <p:nvSpPr>
          <p:cNvPr id="4" name="Shape 2"/>
          <p:cNvSpPr/>
          <p:nvPr/>
        </p:nvSpPr>
        <p:spPr>
          <a:xfrm>
            <a:off x="548640" y="1737360"/>
            <a:ext cx="11064240" cy="2103120"/>
          </a:xfrm>
          <a:prstGeom prst="roundRect">
            <a:avLst>
              <a:gd name="adj" fmla="val 3478"/>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920240"/>
            <a:ext cx="10607040" cy="173736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u.user_id, u.email, o.order_id, oi.product_id, oi.quantity</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FROM users u</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JOIN orders o       ON o.user_id = u.user_id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JOIN order_items oi ON oi.order_id = o.order_id</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WHERE o.order_date &gt;= '2026-01-01';</a:t>
            </a:r>
            <a:endParaRPr lang="en-US" sz="1300" dirty="0"/>
          </a:p>
        </p:txBody>
      </p:sp>
      <p:sp>
        <p:nvSpPr>
          <p:cNvPr id="6" name="Shape 4"/>
          <p:cNvSpPr/>
          <p:nvPr/>
        </p:nvSpPr>
        <p:spPr>
          <a:xfrm>
            <a:off x="548640" y="4023360"/>
            <a:ext cx="11064240" cy="2423160"/>
          </a:xfrm>
          <a:prstGeom prst="roundRect">
            <a:avLst>
              <a:gd name="adj" fmla="val 3019"/>
            </a:avLst>
          </a:prstGeom>
          <a:solidFill>
            <a:srgbClr val="F0F3FA"/>
          </a:solidFill>
        </p:spPr>
      </p:sp>
      <p:sp>
        <p:nvSpPr>
          <p:cNvPr id="7" name="Text 5"/>
          <p:cNvSpPr/>
          <p:nvPr/>
        </p:nvSpPr>
        <p:spPr>
          <a:xfrm>
            <a:off x="777240" y="416052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4480560"/>
            <a:ext cx="10607040" cy="182880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The optimizer is free to reorder these joins based on estimated cardinality — your FROM-clause order is a suggestion, not a plan. Run EXPLAIN (MySQL) or view the Actual Execution Plan (SSMS) on this query: you'll likely see the smallest estimated intermediate result computed first, regardless of which table you listed first. It may also choose a different algorithm per join — e.g., a nested-loop against orders using an index on user_id, then a hash join against order_items if that table lacks a matching index. One query, several algorithm choices, all invisible until you read the plan.</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2.2</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Subqueries &amp; CTEs</a:t>
            </a:r>
            <a:endParaRPr lang="en-US" sz="3000" dirty="0"/>
          </a:p>
        </p:txBody>
      </p:sp>
      <p:sp>
        <p:nvSpPr>
          <p:cNvPr id="4" name="Shape 2"/>
          <p:cNvSpPr/>
          <p:nvPr/>
        </p:nvSpPr>
        <p:spPr>
          <a:xfrm>
            <a:off x="548640" y="1691640"/>
            <a:ext cx="5394960" cy="2286000"/>
          </a:xfrm>
          <a:prstGeom prst="roundRect">
            <a:avLst>
              <a:gd name="adj" fmla="val 4000"/>
            </a:avLst>
          </a:prstGeom>
          <a:solidFill>
            <a:srgbClr val="F0F3FA"/>
          </a:solidFill>
        </p:spPr>
      </p:sp>
      <p:sp>
        <p:nvSpPr>
          <p:cNvPr id="5" name="Shape 3"/>
          <p:cNvSpPr/>
          <p:nvPr/>
        </p:nvSpPr>
        <p:spPr>
          <a:xfrm>
            <a:off x="822960" y="1965960"/>
            <a:ext cx="146304" cy="146304"/>
          </a:xfrm>
          <a:prstGeom prst="roundRect">
            <a:avLst>
              <a:gd name="adj" fmla="val 50000"/>
            </a:avLst>
          </a:prstGeom>
          <a:solidFill>
            <a:srgbClr val="1E2761"/>
          </a:solidFill>
        </p:spPr>
      </p:sp>
      <p:sp>
        <p:nvSpPr>
          <p:cNvPr id="6" name="Text 4"/>
          <p:cNvSpPr/>
          <p:nvPr/>
        </p:nvSpPr>
        <p:spPr>
          <a:xfrm>
            <a:off x="1097280" y="1892808"/>
            <a:ext cx="4572000" cy="365760"/>
          </a:xfrm>
          <a:prstGeom prst="rect">
            <a:avLst/>
          </a:prstGeom>
          <a:noFill/>
        </p:spPr>
        <p:txBody>
          <a:bodyPr wrap="square" lIns="0" tIns="0" rIns="0" bIns="0" rtlCol="0" anchor="ctr"/>
          <a:lstStyle/>
          <a:p>
            <a:pPr marL="0" indent="0">
              <a:buNone/>
            </a:pPr>
            <a:r>
              <a:rPr lang="en-US" sz="1650" b="1" dirty="0">
                <a:solidFill>
                  <a:srgbClr val="1E2761"/>
                </a:solidFill>
                <a:latin typeface="Cambria" panose="02040503050406030204" pitchFamily="34" charset="0"/>
                <a:ea typeface="Cambria" panose="02040503050406030204" pitchFamily="34" charset="-122"/>
                <a:cs typeface="Cambria" panose="02040503050406030204" pitchFamily="34" charset="-120"/>
              </a:rPr>
              <a:t>Correlated Subquery</a:t>
            </a:r>
            <a:endParaRPr lang="en-US" sz="1650" dirty="0"/>
          </a:p>
        </p:txBody>
      </p:sp>
      <p:sp>
        <p:nvSpPr>
          <p:cNvPr id="7" name="Text 5"/>
          <p:cNvSpPr/>
          <p:nvPr/>
        </p:nvSpPr>
        <p:spPr>
          <a:xfrm>
            <a:off x="822960" y="2404872"/>
            <a:ext cx="4846320" cy="914400"/>
          </a:xfrm>
          <a:prstGeom prst="rect">
            <a:avLst/>
          </a:prstGeom>
          <a:noFill/>
        </p:spPr>
        <p:txBody>
          <a:bodyPr wrap="square" lIns="0" tIns="0" rIns="0" bIns="0" rtlCol="0" anchor="ctr"/>
          <a:lstStyle/>
          <a:p>
            <a:pPr marL="0" indent="0">
              <a:lnSpc>
                <a:spcPct val="115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References a column from the OUTER query — conceptually re-evaluated once per outer row, like a per-row function call.</a:t>
            </a:r>
            <a:endParaRPr lang="en-US" sz="1250" dirty="0"/>
          </a:p>
        </p:txBody>
      </p:sp>
      <p:sp>
        <p:nvSpPr>
          <p:cNvPr id="8" name="Text 6"/>
          <p:cNvSpPr/>
          <p:nvPr/>
        </p:nvSpPr>
        <p:spPr>
          <a:xfrm>
            <a:off x="822960" y="3383280"/>
            <a:ext cx="4846320" cy="502920"/>
          </a:xfrm>
          <a:prstGeom prst="rect">
            <a:avLst/>
          </a:prstGeom>
          <a:noFill/>
        </p:spPr>
        <p:txBody>
          <a:bodyPr wrap="square" lIns="0" tIns="0" rIns="0" bIns="0" rtlCol="0" anchor="ctr"/>
          <a:lstStyle/>
          <a:p>
            <a:pPr marL="0" indent="0">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e.g. WHERE EXISTS (SELECT 1 FROM orders o WHERE o.user_id = u.user_id)</a:t>
            </a:r>
            <a:endParaRPr lang="en-US" sz="1050" dirty="0"/>
          </a:p>
        </p:txBody>
      </p:sp>
      <p:sp>
        <p:nvSpPr>
          <p:cNvPr id="9" name="Shape 7"/>
          <p:cNvSpPr/>
          <p:nvPr/>
        </p:nvSpPr>
        <p:spPr>
          <a:xfrm>
            <a:off x="6217920" y="1691640"/>
            <a:ext cx="5394960" cy="2286000"/>
          </a:xfrm>
          <a:prstGeom prst="roundRect">
            <a:avLst>
              <a:gd name="adj" fmla="val 4000"/>
            </a:avLst>
          </a:prstGeom>
          <a:solidFill>
            <a:srgbClr val="F0F3FA"/>
          </a:solidFill>
        </p:spPr>
      </p:sp>
      <p:sp>
        <p:nvSpPr>
          <p:cNvPr id="10" name="Shape 8"/>
          <p:cNvSpPr/>
          <p:nvPr/>
        </p:nvSpPr>
        <p:spPr>
          <a:xfrm>
            <a:off x="6492240" y="1965960"/>
            <a:ext cx="146304" cy="146304"/>
          </a:xfrm>
          <a:prstGeom prst="roundRect">
            <a:avLst>
              <a:gd name="adj" fmla="val 50000"/>
            </a:avLst>
          </a:prstGeom>
          <a:solidFill>
            <a:srgbClr val="3D4FA0"/>
          </a:solidFill>
        </p:spPr>
      </p:sp>
      <p:sp>
        <p:nvSpPr>
          <p:cNvPr id="11" name="Text 9"/>
          <p:cNvSpPr/>
          <p:nvPr/>
        </p:nvSpPr>
        <p:spPr>
          <a:xfrm>
            <a:off x="6766560" y="1892808"/>
            <a:ext cx="4572000" cy="365760"/>
          </a:xfrm>
          <a:prstGeom prst="rect">
            <a:avLst/>
          </a:prstGeom>
          <a:noFill/>
        </p:spPr>
        <p:txBody>
          <a:bodyPr wrap="square" lIns="0" tIns="0" rIns="0" bIns="0" rtlCol="0" anchor="ctr"/>
          <a:lstStyle/>
          <a:p>
            <a:pPr marL="0" indent="0">
              <a:buNone/>
            </a:pPr>
            <a:r>
              <a:rPr lang="en-US" sz="1650" b="1" dirty="0">
                <a:solidFill>
                  <a:srgbClr val="1E2761"/>
                </a:solidFill>
                <a:latin typeface="Cambria" panose="02040503050406030204" pitchFamily="34" charset="0"/>
                <a:ea typeface="Cambria" panose="02040503050406030204" pitchFamily="34" charset="-122"/>
                <a:cs typeface="Cambria" panose="02040503050406030204" pitchFamily="34" charset="-120"/>
              </a:rPr>
              <a:t>Uncorrelated Subquery</a:t>
            </a:r>
            <a:endParaRPr lang="en-US" sz="1650" dirty="0"/>
          </a:p>
        </p:txBody>
      </p:sp>
      <p:sp>
        <p:nvSpPr>
          <p:cNvPr id="12" name="Text 10"/>
          <p:cNvSpPr/>
          <p:nvPr/>
        </p:nvSpPr>
        <p:spPr>
          <a:xfrm>
            <a:off x="6492240" y="2404872"/>
            <a:ext cx="4846320" cy="914400"/>
          </a:xfrm>
          <a:prstGeom prst="rect">
            <a:avLst/>
          </a:prstGeom>
          <a:noFill/>
        </p:spPr>
        <p:txBody>
          <a:bodyPr wrap="square" lIns="0" tIns="0" rIns="0" bIns="0" rtlCol="0" anchor="ctr"/>
          <a:lstStyle/>
          <a:p>
            <a:pPr marL="0" indent="0">
              <a:lnSpc>
                <a:spcPct val="115000"/>
              </a:lnSpc>
              <a:buNone/>
            </a:pPr>
            <a:r>
              <a:rPr lang="en-US" sz="1250" dirty="0">
                <a:solidFill>
                  <a:srgbClr val="222222"/>
                </a:solidFill>
                <a:latin typeface="Calibri" panose="020F0502020204030204" pitchFamily="34" charset="0"/>
                <a:ea typeface="Calibri" panose="020F0502020204030204" pitchFamily="34" charset="-122"/>
                <a:cs typeface="Calibri" panose="020F0502020204030204" pitchFamily="34" charset="-120"/>
              </a:rPr>
              <a:t>Completely independent of the outer query — evaluated once, and its result is reused for every outer row.</a:t>
            </a:r>
            <a:endParaRPr lang="en-US" sz="1250" dirty="0"/>
          </a:p>
        </p:txBody>
      </p:sp>
      <p:sp>
        <p:nvSpPr>
          <p:cNvPr id="13" name="Text 11"/>
          <p:cNvSpPr/>
          <p:nvPr/>
        </p:nvSpPr>
        <p:spPr>
          <a:xfrm>
            <a:off x="6492240" y="3383280"/>
            <a:ext cx="4846320" cy="502920"/>
          </a:xfrm>
          <a:prstGeom prst="rect">
            <a:avLst/>
          </a:prstGeom>
          <a:noFill/>
        </p:spPr>
        <p:txBody>
          <a:bodyPr wrap="square" lIns="0" tIns="0" rIns="0" bIns="0" rtlCol="0" anchor="ctr"/>
          <a:lstStyle/>
          <a:p>
            <a:pPr marL="0" indent="0">
              <a:buNone/>
            </a:pPr>
            <a:r>
              <a:rPr lang="en-US" sz="1050" dirty="0">
                <a:solidFill>
                  <a:srgbClr val="3D4FA0"/>
                </a:solidFill>
                <a:latin typeface="Courier New" panose="02070309020205020404" pitchFamily="34" charset="0"/>
                <a:ea typeface="Courier New" panose="02070309020205020404" pitchFamily="34" charset="-122"/>
                <a:cs typeface="Courier New" panose="02070309020205020404" pitchFamily="34" charset="-120"/>
              </a:rPr>
              <a:t>e.g. WHERE user_id IN (SELECT user_id FROM vip_users)</a:t>
            </a:r>
            <a:endParaRPr lang="en-US" sz="1050" dirty="0"/>
          </a:p>
        </p:txBody>
      </p:sp>
      <p:sp>
        <p:nvSpPr>
          <p:cNvPr id="14" name="Text 12"/>
          <p:cNvSpPr/>
          <p:nvPr/>
        </p:nvSpPr>
        <p:spPr>
          <a:xfrm>
            <a:off x="548640" y="4206240"/>
            <a:ext cx="5486400" cy="36576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Recursive CTEs</a:t>
            </a:r>
            <a:endParaRPr lang="en-US" sz="1700" dirty="0"/>
          </a:p>
        </p:txBody>
      </p:sp>
      <p:sp>
        <p:nvSpPr>
          <p:cNvPr id="15" name="Text 13"/>
          <p:cNvSpPr/>
          <p:nvPr/>
        </p:nvSpPr>
        <p:spPr>
          <a:xfrm>
            <a:off x="548640" y="4617720"/>
            <a:ext cx="11064240" cy="1280160"/>
          </a:xfrm>
          <a:prstGeom prst="rect">
            <a:avLst/>
          </a:prstGeom>
          <a:noFill/>
        </p:spPr>
        <p:txBody>
          <a:bodyPr wrap="square" lIns="0" tIns="0" rIns="0" bIns="0" rtlCol="0" anchor="ctr"/>
          <a:lstStyle/>
          <a:p>
            <a:pPr marL="0" indent="0">
              <a:lnSpc>
                <a:spcPct val="120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A base case (anchor) UNION ALL a recursive case that references the CTE's own name — the engine re-runs the recursive term against the prior iteration's output until it returns zero rows. Used for hierarchies, org charts, and graph traversal (e.g., a category tree with unknown depth) that a fixed number of JOINs can't express.</a:t>
            </a:r>
            <a:endParaRPr lang="en-US" sz="1300" dirty="0"/>
          </a:p>
        </p:txBody>
      </p:sp>
      <p:sp>
        <p:nvSpPr>
          <p:cNvPr id="16" name="Text 14"/>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7" name="Text 15"/>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2.2</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The CTE Materialization Trap</a:t>
            </a:r>
            <a:endParaRPr lang="en-US" sz="3000" dirty="0"/>
          </a:p>
        </p:txBody>
      </p:sp>
      <p:sp>
        <p:nvSpPr>
          <p:cNvPr id="4" name="Shape 2"/>
          <p:cNvSpPr/>
          <p:nvPr/>
        </p:nvSpPr>
        <p:spPr>
          <a:xfrm>
            <a:off x="548640" y="1737360"/>
            <a:ext cx="11064240" cy="2377440"/>
          </a:xfrm>
          <a:prstGeom prst="roundRect">
            <a:avLst>
              <a:gd name="adj" fmla="val 3077"/>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920240"/>
            <a:ext cx="10607040" cy="2011680"/>
          </a:xfrm>
          <a:prstGeom prst="rect">
            <a:avLst/>
          </a:prstGeom>
          <a:noFill/>
        </p:spPr>
        <p:txBody>
          <a:bodyPr wrap="square" lIns="0" tIns="0" rIns="0" bIns="0" rtlCol="0" anchor="t"/>
          <a:lstStyle/>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Recursive CTE: category hierarchy rollup</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WITH RECURSIVE category_tree AS (       -- MySQL requires RECURSIVE</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category_id, category_name, parent_category_id, 0 AS depth</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categories WHERE parent_category_id IS NULL</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UNION ALL</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c.category_id, c.category_name, c.parent_category_id, ct.depth + 1</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categories c JOIN category_tree ct ON c.parent_category_id = ct.category_id</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t>
            </a:r>
            <a:endParaRPr lang="en-US" sz="1250" dirty="0"/>
          </a:p>
          <a:p>
            <a:pPr marL="0" indent="0" algn="l">
              <a:lnSpc>
                <a:spcPct val="115000"/>
              </a:lnSpc>
              <a:buNone/>
            </a:pPr>
            <a:r>
              <a:rPr lang="en-US" sz="12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FROM category_tree;            -- SQL Server: no RECURSIVE keyword needed</a:t>
            </a:r>
            <a:endParaRPr lang="en-US" sz="1250" dirty="0"/>
          </a:p>
        </p:txBody>
      </p:sp>
      <p:sp>
        <p:nvSpPr>
          <p:cNvPr id="6" name="Shape 4"/>
          <p:cNvSpPr/>
          <p:nvPr/>
        </p:nvSpPr>
        <p:spPr>
          <a:xfrm>
            <a:off x="548640" y="4297680"/>
            <a:ext cx="11064240" cy="2148840"/>
          </a:xfrm>
          <a:prstGeom prst="roundRect">
            <a:avLst>
              <a:gd name="adj" fmla="val 3404"/>
            </a:avLst>
          </a:prstGeom>
          <a:solidFill>
            <a:srgbClr val="F0F3FA"/>
          </a:solidFill>
        </p:spPr>
      </p:sp>
      <p:sp>
        <p:nvSpPr>
          <p:cNvPr id="7" name="Text 5"/>
          <p:cNvSpPr/>
          <p:nvPr/>
        </p:nvSpPr>
        <p:spPr>
          <a:xfrm>
            <a:off x="777240" y="443484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4754880"/>
            <a:ext cx="10607040" cy="155448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Never assume “CTE = temp-table performance” in either engine — check the plan. Older MySQL versions materialize a non-recursive CTE referenced multiple times exactly once (cheap reuse). SQL Server often treats a CTE as a named subquery that gets re-inlined and re-evaluated at EVERY reference — a CTE referenced 3 times can trigger the same expensive computation 3 times. If reuse cost matters, materialize explicitly into a temp table (CREATE TEMPORARY TABLE / #temp) instead of trusting optimizer behavior.</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2.3</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Window Functions</a:t>
            </a:r>
            <a:endParaRPr lang="en-US" sz="3000" dirty="0"/>
          </a:p>
        </p:txBody>
      </p:sp>
      <p:sp>
        <p:nvSpPr>
          <p:cNvPr id="4" name="Text 2"/>
          <p:cNvSpPr/>
          <p:nvPr/>
        </p:nvSpPr>
        <p:spPr>
          <a:xfrm>
            <a:off x="548640" y="1508760"/>
            <a:ext cx="10789920" cy="45720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Every window function needs three ingredients: PARTITION BY (groups), ORDER BY (sequence), and an implicit or explicit frame.</a:t>
            </a:r>
            <a:endParaRPr lang="en-US" sz="1350" dirty="0"/>
          </a:p>
        </p:txBody>
      </p:sp>
      <p:graphicFrame>
        <p:nvGraphicFramePr>
          <p:cNvPr id="7" name="Table 0"/>
          <p:cNvGraphicFramePr>
            <a:graphicFrameLocks noGrp="1"/>
          </p:cNvGraphicFramePr>
          <p:nvPr/>
        </p:nvGraphicFramePr>
        <p:xfrm>
          <a:off x="548640" y="2103120"/>
          <a:ext cx="11064240" cy="3291840"/>
        </p:xfrm>
        <a:graphic>
          <a:graphicData uri="http://schemas.openxmlformats.org/drawingml/2006/table">
            <a:tbl>
              <a:tblPr/>
              <a:tblGrid>
                <a:gridCol w="3017520"/>
                <a:gridCol w="2560320"/>
                <a:gridCol w="5486400"/>
              </a:tblGrid>
              <a:tr h="548640">
                <a:tc>
                  <a:txBody>
                    <a:bodyP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Function</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Category</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buNone/>
                      </a:pPr>
                      <a:r>
                        <a:rPr lang="en-US" sz="135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It Returns</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r>
              <a:tr h="548640">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ROW_NUMBER()</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Ranking</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A unique sequential number per partition, ties broken arbitrarily</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548640">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Ranking</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 with gaps after ties (1, 2, 2, 4, ...)</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548640">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DENSE_RANK()</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Ranking</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Rank without gaps after ties (1, 2, 2, 3, ...)</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r h="548640">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LAG() / LEAD()</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Offset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The prior / next row's value within the partition</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548640">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SUM()/AVG() OVER()</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Aggregate window</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c>
                  <a:txBody>
                    <a:bodyPr/>
                    <a:lstStyle/>
                    <a:p>
                      <a:pPr marL="0" indent="0">
                        <a:buNone/>
                      </a:pPr>
                      <a:r>
                        <a:rPr lang="en-US" sz="1350" dirty="0">
                          <a:solidFill>
                            <a:srgbClr val="222222"/>
                          </a:solidFill>
                          <a:latin typeface="Calibri" panose="020F0502020204030204" pitchFamily="34" charset="0"/>
                          <a:ea typeface="Calibri" panose="020F0502020204030204" pitchFamily="34" charset="-122"/>
                          <a:cs typeface="Calibri" panose="020F0502020204030204" pitchFamily="34" charset="-120"/>
                        </a:rPr>
                        <a:t>Running total or moving average across the frame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0F3FA"/>
                    </a:solidFill>
                  </a:tcPr>
                </a:tc>
              </a:tr>
            </a:tbl>
          </a:graphicData>
        </a:graphic>
      </p:graphicFrame>
      <p:sp>
        <p:nvSpPr>
          <p:cNvPr id="6" name="Shape 3"/>
          <p:cNvSpPr/>
          <p:nvPr/>
        </p:nvSpPr>
        <p:spPr>
          <a:xfrm>
            <a:off x="548640" y="5257800"/>
            <a:ext cx="11064240" cy="1234440"/>
          </a:xfrm>
          <a:prstGeom prst="roundRect">
            <a:avLst>
              <a:gd name="adj" fmla="val 5926"/>
            </a:avLst>
          </a:prstGeom>
          <a:solidFill>
            <a:srgbClr val="F0F3FA"/>
          </a:solidFill>
        </p:spPr>
      </p:sp>
      <p:sp>
        <p:nvSpPr>
          <p:cNvPr id="5" name="Text 4"/>
          <p:cNvSpPr/>
          <p:nvPr/>
        </p:nvSpPr>
        <p:spPr>
          <a:xfrm>
            <a:off x="777240" y="539496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5"/>
          <p:cNvSpPr/>
          <p:nvPr/>
        </p:nvSpPr>
        <p:spPr>
          <a:xfrm>
            <a:off x="777240" y="5715000"/>
            <a:ext cx="10607040" cy="64008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Window functions do NOT collapse rows like GROUP BY — every input row survives, and the engine computes each row's value against its own frame slice of the partition. This is the core distinction to hammer home before 2.3b's frame-default trap.</a:t>
            </a:r>
            <a:endParaRPr lang="en-US" sz="1300" dirty="0"/>
          </a:p>
        </p:txBody>
      </p:sp>
      <p:sp>
        <p:nvSpPr>
          <p:cNvPr id="9" name="Text 6"/>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0" name="Text 7"/>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2.3</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Worked Example — Clickstream Sessionization</a:t>
            </a:r>
            <a:endParaRPr lang="en-US" sz="3000" dirty="0"/>
          </a:p>
        </p:txBody>
      </p:sp>
      <p:sp>
        <p:nvSpPr>
          <p:cNvPr id="4" name="Shape 2"/>
          <p:cNvSpPr/>
          <p:nvPr/>
        </p:nvSpPr>
        <p:spPr>
          <a:xfrm>
            <a:off x="548640" y="1600200"/>
            <a:ext cx="11064240" cy="3246120"/>
          </a:xfrm>
          <a:prstGeom prst="roundRect">
            <a:avLst>
              <a:gd name="adj" fmla="val 2254"/>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783080"/>
            <a:ext cx="10607040" cy="2880360"/>
          </a:xfrm>
          <a:prstGeom prst="rect">
            <a:avLst/>
          </a:prstGeom>
          <a:noFill/>
        </p:spPr>
        <p:txBody>
          <a:bodyPr wrap="square" lIns="0" tIns="0" rIns="0" bIns="0" rtlCol="0" anchor="t"/>
          <a:lstStyle/>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WITH gaps AS (</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user_id, event_id, event_time,</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LAG(event_time) OVER (PARTITION BY user_id ORDER BY event_time) AS prev_t</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clickstream_events</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flagged AS (</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 CASE WHEN prev_t IS NULL</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OR TIMESTAMPDIFF(MINUTE, prev_t, event_time) &gt; 30</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THEN 1 ELSE 0 END AS is_new_session</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gaps</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SUM(is_new_session) OVER (PARTITION BY user_id ORDER BY event_time</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ROWS BETWEEN UNBOUNDED PRECEDING AND CURRENT ROW) AS session_id_local</a:t>
            </a:r>
            <a:endParaRPr lang="en-US" sz="950" dirty="0"/>
          </a:p>
          <a:p>
            <a:pPr marL="0" indent="0" algn="l">
              <a:lnSpc>
                <a:spcPct val="115000"/>
              </a:lnSpc>
              <a:buNone/>
            </a:pPr>
            <a:r>
              <a:rPr lang="en-US" sz="9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FROM flagged;</a:t>
            </a:r>
            <a:endParaRPr lang="en-US" sz="950" dirty="0"/>
          </a:p>
        </p:txBody>
      </p:sp>
      <p:sp>
        <p:nvSpPr>
          <p:cNvPr id="6" name="Shape 4"/>
          <p:cNvSpPr/>
          <p:nvPr/>
        </p:nvSpPr>
        <p:spPr>
          <a:xfrm>
            <a:off x="548640" y="5074920"/>
            <a:ext cx="11064240" cy="1325880"/>
          </a:xfrm>
          <a:prstGeom prst="roundRect">
            <a:avLst>
              <a:gd name="adj" fmla="val 5517"/>
            </a:avLst>
          </a:prstGeom>
          <a:solidFill>
            <a:srgbClr val="F0F3FA"/>
          </a:solidFill>
        </p:spPr>
      </p:sp>
      <p:sp>
        <p:nvSpPr>
          <p:cNvPr id="7" name="Text 5"/>
          <p:cNvSpPr/>
          <p:nvPr/>
        </p:nvSpPr>
        <p:spPr>
          <a:xfrm>
            <a:off x="777240" y="521208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5532120"/>
            <a:ext cx="10607040" cy="73152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The default frame for an aggregate window function WITH an ORDER BY is RANGE BETWEEN UNBOUNDED PRECEDING AND CURRENT ROW — a running total, not the whole partition. This trips up nearly every beginner (“why isn't my SUM() OVER() the grand total?”). The engine sorts each partition once per distinct PARTITION BY/ORDER BY combination; reuse a named WINDOW clause in MySQL to avoid re-sorting for repeated window specs.</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2.4</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Data Cleaning — Three-Valued Logic</a:t>
            </a:r>
            <a:endParaRPr lang="en-US" sz="3000" dirty="0"/>
          </a:p>
        </p:txBody>
      </p:sp>
      <p:sp>
        <p:nvSpPr>
          <p:cNvPr id="4" name="Text 2"/>
          <p:cNvSpPr/>
          <p:nvPr/>
        </p:nvSpPr>
        <p:spPr>
          <a:xfrm>
            <a:off x="548640" y="1508760"/>
            <a:ext cx="10789920" cy="411480"/>
          </a:xfrm>
          <a:prstGeom prst="rect">
            <a:avLst/>
          </a:prstGeom>
          <a:noFill/>
        </p:spPr>
        <p:txBody>
          <a:bodyPr wrap="square" lIns="0" tIns="0" rIns="0" bIns="0" rtlCol="0" anchor="ctr"/>
          <a:lstStyle/>
          <a:p>
            <a:pPr marL="0" indent="0">
              <a:buNone/>
            </a:pPr>
            <a:r>
              <a:rPr lang="en-US" sz="1350" i="1" dirty="0">
                <a:solidFill>
                  <a:srgbClr val="6B7280"/>
                </a:solidFill>
                <a:latin typeface="Calibri" panose="020F0502020204030204" pitchFamily="34" charset="0"/>
                <a:ea typeface="Calibri" panose="020F0502020204030204" pitchFamily="34" charset="-122"/>
                <a:cs typeface="Calibri" panose="020F0502020204030204" pitchFamily="34" charset="-120"/>
              </a:rPr>
              <a:t>SQL predicates don't evaluate to just TRUE or FALSE — there's a third state, and it silently drops rows.</a:t>
            </a:r>
            <a:endParaRPr lang="en-US" sz="1350" dirty="0"/>
          </a:p>
        </p:txBody>
      </p:sp>
      <p:sp>
        <p:nvSpPr>
          <p:cNvPr id="5" name="Shape 3"/>
          <p:cNvSpPr/>
          <p:nvPr/>
        </p:nvSpPr>
        <p:spPr>
          <a:xfrm>
            <a:off x="548640" y="2103120"/>
            <a:ext cx="3520440" cy="1234440"/>
          </a:xfrm>
          <a:prstGeom prst="roundRect">
            <a:avLst>
              <a:gd name="adj" fmla="val 7407"/>
            </a:avLst>
          </a:prstGeom>
          <a:solidFill>
            <a:srgbClr val="F0F3FA"/>
          </a:solidFill>
        </p:spPr>
      </p:sp>
      <p:sp>
        <p:nvSpPr>
          <p:cNvPr id="6" name="Text 4"/>
          <p:cNvSpPr/>
          <p:nvPr/>
        </p:nvSpPr>
        <p:spPr>
          <a:xfrm>
            <a:off x="777240" y="2267712"/>
            <a:ext cx="3063240" cy="457200"/>
          </a:xfrm>
          <a:prstGeom prst="rect">
            <a:avLst/>
          </a:prstGeom>
          <a:noFill/>
        </p:spPr>
        <p:txBody>
          <a:bodyPr wrap="square" lIns="0" tIns="0" rIns="0" bIns="0" rtlCol="0" anchor="ctr"/>
          <a:lstStyle/>
          <a:p>
            <a:pPr marL="0" indent="0">
              <a:buNone/>
            </a:pPr>
            <a:r>
              <a:rPr lang="en-US" sz="2000" b="1" dirty="0">
                <a:solidFill>
                  <a:srgbClr val="1E2761"/>
                </a:solidFill>
                <a:latin typeface="Cambria" panose="02040503050406030204" pitchFamily="34" charset="0"/>
                <a:ea typeface="Cambria" panose="02040503050406030204" pitchFamily="34" charset="-122"/>
                <a:cs typeface="Cambria" panose="02040503050406030204" pitchFamily="34" charset="-120"/>
              </a:rPr>
              <a:t>TRUE</a:t>
            </a:r>
            <a:endParaRPr lang="en-US" sz="2000" dirty="0"/>
          </a:p>
        </p:txBody>
      </p:sp>
      <p:sp>
        <p:nvSpPr>
          <p:cNvPr id="7" name="Text 5"/>
          <p:cNvSpPr/>
          <p:nvPr/>
        </p:nvSpPr>
        <p:spPr>
          <a:xfrm>
            <a:off x="777240" y="2761488"/>
            <a:ext cx="3063240" cy="457200"/>
          </a:xfrm>
          <a:prstGeom prst="rect">
            <a:avLst/>
          </a:prstGeom>
          <a:noFill/>
        </p:spPr>
        <p:txBody>
          <a:bodyPr wrap="square" lIns="0" tIns="0" rIns="0" bIns="0" rtlCol="0" anchor="ctr"/>
          <a:lstStyle/>
          <a:p>
            <a:pPr marL="0" indent="0">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Row is kept</a:t>
            </a:r>
            <a:endParaRPr lang="en-US" sz="1300" dirty="0"/>
          </a:p>
        </p:txBody>
      </p:sp>
      <p:sp>
        <p:nvSpPr>
          <p:cNvPr id="8" name="Shape 6"/>
          <p:cNvSpPr/>
          <p:nvPr/>
        </p:nvSpPr>
        <p:spPr>
          <a:xfrm>
            <a:off x="4343400" y="2103120"/>
            <a:ext cx="3520440" cy="1234440"/>
          </a:xfrm>
          <a:prstGeom prst="roundRect">
            <a:avLst>
              <a:gd name="adj" fmla="val 7407"/>
            </a:avLst>
          </a:prstGeom>
          <a:solidFill>
            <a:srgbClr val="F0F3FA"/>
          </a:solidFill>
        </p:spPr>
      </p:sp>
      <p:sp>
        <p:nvSpPr>
          <p:cNvPr id="9" name="Text 7"/>
          <p:cNvSpPr/>
          <p:nvPr/>
        </p:nvSpPr>
        <p:spPr>
          <a:xfrm>
            <a:off x="4572000" y="2267712"/>
            <a:ext cx="3063240" cy="457200"/>
          </a:xfrm>
          <a:prstGeom prst="rect">
            <a:avLst/>
          </a:prstGeom>
          <a:noFill/>
        </p:spPr>
        <p:txBody>
          <a:bodyPr wrap="square" lIns="0" tIns="0" rIns="0" bIns="0" rtlCol="0" anchor="ctr"/>
          <a:lstStyle/>
          <a:p>
            <a:pPr marL="0" indent="0">
              <a:buNone/>
            </a:pPr>
            <a:r>
              <a:rPr lang="en-US" sz="2000" b="1" dirty="0">
                <a:solidFill>
                  <a:srgbClr val="1E2761"/>
                </a:solidFill>
                <a:latin typeface="Cambria" panose="02040503050406030204" pitchFamily="34" charset="0"/>
                <a:ea typeface="Cambria" panose="02040503050406030204" pitchFamily="34" charset="-122"/>
                <a:cs typeface="Cambria" panose="02040503050406030204" pitchFamily="34" charset="-120"/>
              </a:rPr>
              <a:t>FALSE</a:t>
            </a:r>
            <a:endParaRPr lang="en-US" sz="2000" dirty="0"/>
          </a:p>
        </p:txBody>
      </p:sp>
      <p:sp>
        <p:nvSpPr>
          <p:cNvPr id="10" name="Text 8"/>
          <p:cNvSpPr/>
          <p:nvPr/>
        </p:nvSpPr>
        <p:spPr>
          <a:xfrm>
            <a:off x="4572000" y="2761488"/>
            <a:ext cx="3063240" cy="457200"/>
          </a:xfrm>
          <a:prstGeom prst="rect">
            <a:avLst/>
          </a:prstGeom>
          <a:noFill/>
        </p:spPr>
        <p:txBody>
          <a:bodyPr wrap="square" lIns="0" tIns="0" rIns="0" bIns="0" rtlCol="0" anchor="ctr"/>
          <a:lstStyle/>
          <a:p>
            <a:pPr marL="0" indent="0">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Row is dropped</a:t>
            </a:r>
            <a:endParaRPr lang="en-US" sz="1300" dirty="0"/>
          </a:p>
        </p:txBody>
      </p:sp>
      <p:sp>
        <p:nvSpPr>
          <p:cNvPr id="11" name="Shape 9"/>
          <p:cNvSpPr/>
          <p:nvPr/>
        </p:nvSpPr>
        <p:spPr>
          <a:xfrm>
            <a:off x="8138160" y="2103120"/>
            <a:ext cx="3520440" cy="1234440"/>
          </a:xfrm>
          <a:prstGeom prst="roundRect">
            <a:avLst>
              <a:gd name="adj" fmla="val 7407"/>
            </a:avLst>
          </a:prstGeom>
          <a:solidFill>
            <a:srgbClr val="1E2761"/>
          </a:solidFill>
        </p:spPr>
      </p:sp>
      <p:sp>
        <p:nvSpPr>
          <p:cNvPr id="12" name="Text 10"/>
          <p:cNvSpPr/>
          <p:nvPr/>
        </p:nvSpPr>
        <p:spPr>
          <a:xfrm>
            <a:off x="8366760" y="2267712"/>
            <a:ext cx="3063240" cy="457200"/>
          </a:xfrm>
          <a:prstGeom prst="rect">
            <a:avLst/>
          </a:prstGeom>
          <a:noFill/>
        </p:spPr>
        <p:txBody>
          <a:bodyPr wrap="square" lIns="0" tIns="0" rIns="0" bIns="0" rtlCol="0" anchor="ctr"/>
          <a:lstStyle/>
          <a:p>
            <a:pPr marL="0" indent="0">
              <a:buNone/>
            </a:pPr>
            <a:r>
              <a:rPr lang="en-US" sz="2000" b="1" dirty="0">
                <a:solidFill>
                  <a:srgbClr val="E3A008"/>
                </a:solidFill>
                <a:latin typeface="Cambria" panose="02040503050406030204" pitchFamily="34" charset="0"/>
                <a:ea typeface="Cambria" panose="02040503050406030204" pitchFamily="34" charset="-122"/>
                <a:cs typeface="Cambria" panose="02040503050406030204" pitchFamily="34" charset="-120"/>
              </a:rPr>
              <a:t>UNKNOWN</a:t>
            </a:r>
            <a:endParaRPr lang="en-US" sz="2000" dirty="0"/>
          </a:p>
        </p:txBody>
      </p:sp>
      <p:sp>
        <p:nvSpPr>
          <p:cNvPr id="13" name="Text 11"/>
          <p:cNvSpPr/>
          <p:nvPr/>
        </p:nvSpPr>
        <p:spPr>
          <a:xfrm>
            <a:off x="8366760" y="2761488"/>
            <a:ext cx="3063240" cy="45720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Row is dropped — silently</a:t>
            </a:r>
            <a:endParaRPr lang="en-US" sz="1300" dirty="0"/>
          </a:p>
        </p:txBody>
      </p:sp>
      <p:sp>
        <p:nvSpPr>
          <p:cNvPr id="14" name="Shape 12"/>
          <p:cNvSpPr/>
          <p:nvPr/>
        </p:nvSpPr>
        <p:spPr>
          <a:xfrm>
            <a:off x="548640" y="3611880"/>
            <a:ext cx="11064240" cy="1600200"/>
          </a:xfrm>
          <a:prstGeom prst="roundRect">
            <a:avLst>
              <a:gd name="adj" fmla="val 4571"/>
            </a:avLst>
          </a:prstGeom>
          <a:solidFill>
            <a:srgbClr val="10163A"/>
          </a:solidFill>
          <a:effectLst>
            <a:outerShdw blurRad="76200" dist="25400" dir="5400000" algn="bl" rotWithShape="0">
              <a:srgbClr val="000000">
                <a:alpha val="25000"/>
              </a:srgbClr>
            </a:outerShdw>
          </a:effectLst>
        </p:spPr>
      </p:sp>
      <p:sp>
        <p:nvSpPr>
          <p:cNvPr id="15" name="Text 13"/>
          <p:cNvSpPr/>
          <p:nvPr/>
        </p:nvSpPr>
        <p:spPr>
          <a:xfrm>
            <a:off x="777240" y="3794760"/>
            <a:ext cx="10607040" cy="1234440"/>
          </a:xfrm>
          <a:prstGeom prst="rect">
            <a:avLst/>
          </a:prstGeom>
          <a:noFill/>
        </p:spPr>
        <p:txBody>
          <a:bodyPr wrap="square" lIns="0" tIns="0" rIns="0" bIns="0" rtlCol="0" anchor="t"/>
          <a:lstStyle/>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FROM users WHERE country = NULL;    -- returns ZERO rows, always</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FROM users WHERE country IS NULL;   -- correct way to test for NULL</a:t>
            </a:r>
            <a:endParaRPr lang="en-US" sz="1300" dirty="0"/>
          </a:p>
          <a:p>
            <a:pPr marL="0" indent="0" algn="l">
              <a:lnSpc>
                <a:spcPct val="115000"/>
              </a:lnSpc>
              <a:buNone/>
            </a:pPr>
            <a:r>
              <a:rPr lang="en-US" sz="13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FROM users WHERE country &lt;=&gt; NULL;  -- MySQL NULL-safe equality operator</a:t>
            </a:r>
            <a:endParaRPr lang="en-US" sz="1300" dirty="0"/>
          </a:p>
        </p:txBody>
      </p:sp>
      <p:sp>
        <p:nvSpPr>
          <p:cNvPr id="16" name="Shape 14"/>
          <p:cNvSpPr/>
          <p:nvPr/>
        </p:nvSpPr>
        <p:spPr>
          <a:xfrm>
            <a:off x="548640" y="5349240"/>
            <a:ext cx="11064240" cy="914400"/>
          </a:xfrm>
          <a:prstGeom prst="roundRect">
            <a:avLst>
              <a:gd name="adj" fmla="val 8000"/>
            </a:avLst>
          </a:prstGeom>
          <a:solidFill>
            <a:srgbClr val="F0F3FA"/>
          </a:solidFill>
        </p:spPr>
      </p:sp>
      <p:sp>
        <p:nvSpPr>
          <p:cNvPr id="17" name="Text 15"/>
          <p:cNvSpPr/>
          <p:nvPr/>
        </p:nvSpPr>
        <p:spPr>
          <a:xfrm>
            <a:off x="777240" y="548640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8" name="Text 16"/>
          <p:cNvSpPr/>
          <p:nvPr/>
        </p:nvSpPr>
        <p:spPr>
          <a:xfrm>
            <a:off x="777240" y="5806440"/>
            <a:ext cx="10607040" cy="32004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Any comparison involving NULL evaluates to UNKNOWN, and WHERE only keeps rows where the predicate is TRUE — this is the single most common source of silent data loss in analytics pipelines (a WHERE col != 'x' filter silently excludes every NULL row too).</a:t>
            </a:r>
            <a:endParaRPr lang="en-US" sz="1300" dirty="0"/>
          </a:p>
        </p:txBody>
      </p:sp>
      <p:sp>
        <p:nvSpPr>
          <p:cNvPr id="19" name="Text 1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20" name="Text 1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2.4</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Deduplication, Type Coercion &amp; Outliers</a:t>
            </a:r>
            <a:endParaRPr lang="en-US" sz="3000" dirty="0"/>
          </a:p>
        </p:txBody>
      </p:sp>
      <p:sp>
        <p:nvSpPr>
          <p:cNvPr id="4" name="Shape 2"/>
          <p:cNvSpPr/>
          <p:nvPr/>
        </p:nvSpPr>
        <p:spPr>
          <a:xfrm>
            <a:off x="548640" y="1645920"/>
            <a:ext cx="11064240" cy="2514600"/>
          </a:xfrm>
          <a:prstGeom prst="roundRect">
            <a:avLst>
              <a:gd name="adj" fmla="val 2909"/>
            </a:avLst>
          </a:prstGeom>
          <a:solidFill>
            <a:srgbClr val="10163A"/>
          </a:solidFill>
          <a:effectLst>
            <a:outerShdw blurRad="76200" dist="25400" dir="5400000" algn="bl" rotWithShape="0">
              <a:srgbClr val="000000">
                <a:alpha val="25000"/>
              </a:srgbClr>
            </a:outerShdw>
          </a:effectLst>
        </p:spPr>
      </p:sp>
      <p:sp>
        <p:nvSpPr>
          <p:cNvPr id="5" name="Text 3"/>
          <p:cNvSpPr/>
          <p:nvPr/>
        </p:nvSpPr>
        <p:spPr>
          <a:xfrm>
            <a:off x="777240" y="1828800"/>
            <a:ext cx="10607040" cy="2148840"/>
          </a:xfrm>
          <a:prstGeom prst="rect">
            <a:avLst/>
          </a:prstGeom>
          <a:noFill/>
        </p:spPr>
        <p:txBody>
          <a:bodyPr wrap="square" lIns="0" tIns="0" rIns="0" bIns="0" rtlCol="0" anchor="t"/>
          <a:lstStyle/>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WITH ranked AS (</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 ROW_NUMBER() OVER (</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PARTITION BY user_id, session_id, event_type, event_time</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ORDER BY event_id</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 AS rn</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clickstream_events</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DELETE FROM clickstream_events</a:t>
            </a:r>
            <a:endParaRPr lang="en-US" sz="1100" dirty="0"/>
          </a:p>
          <a:p>
            <a:pPr marL="0" indent="0" algn="l">
              <a:lnSpc>
                <a:spcPct val="115000"/>
              </a:lnSpc>
              <a:buNone/>
            </a:pPr>
            <a:r>
              <a:rPr lang="en-US" sz="110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WHERE event_id IN (SELECT event_id FROM ranked WHERE rn &gt; 1);</a:t>
            </a:r>
            <a:endParaRPr lang="en-US" sz="1100" dirty="0"/>
          </a:p>
        </p:txBody>
      </p:sp>
      <p:sp>
        <p:nvSpPr>
          <p:cNvPr id="6" name="Shape 4"/>
          <p:cNvSpPr/>
          <p:nvPr/>
        </p:nvSpPr>
        <p:spPr>
          <a:xfrm>
            <a:off x="548640" y="4297680"/>
            <a:ext cx="11064240" cy="2011680"/>
          </a:xfrm>
          <a:prstGeom prst="roundRect">
            <a:avLst>
              <a:gd name="adj" fmla="val 3636"/>
            </a:avLst>
          </a:prstGeom>
          <a:solidFill>
            <a:srgbClr val="F0F3FA"/>
          </a:solidFill>
        </p:spPr>
      </p:sp>
      <p:sp>
        <p:nvSpPr>
          <p:cNvPr id="7" name="Text 5"/>
          <p:cNvSpPr/>
          <p:nvPr/>
        </p:nvSpPr>
        <p:spPr>
          <a:xfrm>
            <a:off x="777240" y="443484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8" name="Text 6"/>
          <p:cNvSpPr/>
          <p:nvPr/>
        </p:nvSpPr>
        <p:spPr>
          <a:xfrm>
            <a:off x="777240" y="4754880"/>
            <a:ext cx="10607040" cy="141732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ROW_NUMBER() partitioned on the natural key keeps exactly one row per duplicate group (rn = 1) and marks the rest for deletion — the standard fix for double-fired tracking pixels. Two related traps to watch for in the same pipelines: type coercion, where comparing a VARCHAR column to an INT literal triggers an implicit cast that can silently disable index usage on that column; and outlier detection, which is usually done with a window AVG()/STDDEV() computed per partition rather than a single global threshold, since “normal” often varies by category or user segment.</a:t>
            </a:r>
            <a:endParaRPr lang="en-US" sz="1300" dirty="0"/>
          </a:p>
        </p:txBody>
      </p:sp>
      <p:sp>
        <p:nvSpPr>
          <p:cNvPr id="9" name="Text 7"/>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0" name="Text 8"/>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2.5</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Set Operations — UNION vs. UNION ALL</a:t>
            </a:r>
            <a:endParaRPr lang="en-US" sz="3000" dirty="0"/>
          </a:p>
        </p:txBody>
      </p:sp>
      <p:sp>
        <p:nvSpPr>
          <p:cNvPr id="4" name="Shape 2"/>
          <p:cNvSpPr/>
          <p:nvPr/>
        </p:nvSpPr>
        <p:spPr>
          <a:xfrm>
            <a:off x="548640" y="1783080"/>
            <a:ext cx="5394960" cy="3017520"/>
          </a:xfrm>
          <a:prstGeom prst="roundRect">
            <a:avLst>
              <a:gd name="adj" fmla="val 3030"/>
            </a:avLst>
          </a:prstGeom>
          <a:solidFill>
            <a:srgbClr val="F0F3FA"/>
          </a:solidFill>
        </p:spPr>
      </p:sp>
      <p:sp>
        <p:nvSpPr>
          <p:cNvPr id="5" name="Shape 3"/>
          <p:cNvSpPr/>
          <p:nvPr/>
        </p:nvSpPr>
        <p:spPr>
          <a:xfrm>
            <a:off x="822960" y="2057400"/>
            <a:ext cx="146304" cy="146304"/>
          </a:xfrm>
          <a:prstGeom prst="roundRect">
            <a:avLst>
              <a:gd name="adj" fmla="val 50000"/>
            </a:avLst>
          </a:prstGeom>
          <a:solidFill>
            <a:srgbClr val="3D4FA0"/>
          </a:solidFill>
        </p:spPr>
      </p:sp>
      <p:sp>
        <p:nvSpPr>
          <p:cNvPr id="6" name="Text 4"/>
          <p:cNvSpPr/>
          <p:nvPr/>
        </p:nvSpPr>
        <p:spPr>
          <a:xfrm>
            <a:off x="1097280" y="1984248"/>
            <a:ext cx="4572000" cy="36576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UNION</a:t>
            </a:r>
            <a:endParaRPr lang="en-US" sz="1900" dirty="0"/>
          </a:p>
        </p:txBody>
      </p:sp>
      <p:sp>
        <p:nvSpPr>
          <p:cNvPr id="7" name="Text 5"/>
          <p:cNvSpPr/>
          <p:nvPr/>
        </p:nvSpPr>
        <p:spPr>
          <a:xfrm>
            <a:off x="822960" y="2560320"/>
            <a:ext cx="4846320" cy="2011680"/>
          </a:xfrm>
          <a:prstGeom prst="rect">
            <a:avLst/>
          </a:prstGeom>
          <a:noFill/>
        </p:spPr>
        <p:txBody>
          <a:bodyPr wrap="square" lIns="0" tIns="0" rIns="0" bIns="0" rtlCol="0" anchor="ctr"/>
          <a:lstStyle/>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Removes duplicate rows across both row sets</a:t>
            </a:r>
            <a:endParaRPr lang="en-US" sz="1300" dirty="0"/>
          </a:p>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Requires an implicit sort or hash-distinct pass over the combined output</a:t>
            </a:r>
            <a:endParaRPr lang="en-US" sz="1300" dirty="0"/>
          </a:p>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Cost scales with total row count — pay for uniqueness you may not need</a:t>
            </a:r>
            <a:endParaRPr lang="en-US" sz="1300" dirty="0"/>
          </a:p>
        </p:txBody>
      </p:sp>
      <p:sp>
        <p:nvSpPr>
          <p:cNvPr id="8" name="Shape 6"/>
          <p:cNvSpPr/>
          <p:nvPr/>
        </p:nvSpPr>
        <p:spPr>
          <a:xfrm>
            <a:off x="6217920" y="1783080"/>
            <a:ext cx="5394960" cy="3017520"/>
          </a:xfrm>
          <a:prstGeom prst="roundRect">
            <a:avLst>
              <a:gd name="adj" fmla="val 3030"/>
            </a:avLst>
          </a:prstGeom>
          <a:solidFill>
            <a:srgbClr val="F0F3FA"/>
          </a:solidFill>
        </p:spPr>
      </p:sp>
      <p:sp>
        <p:nvSpPr>
          <p:cNvPr id="9" name="Shape 7"/>
          <p:cNvSpPr/>
          <p:nvPr/>
        </p:nvSpPr>
        <p:spPr>
          <a:xfrm>
            <a:off x="6492240" y="2057400"/>
            <a:ext cx="146304" cy="146304"/>
          </a:xfrm>
          <a:prstGeom prst="roundRect">
            <a:avLst>
              <a:gd name="adj" fmla="val 50000"/>
            </a:avLst>
          </a:prstGeom>
          <a:solidFill>
            <a:srgbClr val="1E2761"/>
          </a:solidFill>
        </p:spPr>
      </p:sp>
      <p:sp>
        <p:nvSpPr>
          <p:cNvPr id="10" name="Text 8"/>
          <p:cNvSpPr/>
          <p:nvPr/>
        </p:nvSpPr>
        <p:spPr>
          <a:xfrm>
            <a:off x="6766560" y="1984248"/>
            <a:ext cx="4572000" cy="36576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UNION ALL</a:t>
            </a:r>
            <a:endParaRPr lang="en-US" sz="1900" dirty="0"/>
          </a:p>
        </p:txBody>
      </p:sp>
      <p:sp>
        <p:nvSpPr>
          <p:cNvPr id="11" name="Text 9"/>
          <p:cNvSpPr/>
          <p:nvPr/>
        </p:nvSpPr>
        <p:spPr>
          <a:xfrm>
            <a:off x="6492240" y="2560320"/>
            <a:ext cx="4846320" cy="2011680"/>
          </a:xfrm>
          <a:prstGeom prst="rect">
            <a:avLst/>
          </a:prstGeom>
          <a:noFill/>
        </p:spPr>
        <p:txBody>
          <a:bodyPr wrap="square" lIns="0" tIns="0" rIns="0" bIns="0" rtlCol="0" anchor="ctr"/>
          <a:lstStyle/>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Simply concatenates both row sets, no dedup</a:t>
            </a:r>
            <a:endParaRPr lang="en-US" sz="1300" dirty="0"/>
          </a:p>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No extra sort/hash pass — far cheaper</a:t>
            </a:r>
            <a:endParaRPr lang="en-US" sz="1300" dirty="0"/>
          </a:p>
          <a:p>
            <a:pPr marL="342900" indent="-342900">
              <a:lnSpc>
                <a:spcPct val="115000"/>
              </a:lnSpc>
              <a:spcAft>
                <a:spcPts val="1400"/>
              </a:spcAft>
              <a:buSzPct val="100000"/>
              <a:buChar char="➔"/>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Default choice unless duplicates are actually a problem for your result</a:t>
            </a:r>
            <a:endParaRPr lang="en-US" sz="1300" dirty="0"/>
          </a:p>
        </p:txBody>
      </p:sp>
      <p:sp>
        <p:nvSpPr>
          <p:cNvPr id="12" name="Shape 10"/>
          <p:cNvSpPr/>
          <p:nvPr/>
        </p:nvSpPr>
        <p:spPr>
          <a:xfrm>
            <a:off x="548640" y="5074920"/>
            <a:ext cx="11064240" cy="1325880"/>
          </a:xfrm>
          <a:prstGeom prst="roundRect">
            <a:avLst>
              <a:gd name="adj" fmla="val 5517"/>
            </a:avLst>
          </a:prstGeom>
          <a:solidFill>
            <a:srgbClr val="F0F3FA"/>
          </a:solidFill>
        </p:spPr>
      </p:sp>
      <p:sp>
        <p:nvSpPr>
          <p:cNvPr id="13" name="Text 11"/>
          <p:cNvSpPr/>
          <p:nvPr/>
        </p:nvSpPr>
        <p:spPr>
          <a:xfrm>
            <a:off x="777240" y="521208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4" name="Text 12"/>
          <p:cNvSpPr/>
          <p:nvPr/>
        </p:nvSpPr>
        <p:spPr>
          <a:xfrm>
            <a:off x="777240" y="5532120"/>
            <a:ext cx="10607040" cy="73152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Rule of thumb: default to UNION ALL. Only pay for UNION's dedup pass when you have a concrete reason to believe duplicates will appear across the two row sets AND that duplicates would break your downstream result — otherwise you're paying a sort/hash cost for a guarantee you don't need.</a:t>
            </a:r>
            <a:endParaRPr lang="en-US" sz="1300" dirty="0"/>
          </a:p>
        </p:txBody>
      </p:sp>
      <p:sp>
        <p:nvSpPr>
          <p:cNvPr id="15" name="Text 13"/>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6" name="Text 14"/>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LECTURE 2.5</a:t>
            </a:r>
            <a:endParaRPr lang="en-US" sz="1400" dirty="0"/>
          </a:p>
        </p:txBody>
      </p:sp>
      <p:sp>
        <p:nvSpPr>
          <p:cNvPr id="3" name="Text 1"/>
          <p:cNvSpPr/>
          <p:nvPr/>
        </p:nvSpPr>
        <p:spPr>
          <a:xfrm>
            <a:off x="548640" y="685800"/>
            <a:ext cx="10789920" cy="82296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Pivoting Without Native PIVOT Everywhere</a:t>
            </a:r>
            <a:endParaRPr lang="en-US" sz="3000" dirty="0"/>
          </a:p>
        </p:txBody>
      </p:sp>
      <p:sp>
        <p:nvSpPr>
          <p:cNvPr id="4" name="Text 2"/>
          <p:cNvSpPr/>
          <p:nvPr/>
        </p:nvSpPr>
        <p:spPr>
          <a:xfrm>
            <a:off x="548640" y="1691640"/>
            <a:ext cx="5394960" cy="320040"/>
          </a:xfrm>
          <a:prstGeom prst="rect">
            <a:avLst/>
          </a:prstGeom>
          <a:noFill/>
        </p:spPr>
        <p:txBody>
          <a:bodyPr wrap="square" lIns="0" tIns="0" rIns="0" bIns="0" rtlCol="0" anchor="ctr"/>
          <a:lstStyle/>
          <a:p>
            <a:pPr marL="0" indent="0">
              <a:buNone/>
            </a:pPr>
            <a:r>
              <a:rPr lang="en-US" sz="1450" b="1" dirty="0">
                <a:solidFill>
                  <a:srgbClr val="1E2761"/>
                </a:solidFill>
                <a:latin typeface="Cambria" panose="02040503050406030204" pitchFamily="34" charset="0"/>
                <a:ea typeface="Cambria" panose="02040503050406030204" pitchFamily="34" charset="-122"/>
                <a:cs typeface="Cambria" panose="02040503050406030204" pitchFamily="34" charset="-120"/>
              </a:rPr>
              <a:t>SQL Server (T-SQL) — native PIVOT</a:t>
            </a:r>
            <a:endParaRPr lang="en-US" sz="1450" dirty="0"/>
          </a:p>
        </p:txBody>
      </p:sp>
      <p:sp>
        <p:nvSpPr>
          <p:cNvPr id="5" name="Shape 3"/>
          <p:cNvSpPr/>
          <p:nvPr/>
        </p:nvSpPr>
        <p:spPr>
          <a:xfrm>
            <a:off x="548640" y="2011680"/>
            <a:ext cx="5394960" cy="2286000"/>
          </a:xfrm>
          <a:prstGeom prst="roundRect">
            <a:avLst>
              <a:gd name="adj" fmla="val 3200"/>
            </a:avLst>
          </a:prstGeom>
          <a:solidFill>
            <a:srgbClr val="10163A"/>
          </a:solidFill>
          <a:effectLst>
            <a:outerShdw blurRad="76200" dist="25400" dir="5400000" algn="bl" rotWithShape="0">
              <a:srgbClr val="000000">
                <a:alpha val="25000"/>
              </a:srgbClr>
            </a:outerShdw>
          </a:effectLst>
        </p:spPr>
      </p:sp>
      <p:sp>
        <p:nvSpPr>
          <p:cNvPr id="6" name="Text 4"/>
          <p:cNvSpPr/>
          <p:nvPr/>
        </p:nvSpPr>
        <p:spPr>
          <a:xfrm>
            <a:off x="777240" y="2194560"/>
            <a:ext cx="4937760" cy="1920240"/>
          </a:xfrm>
          <a:prstGeom prst="rect">
            <a:avLst/>
          </a:prstGeom>
          <a:noFill/>
        </p:spPr>
        <p:txBody>
          <a:bodyPr wrap="square" lIns="0" tIns="0" rIns="0" bIns="0" rtlCol="0" anchor="t"/>
          <a:lstStyle/>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 FROM (</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SELECT category, YEAR(order_date) AS yr,</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quantity * unit_price AS revenue</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FROM order_items oi JOIN orders o ...</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src</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PIVOT (</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SUM(revenue) FOR yr IN ([2024],[2025],[2026])</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AS p;</a:t>
            </a:r>
            <a:endParaRPr lang="en-US" sz="1150" dirty="0"/>
          </a:p>
        </p:txBody>
      </p:sp>
      <p:sp>
        <p:nvSpPr>
          <p:cNvPr id="7" name="Text 5"/>
          <p:cNvSpPr/>
          <p:nvPr/>
        </p:nvSpPr>
        <p:spPr>
          <a:xfrm>
            <a:off x="6217920" y="1691640"/>
            <a:ext cx="5394960" cy="320040"/>
          </a:xfrm>
          <a:prstGeom prst="rect">
            <a:avLst/>
          </a:prstGeom>
          <a:noFill/>
        </p:spPr>
        <p:txBody>
          <a:bodyPr wrap="square" lIns="0" tIns="0" rIns="0" bIns="0" rtlCol="0" anchor="ctr"/>
          <a:lstStyle/>
          <a:p>
            <a:pPr marL="0" indent="0">
              <a:buNone/>
            </a:pPr>
            <a:r>
              <a:rPr lang="en-US" sz="1450" b="1" dirty="0">
                <a:solidFill>
                  <a:srgbClr val="1E2761"/>
                </a:solidFill>
                <a:latin typeface="Cambria" panose="02040503050406030204" pitchFamily="34" charset="0"/>
                <a:ea typeface="Cambria" panose="02040503050406030204" pitchFamily="34" charset="-122"/>
                <a:cs typeface="Cambria" panose="02040503050406030204" pitchFamily="34" charset="-120"/>
              </a:rPr>
              <a:t>Both engines — conditional aggregation (portable)</a:t>
            </a:r>
            <a:endParaRPr lang="en-US" sz="1450" dirty="0"/>
          </a:p>
        </p:txBody>
      </p:sp>
      <p:sp>
        <p:nvSpPr>
          <p:cNvPr id="8" name="Shape 6"/>
          <p:cNvSpPr/>
          <p:nvPr/>
        </p:nvSpPr>
        <p:spPr>
          <a:xfrm>
            <a:off x="6217920" y="2011680"/>
            <a:ext cx="5394960" cy="2286000"/>
          </a:xfrm>
          <a:prstGeom prst="roundRect">
            <a:avLst>
              <a:gd name="adj" fmla="val 3200"/>
            </a:avLst>
          </a:prstGeom>
          <a:solidFill>
            <a:srgbClr val="10163A"/>
          </a:solidFill>
          <a:effectLst>
            <a:outerShdw blurRad="76200" dist="25400" dir="5400000" algn="bl" rotWithShape="0">
              <a:srgbClr val="000000">
                <a:alpha val="25000"/>
              </a:srgbClr>
            </a:outerShdw>
          </a:effectLst>
        </p:spPr>
      </p:sp>
      <p:sp>
        <p:nvSpPr>
          <p:cNvPr id="9" name="Text 7"/>
          <p:cNvSpPr/>
          <p:nvPr/>
        </p:nvSpPr>
        <p:spPr>
          <a:xfrm>
            <a:off x="6446520" y="2194560"/>
            <a:ext cx="4937760" cy="1920240"/>
          </a:xfrm>
          <a:prstGeom prst="rect">
            <a:avLst/>
          </a:prstGeom>
          <a:noFill/>
        </p:spPr>
        <p:txBody>
          <a:bodyPr wrap="square" lIns="0" tIns="0" rIns="0" bIns="0" rtlCol="0" anchor="t"/>
          <a:lstStyle/>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SELECT category,</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SUM(CASE WHEN YEAR(order_date)=2024</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THEN revenue END) AS y2024,</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SUM(CASE WHEN YEAR(order_date)=2025</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THEN revenue END) AS y2025,</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SUM(CASE WHEN YEAR(order_date)=2026</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           THEN revenue END) AS y2026</a:t>
            </a:r>
            <a:endParaRPr lang="en-US" sz="1150" dirty="0"/>
          </a:p>
          <a:p>
            <a:pPr marL="0" indent="0" algn="l">
              <a:lnSpc>
                <a:spcPct val="115000"/>
              </a:lnSpc>
              <a:buNone/>
            </a:pPr>
            <a:r>
              <a:rPr lang="en-US" sz="11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FROM ... GROUP BY category;</a:t>
            </a:r>
            <a:endParaRPr lang="en-US" sz="1150" dirty="0"/>
          </a:p>
        </p:txBody>
      </p:sp>
      <p:sp>
        <p:nvSpPr>
          <p:cNvPr id="10" name="Shape 8"/>
          <p:cNvSpPr/>
          <p:nvPr/>
        </p:nvSpPr>
        <p:spPr>
          <a:xfrm>
            <a:off x="548640" y="4526280"/>
            <a:ext cx="11064240" cy="1691640"/>
          </a:xfrm>
          <a:prstGeom prst="roundRect">
            <a:avLst>
              <a:gd name="adj" fmla="val 4324"/>
            </a:avLst>
          </a:prstGeom>
          <a:solidFill>
            <a:srgbClr val="F0F3FA"/>
          </a:solidFill>
        </p:spPr>
      </p:sp>
      <p:sp>
        <p:nvSpPr>
          <p:cNvPr id="11" name="Text 9"/>
          <p:cNvSpPr/>
          <p:nvPr/>
        </p:nvSpPr>
        <p:spPr>
          <a:xfrm>
            <a:off x="777240" y="4663440"/>
            <a:ext cx="10607040" cy="274320"/>
          </a:xfrm>
          <a:prstGeom prst="rect">
            <a:avLst/>
          </a:prstGeom>
          <a:noFill/>
        </p:spPr>
        <p:txBody>
          <a:bodyPr wrap="square" lIns="0" tIns="0" rIns="0" bIns="0" rtlCol="0" anchor="ctr"/>
          <a:lstStyle/>
          <a:p>
            <a:pPr marL="0" indent="0">
              <a:buNone/>
            </a:pPr>
            <a:r>
              <a:rPr lang="en-US" sz="1100" b="1" kern="0" spc="150" dirty="0">
                <a:solidFill>
                  <a:srgbClr val="1E2761"/>
                </a:solidFill>
                <a:latin typeface="Calibri" panose="020F0502020204030204" pitchFamily="34" charset="0"/>
                <a:ea typeface="Calibri" panose="020F0502020204030204" pitchFamily="34" charset="-122"/>
                <a:cs typeface="Calibri" panose="020F0502020204030204" pitchFamily="34" charset="-120"/>
              </a:rPr>
              <a:t>UNDER THE HOOD</a:t>
            </a:r>
            <a:endParaRPr lang="en-US" sz="1100" dirty="0"/>
          </a:p>
        </p:txBody>
      </p:sp>
      <p:sp>
        <p:nvSpPr>
          <p:cNvPr id="12" name="Text 10"/>
          <p:cNvSpPr/>
          <p:nvPr/>
        </p:nvSpPr>
        <p:spPr>
          <a:xfrm>
            <a:off x="777240" y="4983480"/>
            <a:ext cx="10607040" cy="1097280"/>
          </a:xfrm>
          <a:prstGeom prst="rect">
            <a:avLst/>
          </a:prstGeom>
          <a:noFill/>
        </p:spPr>
        <p:txBody>
          <a:bodyPr wrap="square" lIns="0" tIns="0" rIns="0" bIns="0" rtlCol="0" anchor="t"/>
          <a:lstStyle/>
          <a:p>
            <a:pPr marL="0" indent="0" algn="l">
              <a:lnSpc>
                <a:spcPct val="115000"/>
              </a:lnSpc>
              <a:buNone/>
            </a:pPr>
            <a:r>
              <a:rPr lang="en-US" sz="1300" dirty="0">
                <a:solidFill>
                  <a:srgbClr val="222222"/>
                </a:solidFill>
                <a:latin typeface="Calibri" panose="020F0502020204030204" pitchFamily="34" charset="0"/>
                <a:ea typeface="Calibri" panose="020F0502020204030204" pitchFamily="34" charset="-122"/>
                <a:cs typeface="Calibri" panose="020F0502020204030204" pitchFamily="34" charset="-120"/>
              </a:rPr>
              <a:t>PIVOT is syntactic sugar over grouped conditional aggregation — the CASE WHEN version on the right runs on MySQL too, since MySQL has no native PIVOT at all. Even in SQL Server, PIVOT requires knowing the distinct column values (2024, 2025, 2026) ahead of time — a genuinely dynamic set of columns needs dynamic SQL in either engine, not a fixed PIVOT clause.</a:t>
            </a:r>
            <a:endParaRPr lang="en-US" sz="1300" dirty="0"/>
          </a:p>
        </p:txBody>
      </p:sp>
      <p:sp>
        <p:nvSpPr>
          <p:cNvPr id="13" name="Text 11"/>
          <p:cNvSpPr/>
          <p:nvPr/>
        </p:nvSpPr>
        <p:spPr>
          <a:xfrm>
            <a:off x="457200" y="6510528"/>
            <a:ext cx="7315200" cy="274320"/>
          </a:xfrm>
          <a:prstGeom prst="rect">
            <a:avLst/>
          </a:prstGeom>
          <a:noFill/>
        </p:spPr>
        <p:txBody>
          <a:bodyPr wrap="square" lIns="0" tIns="0" rIns="0" bIns="0" rtlCol="0" anchor="ctr"/>
          <a:lstStyle/>
          <a:p>
            <a:pPr marL="0" indent="0" algn="l">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Module 2 — Analytical SQL &amp; Data Wrangling</a:t>
            </a:r>
            <a:endParaRPr lang="en-US" sz="1000" dirty="0"/>
          </a:p>
        </p:txBody>
      </p:sp>
      <p:sp>
        <p:nvSpPr>
          <p:cNvPr id="14" name="Text 12"/>
          <p:cNvSpPr/>
          <p:nvPr/>
        </p:nvSpPr>
        <p:spPr>
          <a:xfrm>
            <a:off x="7159752" y="6510528"/>
            <a:ext cx="45720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SQL for Data-Intensive Applications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85800"/>
            <a:ext cx="73152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PRACTICAL MILESTONE 2</a:t>
            </a:r>
            <a:endParaRPr lang="en-US" sz="1400" dirty="0"/>
          </a:p>
        </p:txBody>
      </p:sp>
      <p:sp>
        <p:nvSpPr>
          <p:cNvPr id="3" name="Shape 1"/>
          <p:cNvSpPr/>
          <p:nvPr/>
        </p:nvSpPr>
        <p:spPr>
          <a:xfrm>
            <a:off x="640080" y="1371600"/>
            <a:ext cx="10881360" cy="4434840"/>
          </a:xfrm>
          <a:prstGeom prst="roundRect">
            <a:avLst>
              <a:gd name="adj" fmla="val 2474"/>
            </a:avLst>
          </a:prstGeom>
          <a:solidFill>
            <a:srgbClr val="2A3577"/>
          </a:solidFill>
        </p:spPr>
      </p:sp>
      <p:sp>
        <p:nvSpPr>
          <p:cNvPr id="4" name="Text 2"/>
          <p:cNvSpPr/>
          <p:nvPr/>
        </p:nvSpPr>
        <p:spPr>
          <a:xfrm>
            <a:off x="1005840" y="1783080"/>
            <a:ext cx="10058400" cy="64008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Sessionize Clickstream → Weekly Cohort Retention</a:t>
            </a:r>
            <a:endParaRPr lang="en-US" sz="2600" dirty="0"/>
          </a:p>
        </p:txBody>
      </p:sp>
      <p:sp>
        <p:nvSpPr>
          <p:cNvPr id="5" name="Text 3"/>
          <p:cNvSpPr/>
          <p:nvPr/>
        </p:nvSpPr>
        <p:spPr>
          <a:xfrm>
            <a:off x="1005840" y="2468880"/>
            <a:ext cx="9875520" cy="685800"/>
          </a:xfrm>
          <a:prstGeom prst="rect">
            <a:avLst/>
          </a:prstGeom>
          <a:noFill/>
        </p:spPr>
        <p:txBody>
          <a:bodyPr wrap="square" lIns="0" tIns="0" rIns="0" bIns="0" rtlCol="0" anchor="ctr"/>
          <a:lstStyle/>
          <a:p>
            <a:pPr marL="0" indent="0">
              <a:lnSpc>
                <a:spcPct val="120000"/>
              </a:lnSpc>
              <a:buNone/>
            </a:pPr>
            <a:r>
              <a:rPr lang="en-US" sz="1450" dirty="0">
                <a:solidFill>
                  <a:srgbClr val="CADCFC"/>
                </a:solidFill>
                <a:latin typeface="Calibri" panose="020F0502020204030204" pitchFamily="34" charset="0"/>
                <a:ea typeface="Calibri" panose="020F0502020204030204" pitchFamily="34" charset="-122"/>
                <a:cs typeface="Calibri" panose="020F0502020204030204" pitchFamily="34" charset="-120"/>
              </a:rPr>
              <a:t>Turn raw clickstream_events into user sessions, then roll those sessions up into a weekly signup-cohort retention table.</a:t>
            </a:r>
            <a:endParaRPr lang="en-US" sz="1450" dirty="0"/>
          </a:p>
        </p:txBody>
      </p:sp>
      <p:sp>
        <p:nvSpPr>
          <p:cNvPr id="6" name="Text 4"/>
          <p:cNvSpPr/>
          <p:nvPr/>
        </p:nvSpPr>
        <p:spPr>
          <a:xfrm>
            <a:off x="1005840" y="3291840"/>
            <a:ext cx="9692640" cy="2286000"/>
          </a:xfrm>
          <a:prstGeom prst="rect">
            <a:avLst/>
          </a:prstGeom>
          <a:noFill/>
        </p:spPr>
        <p:txBody>
          <a:bodyPr wrap="square" lIns="0" tIns="0" rIns="0" bIns="0" rtlCol="0" anchor="ctr"/>
          <a:lstStyle/>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Implement gap-based sessionization (LAG + 30-minute threshold) in both engines</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Validate session boundaries against a handful of known users by hand</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Build a cohort table: signup week × activity week</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Compute retention % per cohort using window or conditional aggregation</a:t>
            </a:r>
            <a:endParaRPr lang="en-US" sz="1350" dirty="0"/>
          </a:p>
          <a:p>
            <a:pPr marL="342900" indent="-342900">
              <a:lnSpc>
                <a:spcPct val="115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Present the final result as a pivoted table (Lecture 2.5 technique)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2011680"/>
            <a:ext cx="7315200" cy="365760"/>
          </a:xfrm>
          <a:prstGeom prst="rect">
            <a:avLst/>
          </a:prstGeom>
          <a:noFill/>
        </p:spPr>
        <p:txBody>
          <a:bodyPr wrap="square" lIns="0" tIns="0" rIns="0" bIns="0" rtlCol="0" anchor="ctr"/>
          <a:lstStyle/>
          <a:p>
            <a:pPr marL="0" indent="0">
              <a:buNone/>
            </a:pPr>
            <a:r>
              <a:rPr lang="en-US" sz="1400" b="1" kern="0" spc="200" dirty="0">
                <a:solidFill>
                  <a:srgbClr val="E3A008"/>
                </a:solidFill>
                <a:latin typeface="Calibri" panose="020F0502020204030204" pitchFamily="34" charset="0"/>
                <a:ea typeface="Calibri" panose="020F0502020204030204" pitchFamily="34" charset="-122"/>
                <a:cs typeface="Calibri" panose="020F0502020204030204" pitchFamily="34" charset="-120"/>
              </a:rPr>
              <a:t>UP NEXT</a:t>
            </a:r>
            <a:endParaRPr lang="en-US" sz="1400" dirty="0"/>
          </a:p>
        </p:txBody>
      </p:sp>
      <p:sp>
        <p:nvSpPr>
          <p:cNvPr id="3" name="Text 1"/>
          <p:cNvSpPr/>
          <p:nvPr/>
        </p:nvSpPr>
        <p:spPr>
          <a:xfrm>
            <a:off x="640080" y="2377440"/>
            <a:ext cx="10698480" cy="91440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Module 3 — Query Optimization &amp; Storage Engineering</a:t>
            </a:r>
            <a:endParaRPr lang="en-US" sz="3000" dirty="0"/>
          </a:p>
        </p:txBody>
      </p:sp>
      <p:sp>
        <p:nvSpPr>
          <p:cNvPr id="4" name="Text 2"/>
          <p:cNvSpPr/>
          <p:nvPr/>
        </p:nvSpPr>
        <p:spPr>
          <a:xfrm>
            <a:off x="658368" y="3200400"/>
            <a:ext cx="10058400" cy="50292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Execution plan dissection, B-Tree vs. LSM-Tree, ACID vs. BASE, partitioning &amp; sharding.</a:t>
            </a:r>
            <a:endParaRPr lang="en-US" sz="1600" dirty="0"/>
          </a:p>
        </p:txBody>
      </p:sp>
      <p:sp>
        <p:nvSpPr>
          <p:cNvPr id="5" name="Text 3"/>
          <p:cNvSpPr/>
          <p:nvPr/>
        </p:nvSpPr>
        <p:spPr>
          <a:xfrm>
            <a:off x="658368" y="4846320"/>
            <a:ext cx="10058400" cy="457200"/>
          </a:xfrm>
          <a:prstGeom prst="rect">
            <a:avLst/>
          </a:prstGeom>
          <a:noFill/>
        </p:spPr>
        <p:txBody>
          <a:bodyPr wrap="square" lIns="0" tIns="0" rIns="0" bIns="0" rtlCol="0" anchor="ctr"/>
          <a:lstStyle/>
          <a:p>
            <a:pPr marL="0" indent="0">
              <a:buNone/>
            </a:pPr>
            <a:r>
              <a:rPr lang="en-US" sz="1500" dirty="0">
                <a:solidFill>
                  <a:srgbClr val="9FB3D9"/>
                </a:solidFill>
                <a:latin typeface="Calibri" panose="020F0502020204030204" pitchFamily="34" charset="0"/>
                <a:ea typeface="Calibri" panose="020F0502020204030204" pitchFamily="34" charset="-122"/>
                <a:cs typeface="Calibri" panose="020F0502020204030204" pitchFamily="34" charset="-120"/>
              </a:rPr>
              <a:t>Questions before we move 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10424</Words>
  <Application>WPS Presentation</Application>
  <PresentationFormat>On-screen Show (16:9)</PresentationFormat>
  <Paragraphs>341</Paragraphs>
  <Slides>13</Slides>
  <Notes>13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Window</cp:lastModifiedBy>
  <cp:revision>2</cp:revision>
  <dcterms:created xsi:type="dcterms:W3CDTF">2026-08-03T22:10:00Z</dcterms:created>
  <dcterms:modified xsi:type="dcterms:W3CDTF">2026-08-05T18:42:04Z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328F966F4164420CB4678178C455D471_12</vt:lpwstr>
  </property>
</Properties>
</file>